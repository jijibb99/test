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48" r:id="rId2"/>
    <p:sldId id="736" r:id="rId3"/>
    <p:sldId id="730" r:id="rId4"/>
    <p:sldId id="742" r:id="rId5"/>
    <p:sldId id="743" r:id="rId6"/>
    <p:sldId id="542" r:id="rId7"/>
    <p:sldId id="737" r:id="rId8"/>
    <p:sldId id="740" r:id="rId9"/>
    <p:sldId id="741" r:id="rId10"/>
  </p:sldIdLst>
  <p:sldSz cx="9906000" cy="6858000" type="A4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860F05B-266D-40D5-B50A-5759E029AF85}">
          <p14:sldIdLst>
            <p14:sldId id="348"/>
            <p14:sldId id="736"/>
            <p14:sldId id="730"/>
            <p14:sldId id="742"/>
            <p14:sldId id="743"/>
            <p14:sldId id="542"/>
          </p14:sldIdLst>
        </p14:section>
        <p14:section name="참조 자료 (필요시)" id="{278B7643-A918-463E-B29A-7B9504913BFE}">
          <p14:sldIdLst>
            <p14:sldId id="737"/>
            <p14:sldId id="740"/>
            <p14:sldId id="7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01">
          <p15:clr>
            <a:srgbClr val="A4A3A4"/>
          </p15:clr>
        </p15:guide>
        <p15:guide id="2" orient="horz" pos="119">
          <p15:clr>
            <a:srgbClr val="A4A3A4"/>
          </p15:clr>
        </p15:guide>
        <p15:guide id="3" orient="horz" pos="1344">
          <p15:clr>
            <a:srgbClr val="A4A3A4"/>
          </p15:clr>
        </p15:guide>
        <p15:guide id="4" pos="172">
          <p15:clr>
            <a:srgbClr val="A4A3A4"/>
          </p15:clr>
        </p15:guide>
        <p15:guide id="5" pos="6068">
          <p15:clr>
            <a:srgbClr val="A4A3A4"/>
          </p15:clr>
        </p15:guide>
        <p15:guide id="6" pos="31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FFCC"/>
    <a:srgbClr val="CCFF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92" autoAdjust="0"/>
    <p:restoredTop sz="98381" autoAdjust="0"/>
  </p:normalViewPr>
  <p:slideViewPr>
    <p:cSldViewPr>
      <p:cViewPr varScale="1">
        <p:scale>
          <a:sx n="107" d="100"/>
          <a:sy n="107" d="100"/>
        </p:scale>
        <p:origin x="1302" y="108"/>
      </p:cViewPr>
      <p:guideLst>
        <p:guide orient="horz" pos="4201"/>
        <p:guide orient="horz" pos="119"/>
        <p:guide orient="horz" pos="1344"/>
        <p:guide pos="172"/>
        <p:guide pos="6068"/>
        <p:guide pos="31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5" d="100"/>
          <a:sy n="85" d="100"/>
        </p:scale>
        <p:origin x="-3786" y="-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400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AAE5C935-F966-44D7-B407-4853F2C3CADE}" type="datetimeFigureOut">
              <a:rPr lang="ko-KR" altLang="en-US" smtClean="0"/>
              <a:t>2018-11-21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9750"/>
            <a:ext cx="2946400" cy="496888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8A7B7340-853B-43B1-9A1D-A8EF6FDD8B3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7855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411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CFBF9667-76B5-463E-96EE-68DF6D049E50}" type="datetimeFigureOut">
              <a:rPr lang="ko-KR" altLang="en-US" smtClean="0"/>
              <a:t>2018-11-21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2"/>
            <a:ext cx="2945659" cy="496411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6411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6E6BA6CB-5E96-4BA3-B241-DBB80466A8B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1919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 userDrawn="1"/>
        </p:nvSpPr>
        <p:spPr bwMode="gray">
          <a:xfrm>
            <a:off x="477838" y="6525375"/>
            <a:ext cx="2859087" cy="2191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54000" tIns="46800" rIns="54000" bIns="46800" anchor="ctr">
            <a:spAutoFit/>
          </a:bodyPr>
          <a:lstStyle/>
          <a:p>
            <a:pPr algn="l" eaLnBrk="0" hangingPunct="0"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US" altLang="ko-KR" sz="900" dirty="0" smtClean="0">
                <a:latin typeface="Arial" charset="0"/>
              </a:rPr>
              <a:t>3A Project</a:t>
            </a:r>
            <a:r>
              <a:rPr kumimoji="0" lang="ko-KR" altLang="en-US" sz="900" dirty="0" smtClean="0">
                <a:latin typeface="Arial" charset="0"/>
              </a:rPr>
              <a:t> </a:t>
            </a:r>
            <a:r>
              <a:rPr kumimoji="0" lang="en-US" altLang="ko-KR" sz="900" dirty="0">
                <a:latin typeface="Arial" charset="0"/>
              </a:rPr>
              <a:t>| Confidential</a:t>
            </a: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28" y="488168"/>
            <a:ext cx="1316812" cy="852600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856247" y="2297817"/>
            <a:ext cx="6756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tx1"/>
                </a:solidFill>
                <a:latin typeface="+mn-lt"/>
                <a:ea typeface="+mj-ea"/>
              </a:rPr>
              <a:t>Aibril Antibiotics Advisor(3A)</a:t>
            </a:r>
            <a:r>
              <a:rPr lang="en-US" altLang="ko-KR" sz="2800" b="1" baseline="0" dirty="0" smtClean="0">
                <a:solidFill>
                  <a:schemeClr val="tx1"/>
                </a:solidFill>
                <a:latin typeface="+mn-lt"/>
                <a:ea typeface="+mj-ea"/>
              </a:rPr>
              <a:t> </a:t>
            </a:r>
            <a:r>
              <a:rPr lang="ko-KR" altLang="en-US" sz="2800" b="1" baseline="0" dirty="0" smtClean="0">
                <a:solidFill>
                  <a:schemeClr val="tx1"/>
                </a:solidFill>
                <a:latin typeface="+mn-lt"/>
                <a:ea typeface="+mj-ea"/>
              </a:rPr>
              <a:t>프로젝트</a:t>
            </a:r>
            <a:endParaRPr lang="ko-KR" altLang="en-US" sz="2800" b="1" dirty="0">
              <a:solidFill>
                <a:schemeClr val="tx1"/>
              </a:solidFill>
              <a:latin typeface="+mn-lt"/>
              <a:ea typeface="+mj-ea"/>
            </a:endParaRPr>
          </a:p>
        </p:txBody>
      </p:sp>
      <p:sp>
        <p:nvSpPr>
          <p:cNvPr id="8" name="Line 22"/>
          <p:cNvSpPr>
            <a:spLocks noChangeShapeType="1"/>
          </p:cNvSpPr>
          <p:nvPr userDrawn="1"/>
        </p:nvSpPr>
        <p:spPr bwMode="auto">
          <a:xfrm>
            <a:off x="559941" y="2124646"/>
            <a:ext cx="8857555" cy="0"/>
          </a:xfrm>
          <a:prstGeom prst="line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/>
          </a:p>
        </p:txBody>
      </p:sp>
      <p:sp>
        <p:nvSpPr>
          <p:cNvPr id="9" name="Line 22"/>
          <p:cNvSpPr>
            <a:spLocks noChangeShapeType="1"/>
          </p:cNvSpPr>
          <p:nvPr userDrawn="1"/>
        </p:nvSpPr>
        <p:spPr bwMode="auto">
          <a:xfrm>
            <a:off x="559941" y="2997200"/>
            <a:ext cx="8857555" cy="0"/>
          </a:xfrm>
          <a:prstGeom prst="line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/>
          </a:p>
        </p:txBody>
      </p:sp>
      <p:sp>
        <p:nvSpPr>
          <p:cNvPr id="10" name="Rectangle 66"/>
          <p:cNvSpPr>
            <a:spLocks noGrp="1" noChangeArrowheads="1"/>
          </p:cNvSpPr>
          <p:nvPr userDrawn="1">
            <p:ph type="ctrTitle" sz="quarter"/>
          </p:nvPr>
        </p:nvSpPr>
        <p:spPr>
          <a:xfrm>
            <a:off x="3080793" y="3500438"/>
            <a:ext cx="4176464" cy="792162"/>
          </a:xfrm>
          <a:prstGeom prst="rect">
            <a:avLst/>
          </a:prstGeom>
        </p:spPr>
        <p:txBody>
          <a:bodyPr/>
          <a:lstStyle>
            <a:lvl1pPr algn="ctr">
              <a:defRPr sz="2600"/>
            </a:lvl1pPr>
          </a:lstStyle>
          <a:p>
            <a:pPr lvl="0"/>
            <a:r>
              <a:rPr lang="ko-KR" altLang="en-US" noProof="0" dirty="0" smtClean="0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8794554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 userDrawn="1"/>
        </p:nvSpPr>
        <p:spPr bwMode="gray">
          <a:xfrm>
            <a:off x="272480" y="6525375"/>
            <a:ext cx="2859087" cy="2191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54000" tIns="46800" rIns="54000" bIns="46800" anchor="ctr">
            <a:spAutoFit/>
          </a:bodyPr>
          <a:lstStyle/>
          <a:p>
            <a:pPr algn="l" eaLnBrk="0" hangingPunct="0"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US" altLang="ko-KR" sz="900" dirty="0" smtClean="0">
                <a:latin typeface="Arial" charset="0"/>
              </a:rPr>
              <a:t>3A Project</a:t>
            </a:r>
            <a:r>
              <a:rPr kumimoji="0" lang="ko-KR" altLang="en-US" sz="900" dirty="0" smtClean="0">
                <a:latin typeface="Arial" charset="0"/>
              </a:rPr>
              <a:t> </a:t>
            </a:r>
            <a:r>
              <a:rPr kumimoji="0" lang="en-US" altLang="ko-KR" sz="900" dirty="0">
                <a:latin typeface="Arial" charset="0"/>
              </a:rPr>
              <a:t>| Confidential</a:t>
            </a:r>
          </a:p>
        </p:txBody>
      </p:sp>
      <p:sp>
        <p:nvSpPr>
          <p:cNvPr id="6" name="슬라이드 번호 개체 틀 4"/>
          <p:cNvSpPr txBox="1">
            <a:spLocks/>
          </p:cNvSpPr>
          <p:nvPr userDrawn="1"/>
        </p:nvSpPr>
        <p:spPr>
          <a:xfrm>
            <a:off x="3800872" y="6448251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CF894D-0422-4E68-B599-32C38CEC6D47}" type="slidenum">
              <a:rPr lang="ko-KR" altLang="en-US" sz="1200" smtClean="0">
                <a:latin typeface="Cambria" panose="02040503050406030204" pitchFamily="18" charset="0"/>
              </a:rPr>
              <a:pPr/>
              <a:t>‹#›</a:t>
            </a:fld>
            <a:endParaRPr lang="ko-KR" altLang="en-US" sz="1200" dirty="0">
              <a:latin typeface="Cambria" panose="02040503050406030204" pitchFamily="18" charset="0"/>
            </a:endParaRPr>
          </a:p>
        </p:txBody>
      </p:sp>
      <p:sp>
        <p:nvSpPr>
          <p:cNvPr id="9" name="Line 11"/>
          <p:cNvSpPr>
            <a:spLocks noChangeShapeType="1"/>
          </p:cNvSpPr>
          <p:nvPr userDrawn="1"/>
        </p:nvSpPr>
        <p:spPr bwMode="auto">
          <a:xfrm>
            <a:off x="200025" y="6453188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2853" y="6502040"/>
            <a:ext cx="354683" cy="288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텍스트 개체 틀 21"/>
          <p:cNvSpPr>
            <a:spLocks noGrp="1"/>
          </p:cNvSpPr>
          <p:nvPr>
            <p:ph idx="1"/>
          </p:nvPr>
        </p:nvSpPr>
        <p:spPr>
          <a:xfrm>
            <a:off x="272480" y="980728"/>
            <a:ext cx="9433048" cy="5328592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Wingdings" panose="05000000000000000000" pitchFamily="2" charset="2"/>
              <a:buChar char="q"/>
              <a:defRPr sz="1400" b="0"/>
            </a:lvl1pPr>
            <a:lvl2pPr marL="446088" indent="-180975">
              <a:buFont typeface="Wingdings" panose="05000000000000000000" pitchFamily="2" charset="2"/>
              <a:buChar char="§"/>
              <a:defRPr sz="1400" b="0"/>
            </a:lvl2pPr>
            <a:lvl3pPr marL="627063" indent="-180975">
              <a:buFont typeface="Cambria" panose="02040503050406030204" pitchFamily="18" charset="0"/>
              <a:buChar char="-"/>
              <a:defRPr sz="1200" b="0"/>
            </a:lvl3pPr>
          </a:lstStyle>
          <a:p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8" name="Line 9"/>
          <p:cNvSpPr>
            <a:spLocks noChangeShapeType="1"/>
          </p:cNvSpPr>
          <p:nvPr userDrawn="1"/>
        </p:nvSpPr>
        <p:spPr bwMode="auto">
          <a:xfrm>
            <a:off x="200025" y="620688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 dirty="0"/>
          </a:p>
        </p:txBody>
      </p:sp>
      <p:sp>
        <p:nvSpPr>
          <p:cNvPr id="19" name="Rectangle 10"/>
          <p:cNvSpPr>
            <a:spLocks noChangeArrowheads="1"/>
          </p:cNvSpPr>
          <p:nvPr userDrawn="1"/>
        </p:nvSpPr>
        <p:spPr bwMode="auto">
          <a:xfrm>
            <a:off x="200026" y="279375"/>
            <a:ext cx="106363" cy="3048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 dirty="0"/>
          </a:p>
        </p:txBody>
      </p:sp>
      <p:sp>
        <p:nvSpPr>
          <p:cNvPr id="20" name="Line 11"/>
          <p:cNvSpPr>
            <a:spLocks noChangeShapeType="1"/>
          </p:cNvSpPr>
          <p:nvPr userDrawn="1"/>
        </p:nvSpPr>
        <p:spPr bwMode="auto">
          <a:xfrm>
            <a:off x="200025" y="6453188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 dirty="0"/>
          </a:p>
        </p:txBody>
      </p:sp>
      <p:sp>
        <p:nvSpPr>
          <p:cNvPr id="22" name="제목 개체 틀 20"/>
          <p:cNvSpPr txBox="1">
            <a:spLocks/>
          </p:cNvSpPr>
          <p:nvPr userDrawn="1"/>
        </p:nvSpPr>
        <p:spPr>
          <a:xfrm>
            <a:off x="326180" y="586250"/>
            <a:ext cx="9378208" cy="341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hangingPunct="0">
              <a:tabLst>
                <a:tab pos="4665663" algn="ctr"/>
                <a:tab pos="9413875" algn="r"/>
              </a:tabLst>
              <a:defRPr/>
            </a:pPr>
            <a:r>
              <a:rPr lang="en-US" altLang="ko-KR" sz="1400" b="1" kern="0" dirty="0" smtClean="0">
                <a:solidFill>
                  <a:prstClr val="black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lang="en-US" altLang="ko-KR" sz="1400" b="1" kern="0" dirty="0">
              <a:solidFill>
                <a:prstClr val="black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제목 개체 틀 20"/>
          <p:cNvSpPr txBox="1">
            <a:spLocks/>
          </p:cNvSpPr>
          <p:nvPr userDrawn="1"/>
        </p:nvSpPr>
        <p:spPr>
          <a:xfrm>
            <a:off x="344488" y="578040"/>
            <a:ext cx="9388840" cy="341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hangingPunct="0">
              <a:tabLst>
                <a:tab pos="4665663" algn="ctr"/>
                <a:tab pos="9413875" algn="r"/>
              </a:tabLst>
              <a:defRPr/>
            </a:pPr>
            <a:r>
              <a:rPr lang="en-US" altLang="ko-KR" sz="1800" b="1" kern="0" dirty="0" smtClean="0">
                <a:solidFill>
                  <a:prstClr val="black"/>
                </a:solidFill>
                <a:latin typeface="+mn-ea"/>
                <a:ea typeface="+mn-ea"/>
                <a:cs typeface="Times New Roman" panose="02020603050405020304" pitchFamily="18" charset="0"/>
              </a:rPr>
              <a:t>		</a:t>
            </a:r>
            <a:endParaRPr lang="en-US" altLang="ko-KR" sz="1800" b="1" kern="0" dirty="0">
              <a:solidFill>
                <a:prstClr val="black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788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 userDrawn="1"/>
        </p:nvSpPr>
        <p:spPr bwMode="gray">
          <a:xfrm>
            <a:off x="272480" y="6525375"/>
            <a:ext cx="2859087" cy="2191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54000" tIns="46800" rIns="54000" bIns="46800" anchor="ctr">
            <a:spAutoFit/>
          </a:bodyPr>
          <a:lstStyle/>
          <a:p>
            <a:pPr algn="l" eaLnBrk="0" hangingPunct="0"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US" altLang="ko-KR" sz="900" dirty="0" smtClean="0">
                <a:latin typeface="Arial" charset="0"/>
              </a:rPr>
              <a:t>3A Project</a:t>
            </a:r>
            <a:r>
              <a:rPr kumimoji="0" lang="ko-KR" altLang="en-US" sz="900" dirty="0" smtClean="0">
                <a:latin typeface="Arial" charset="0"/>
              </a:rPr>
              <a:t> </a:t>
            </a:r>
            <a:r>
              <a:rPr kumimoji="0" lang="en-US" altLang="ko-KR" sz="900" dirty="0">
                <a:latin typeface="Arial" charset="0"/>
              </a:rPr>
              <a:t>| Confidential</a:t>
            </a:r>
          </a:p>
        </p:txBody>
      </p:sp>
      <p:sp>
        <p:nvSpPr>
          <p:cNvPr id="6" name="슬라이드 번호 개체 틀 4"/>
          <p:cNvSpPr txBox="1">
            <a:spLocks/>
          </p:cNvSpPr>
          <p:nvPr userDrawn="1"/>
        </p:nvSpPr>
        <p:spPr>
          <a:xfrm>
            <a:off x="3800872" y="6448251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ctr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CF894D-0422-4E68-B599-32C38CEC6D47}" type="slidenum">
              <a:rPr lang="ko-KR" altLang="en-US" sz="1200" smtClean="0">
                <a:latin typeface="Cambria" panose="02040503050406030204" pitchFamily="18" charset="0"/>
              </a:rPr>
              <a:pPr/>
              <a:t>‹#›</a:t>
            </a:fld>
            <a:endParaRPr lang="ko-KR" altLang="en-US" sz="1200" dirty="0">
              <a:latin typeface="Cambria" panose="02040503050406030204" pitchFamily="18" charset="0"/>
            </a:endParaRPr>
          </a:p>
        </p:txBody>
      </p:sp>
      <p:sp>
        <p:nvSpPr>
          <p:cNvPr id="9" name="Line 11"/>
          <p:cNvSpPr>
            <a:spLocks noChangeShapeType="1"/>
          </p:cNvSpPr>
          <p:nvPr userDrawn="1"/>
        </p:nvSpPr>
        <p:spPr bwMode="auto">
          <a:xfrm>
            <a:off x="200025" y="6453188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2853" y="6502040"/>
            <a:ext cx="354683" cy="288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텍스트 개체 틀 21"/>
          <p:cNvSpPr>
            <a:spLocks noGrp="1"/>
          </p:cNvSpPr>
          <p:nvPr>
            <p:ph idx="1"/>
          </p:nvPr>
        </p:nvSpPr>
        <p:spPr>
          <a:xfrm>
            <a:off x="272480" y="980728"/>
            <a:ext cx="9433048" cy="5328592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Wingdings" panose="05000000000000000000" pitchFamily="2" charset="2"/>
              <a:buChar char="q"/>
              <a:defRPr sz="1400" b="0"/>
            </a:lvl1pPr>
            <a:lvl2pPr marL="446088" indent="-180975">
              <a:buFont typeface="Wingdings" panose="05000000000000000000" pitchFamily="2" charset="2"/>
              <a:buChar char="§"/>
              <a:defRPr sz="1400" b="0"/>
            </a:lvl2pPr>
            <a:lvl3pPr marL="627063" indent="-180975">
              <a:buFont typeface="Cambria" panose="02040503050406030204" pitchFamily="18" charset="0"/>
              <a:buChar char="-"/>
              <a:defRPr sz="1200" b="0"/>
            </a:lvl3pPr>
          </a:lstStyle>
          <a:p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5" name="제목 개체 틀 20"/>
          <p:cNvSpPr>
            <a:spLocks noGrp="1"/>
          </p:cNvSpPr>
          <p:nvPr>
            <p:ph type="title" hasCustomPrompt="1"/>
          </p:nvPr>
        </p:nvSpPr>
        <p:spPr>
          <a:xfrm>
            <a:off x="315548" y="244955"/>
            <a:ext cx="9388840" cy="30777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 b="0" i="0">
                <a:latin typeface="+mn-ea"/>
                <a:ea typeface="+mn-ea"/>
              </a:defRPr>
            </a:lvl1pPr>
          </a:lstStyle>
          <a:p>
            <a:pPr eaLnBrk="0" hangingPunct="0">
              <a:tabLst>
                <a:tab pos="4665663" algn="ctr"/>
                <a:tab pos="9413875" algn="r"/>
              </a:tabLst>
              <a:defRPr/>
            </a:pPr>
            <a:r>
              <a:rPr lang="ko-KR" altLang="en-US" sz="1400" b="1" kern="0" dirty="0" err="1" smtClean="0">
                <a:solidFill>
                  <a:prstClr val="black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ㄴㅇㄻㅇㄹㅇ</a:t>
            </a:r>
            <a:r>
              <a:rPr lang="en-US" altLang="ko-KR" sz="1400" b="1" kern="0" dirty="0" smtClean="0">
                <a:solidFill>
                  <a:prstClr val="black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lang="en-US" altLang="ko-KR" sz="1400" b="1" kern="0" dirty="0">
              <a:solidFill>
                <a:prstClr val="black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Line 9"/>
          <p:cNvSpPr>
            <a:spLocks noChangeShapeType="1"/>
          </p:cNvSpPr>
          <p:nvPr userDrawn="1"/>
        </p:nvSpPr>
        <p:spPr bwMode="auto">
          <a:xfrm>
            <a:off x="200025" y="620688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 dirty="0"/>
          </a:p>
        </p:txBody>
      </p:sp>
      <p:sp>
        <p:nvSpPr>
          <p:cNvPr id="19" name="Rectangle 10"/>
          <p:cNvSpPr>
            <a:spLocks noChangeArrowheads="1"/>
          </p:cNvSpPr>
          <p:nvPr userDrawn="1"/>
        </p:nvSpPr>
        <p:spPr bwMode="auto">
          <a:xfrm>
            <a:off x="200026" y="279375"/>
            <a:ext cx="106363" cy="3048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 dirty="0"/>
          </a:p>
        </p:txBody>
      </p:sp>
      <p:sp>
        <p:nvSpPr>
          <p:cNvPr id="20" name="Line 11"/>
          <p:cNvSpPr>
            <a:spLocks noChangeShapeType="1"/>
          </p:cNvSpPr>
          <p:nvPr userDrawn="1"/>
        </p:nvSpPr>
        <p:spPr bwMode="auto">
          <a:xfrm>
            <a:off x="200025" y="6453188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 dirty="0"/>
          </a:p>
        </p:txBody>
      </p:sp>
      <p:sp>
        <p:nvSpPr>
          <p:cNvPr id="22" name="제목 개체 틀 20"/>
          <p:cNvSpPr txBox="1">
            <a:spLocks/>
          </p:cNvSpPr>
          <p:nvPr userDrawn="1"/>
        </p:nvSpPr>
        <p:spPr>
          <a:xfrm>
            <a:off x="326180" y="586250"/>
            <a:ext cx="9378208" cy="341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hangingPunct="0">
              <a:tabLst>
                <a:tab pos="4665663" algn="ctr"/>
                <a:tab pos="9413875" algn="r"/>
              </a:tabLst>
              <a:defRPr/>
            </a:pPr>
            <a:r>
              <a:rPr lang="en-US" altLang="ko-KR" sz="1400" b="1" kern="0" dirty="0" smtClean="0">
                <a:solidFill>
                  <a:prstClr val="black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lang="en-US" altLang="ko-KR" sz="1400" b="1" kern="0" dirty="0">
              <a:solidFill>
                <a:prstClr val="black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제목 개체 틀 20"/>
          <p:cNvSpPr txBox="1">
            <a:spLocks/>
          </p:cNvSpPr>
          <p:nvPr userDrawn="1"/>
        </p:nvSpPr>
        <p:spPr>
          <a:xfrm>
            <a:off x="344488" y="578040"/>
            <a:ext cx="9388840" cy="341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hangingPunct="0">
              <a:tabLst>
                <a:tab pos="4665663" algn="ctr"/>
                <a:tab pos="9413875" algn="r"/>
              </a:tabLst>
              <a:defRPr/>
            </a:pPr>
            <a:r>
              <a:rPr lang="en-US" altLang="ko-KR" sz="1800" b="1" kern="0" dirty="0" smtClean="0">
                <a:solidFill>
                  <a:prstClr val="black"/>
                </a:solidFill>
                <a:latin typeface="+mn-ea"/>
                <a:ea typeface="+mn-ea"/>
                <a:cs typeface="Times New Roman" panose="02020603050405020304" pitchFamily="18" charset="0"/>
              </a:rPr>
              <a:t>		</a:t>
            </a:r>
            <a:endParaRPr lang="en-US" altLang="ko-KR" sz="1800" b="1" kern="0" dirty="0">
              <a:solidFill>
                <a:prstClr val="black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1513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96230" y="236140"/>
            <a:ext cx="9648825" cy="360040"/>
          </a:xfrm>
          <a:prstGeom prst="rect">
            <a:avLst/>
          </a:prstGeom>
          <a:noFill/>
        </p:spPr>
        <p:txBody>
          <a:bodyPr anchor="ctr" anchorCtr="0">
            <a:noAutofit/>
          </a:bodyPr>
          <a:lstStyle>
            <a:lvl1pPr algn="l">
              <a:defRPr sz="2000" b="1">
                <a:latin typeface="Cambria" panose="02040503050406030204" pitchFamily="18" charset="0"/>
              </a:defRPr>
            </a:lvl1pPr>
          </a:lstStyle>
          <a:p>
            <a:r>
              <a:rPr lang="ko-KR" altLang="en-US" dirty="0" smtClean="0"/>
              <a:t>마스터 제목</a:t>
            </a:r>
            <a:r>
              <a:rPr lang="en-US" altLang="ko-KR" dirty="0" smtClean="0"/>
              <a:t>DFSF</a:t>
            </a:r>
            <a:r>
              <a:rPr lang="ko-KR" altLang="en-US" dirty="0" smtClean="0"/>
              <a:t> 스타일 편집</a:t>
            </a:r>
            <a:endParaRPr lang="ko-KR" altLang="en-US" dirty="0"/>
          </a:p>
        </p:txBody>
      </p:sp>
      <p:sp>
        <p:nvSpPr>
          <p:cNvPr id="9" name="슬라이드 번호 개체 틀 2"/>
          <p:cNvSpPr txBox="1">
            <a:spLocks/>
          </p:cNvSpPr>
          <p:nvPr userDrawn="1"/>
        </p:nvSpPr>
        <p:spPr>
          <a:xfrm>
            <a:off x="3797300" y="6597352"/>
            <a:ext cx="2311400" cy="21602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defPPr>
              <a:defRPr lang="ko-KR"/>
            </a:defPPr>
            <a:lvl1pPr marL="0" algn="r" defTabSz="914287" rtl="0" eaLnBrk="1" latinLnBrk="1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457144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7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30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3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7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60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3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6" algn="l" defTabSz="914287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BF338F1-7BA8-4883-AA00-A587D1E26AFF}" type="slidenum">
              <a:rPr lang="ko-KR" altLang="en-US" i="1" smtClean="0">
                <a:solidFill>
                  <a:schemeClr val="tx1"/>
                </a:solidFill>
                <a:latin typeface="Cambria" panose="02040503050406030204" pitchFamily="18" charset="0"/>
              </a:rPr>
              <a:pPr algn="ctr"/>
              <a:t>‹#›</a:t>
            </a:fld>
            <a:endParaRPr lang="ko-KR" altLang="en-US" i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281786" y="668946"/>
            <a:ext cx="9359900" cy="735013"/>
          </a:xfrm>
          <a:prstGeom prst="rect">
            <a:avLst/>
          </a:prstGeom>
        </p:spPr>
        <p:txBody>
          <a:bodyPr tIns="0">
            <a:normAutofit/>
          </a:bodyPr>
          <a:lstStyle>
            <a:lvl1pPr marL="0" indent="0" latinLnBrk="0">
              <a:lnSpc>
                <a:spcPct val="120000"/>
              </a:lnSpc>
              <a:spcBef>
                <a:spcPts val="0"/>
              </a:spcBef>
              <a:buNone/>
              <a:defRPr sz="1800">
                <a:latin typeface="Cambria" panose="02040503050406030204" pitchFamily="18" charset="0"/>
              </a:defRPr>
            </a:lvl1pPr>
          </a:lstStyle>
          <a:p>
            <a:pPr lvl="0"/>
            <a:r>
              <a:rPr lang="ko-KR" altLang="en-US" dirty="0" smtClean="0"/>
              <a:t>마스터 텍스트</a:t>
            </a:r>
            <a:r>
              <a:rPr lang="en-US" altLang="ko-KR" dirty="0" smtClean="0"/>
              <a:t>SDFS</a:t>
            </a:r>
            <a:r>
              <a:rPr lang="ko-KR" altLang="en-US" dirty="0" smtClean="0"/>
              <a:t> 스타일을 편집합니다</a:t>
            </a:r>
          </a:p>
        </p:txBody>
      </p:sp>
      <p:sp>
        <p:nvSpPr>
          <p:cNvPr id="6" name="Line 9"/>
          <p:cNvSpPr>
            <a:spLocks noChangeShapeType="1"/>
          </p:cNvSpPr>
          <p:nvPr userDrawn="1"/>
        </p:nvSpPr>
        <p:spPr bwMode="auto">
          <a:xfrm>
            <a:off x="200025" y="620688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 dirty="0"/>
          </a:p>
        </p:txBody>
      </p:sp>
      <p:sp>
        <p:nvSpPr>
          <p:cNvPr id="7" name="Rectangle 10"/>
          <p:cNvSpPr>
            <a:spLocks noChangeArrowheads="1"/>
          </p:cNvSpPr>
          <p:nvPr userDrawn="1"/>
        </p:nvSpPr>
        <p:spPr bwMode="auto">
          <a:xfrm>
            <a:off x="200026" y="279375"/>
            <a:ext cx="106363" cy="3048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 dirty="0"/>
          </a:p>
        </p:txBody>
      </p:sp>
    </p:spTree>
    <p:extLst>
      <p:ext uri="{BB962C8B-B14F-4D97-AF65-F5344CB8AC3E}">
        <p14:creationId xmlns:p14="http://schemas.microsoft.com/office/powerpoint/2010/main" val="10732925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8249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8497" y="114276"/>
            <a:ext cx="8667750" cy="506412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Cambria" panose="02040503050406030204" pitchFamily="18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1860"/>
          <a:stretch/>
        </p:blipFill>
        <p:spPr>
          <a:xfrm>
            <a:off x="135078" y="6383820"/>
            <a:ext cx="761472" cy="385256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227" y="12727"/>
            <a:ext cx="9937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Line 9"/>
          <p:cNvSpPr>
            <a:spLocks noChangeShapeType="1"/>
          </p:cNvSpPr>
          <p:nvPr userDrawn="1"/>
        </p:nvSpPr>
        <p:spPr bwMode="auto">
          <a:xfrm>
            <a:off x="200025" y="665123"/>
            <a:ext cx="9504363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/>
          </a:p>
        </p:txBody>
      </p:sp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200027" y="269107"/>
            <a:ext cx="106363" cy="359503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" pitchFamily="2" charset="2"/>
              <a:buChar char="§"/>
              <a:defRPr/>
            </a:pPr>
            <a:endParaRPr lang="ko-KR" altLang="en-US" sz="1200" u="sng"/>
          </a:p>
        </p:txBody>
      </p:sp>
      <p:sp>
        <p:nvSpPr>
          <p:cNvPr id="7" name="슬라이드 번호 개체 틀 2"/>
          <p:cNvSpPr txBox="1">
            <a:spLocks/>
          </p:cNvSpPr>
          <p:nvPr userDrawn="1"/>
        </p:nvSpPr>
        <p:spPr>
          <a:xfrm>
            <a:off x="9243478" y="6524627"/>
            <a:ext cx="654312" cy="333375"/>
          </a:xfrm>
          <a:prstGeom prst="round2DiagRect">
            <a:avLst/>
          </a:prstGeom>
        </p:spPr>
        <p:txBody>
          <a:bodyPr anchor="b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300" b="1" kern="1200">
                <a:solidFill>
                  <a:schemeClr val="tx1"/>
                </a:solidFill>
                <a:latin typeface="Arial" pitchFamily="34" charset="0"/>
                <a:ea typeface="가는각진제목체"/>
                <a:cs typeface="가는각진제목체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300" b="1" kern="1200">
                <a:solidFill>
                  <a:schemeClr val="tx1"/>
                </a:solidFill>
                <a:latin typeface="Arial" pitchFamily="34" charset="0"/>
                <a:ea typeface="가는각진제목체"/>
                <a:cs typeface="가는각진제목체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300" b="1" kern="1200">
                <a:solidFill>
                  <a:schemeClr val="tx1"/>
                </a:solidFill>
                <a:latin typeface="Arial" pitchFamily="34" charset="0"/>
                <a:ea typeface="가는각진제목체"/>
                <a:cs typeface="가는각진제목체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300" b="1" kern="1200">
                <a:solidFill>
                  <a:schemeClr val="tx1"/>
                </a:solidFill>
                <a:latin typeface="Arial" pitchFamily="34" charset="0"/>
                <a:ea typeface="가는각진제목체"/>
                <a:cs typeface="가는각진제목체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300" b="1" kern="1200">
                <a:solidFill>
                  <a:schemeClr val="tx1"/>
                </a:solidFill>
                <a:latin typeface="Arial" pitchFamily="34" charset="0"/>
                <a:ea typeface="가는각진제목체"/>
                <a:cs typeface="가는각진제목체"/>
              </a:defRPr>
            </a:lvl5pPr>
            <a:lvl6pPr marL="22860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Arial" pitchFamily="34" charset="0"/>
                <a:ea typeface="가는각진제목체"/>
                <a:cs typeface="가는각진제목체"/>
              </a:defRPr>
            </a:lvl6pPr>
            <a:lvl7pPr marL="27432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Arial" pitchFamily="34" charset="0"/>
                <a:ea typeface="가는각진제목체"/>
                <a:cs typeface="가는각진제목체"/>
              </a:defRPr>
            </a:lvl7pPr>
            <a:lvl8pPr marL="32004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Arial" pitchFamily="34" charset="0"/>
                <a:ea typeface="가는각진제목체"/>
                <a:cs typeface="가는각진제목체"/>
              </a:defRPr>
            </a:lvl8pPr>
            <a:lvl9pPr marL="36576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Arial" pitchFamily="34" charset="0"/>
                <a:ea typeface="가는각진제목체"/>
                <a:cs typeface="가는각진제목체"/>
              </a:defRPr>
            </a:lvl9pPr>
          </a:lstStyle>
          <a:p>
            <a:pPr algn="r">
              <a:defRPr/>
            </a:pPr>
            <a:r>
              <a:rPr lang="en-US" altLang="ko-KR" sz="1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D9C754DC-C722-4351-B590-A97C8B791BF5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4052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1650" y="727075"/>
            <a:ext cx="8877300" cy="649288"/>
          </a:xfrm>
          <a:prstGeom prst="rect">
            <a:avLst/>
          </a:prstGeom>
        </p:spPr>
        <p:txBody>
          <a:bodyPr/>
          <a:lstStyle>
            <a:lvl1pPr marL="0" marR="0" indent="0" algn="l" defTabSz="863499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+mj-lt"/>
              <a:buNone/>
              <a:tabLst/>
              <a:defRPr sz="1400" b="1">
                <a:latin typeface="+mn-ea"/>
                <a:ea typeface="+mn-ea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6746744" y="230188"/>
            <a:ext cx="2652751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350" tIns="43175" rIns="86350" bIns="43175" numCol="1" anchor="t" anchorCtr="0" compatLnSpc="1">
            <a:prstTxWarp prst="textNoShape">
              <a:avLst/>
            </a:prstTxWarp>
          </a:bodyPr>
          <a:lstStyle>
            <a:lvl1pPr>
              <a:defRPr lang="ko-KR" altLang="en-US" dirty="0" smtClean="0"/>
            </a:lvl1pPr>
          </a:lstStyle>
          <a:p>
            <a:pPr lvl="0" algn="r"/>
            <a:endParaRPr lang="ko-KR" altLang="en-US" dirty="0" smtClean="0"/>
          </a:p>
        </p:txBody>
      </p:sp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501650" y="230188"/>
            <a:ext cx="6180138" cy="336550"/>
          </a:xfrm>
          <a:prstGeom prst="rect">
            <a:avLst/>
          </a:prstGeom>
        </p:spPr>
        <p:txBody>
          <a:bodyPr/>
          <a:lstStyle>
            <a:lvl1pPr algn="l" defTabSz="898525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lang="ko-KR" altLang="en-US" sz="16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3633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81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4" r:id="rId2"/>
    <p:sldLayoutId id="2147483666" r:id="rId3"/>
    <p:sldLayoutId id="2147483665" r:id="rId4"/>
    <p:sldLayoutId id="2147483667" r:id="rId5"/>
    <p:sldLayoutId id="2147483668" r:id="rId6"/>
    <p:sldLayoutId id="2147483669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Wingdings" panose="05000000000000000000" pitchFamily="2" charset="2"/>
        <a:buChar char="q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 sz="quarter"/>
          </p:nvPr>
        </p:nvSpPr>
        <p:spPr>
          <a:xfrm>
            <a:off x="560511" y="3140968"/>
            <a:ext cx="8928991" cy="792162"/>
          </a:xfrm>
        </p:spPr>
        <p:txBody>
          <a:bodyPr/>
          <a:lstStyle/>
          <a:p>
            <a:r>
              <a:rPr lang="en-US" altLang="ko-KR" sz="3200" b="1" dirty="0"/>
              <a:t> </a:t>
            </a:r>
            <a:endParaRPr lang="ko-KR" altLang="en-US" sz="3200" b="1" dirty="0"/>
          </a:p>
        </p:txBody>
      </p:sp>
      <p:sp>
        <p:nvSpPr>
          <p:cNvPr id="5" name="부제목 4"/>
          <p:cNvSpPr>
            <a:spLocks noGrp="1"/>
          </p:cNvSpPr>
          <p:nvPr>
            <p:ph type="subTitle" sz="quarter" idx="4294967295"/>
          </p:nvPr>
        </p:nvSpPr>
        <p:spPr>
          <a:xfrm>
            <a:off x="3585144" y="4508351"/>
            <a:ext cx="2879725" cy="504825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altLang="ko-KR" sz="1800" dirty="0" smtClean="0"/>
              <a:t>2018. 11</a:t>
            </a:r>
            <a:endParaRPr lang="ko-KR" altLang="en-US" sz="1800" dirty="0"/>
          </a:p>
        </p:txBody>
      </p:sp>
      <p:sp>
        <p:nvSpPr>
          <p:cNvPr id="6" name="제목 3"/>
          <p:cNvSpPr txBox="1">
            <a:spLocks/>
          </p:cNvSpPr>
          <p:nvPr/>
        </p:nvSpPr>
        <p:spPr>
          <a:xfrm>
            <a:off x="560511" y="5445224"/>
            <a:ext cx="8928991" cy="792162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2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 smtClean="0">
                <a:latin typeface="+mn-l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0162" y="3301534"/>
            <a:ext cx="496855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chemeClr val="tx2"/>
                </a:solidFill>
                <a:latin typeface="Cambria" panose="02040503050406030204" pitchFamily="18" charset="0"/>
                <a:ea typeface="+mj-ea"/>
              </a:rPr>
              <a:t>선</a:t>
            </a:r>
            <a:r>
              <a:rPr lang="ko-KR" altLang="en-US" sz="2400" b="1" dirty="0">
                <a:solidFill>
                  <a:schemeClr val="tx2"/>
                </a:solidFill>
                <a:latin typeface="Cambria" panose="02040503050406030204" pitchFamily="18" charset="0"/>
                <a:ea typeface="+mj-ea"/>
              </a:rPr>
              <a:t>택</a:t>
            </a:r>
            <a:r>
              <a:rPr lang="ko-KR" altLang="en-US" sz="2400" b="1" dirty="0" smtClean="0">
                <a:solidFill>
                  <a:schemeClr val="tx2"/>
                </a:solidFill>
                <a:latin typeface="Cambria" panose="02040503050406030204" pitchFamily="18" charset="0"/>
                <a:ea typeface="+mj-ea"/>
              </a:rPr>
              <a:t>적 추천 알고리즘</a:t>
            </a:r>
            <a:endParaRPr lang="en-US" altLang="ko-KR" sz="2400" b="1" dirty="0" smtClean="0">
              <a:solidFill>
                <a:schemeClr val="tx2"/>
              </a:solidFill>
              <a:latin typeface="Cambria" panose="02040503050406030204" pitchFamily="18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8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287"/>
          <p:cNvSpPr>
            <a:spLocks noChangeArrowheads="1"/>
          </p:cNvSpPr>
          <p:nvPr/>
        </p:nvSpPr>
        <p:spPr bwMode="auto">
          <a:xfrm>
            <a:off x="1352600" y="1585744"/>
            <a:ext cx="446407" cy="339581"/>
          </a:xfrm>
          <a:prstGeom prst="rect">
            <a:avLst/>
          </a:prstGeom>
          <a:solidFill>
            <a:srgbClr val="FFFFCC"/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Malgun Gothic" charset="-127"/>
                <a:ea typeface="Malgun Gothic" charset="-127"/>
                <a:cs typeface="Malgun Gothic" charset="-127"/>
              </a:rPr>
              <a:t>질환명</a:t>
            </a:r>
            <a:endParaRPr lang="en-US" altLang="ko-KR" sz="8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47" name="Rectangle 287"/>
          <p:cNvSpPr>
            <a:spLocks noChangeArrowheads="1"/>
          </p:cNvSpPr>
          <p:nvPr/>
        </p:nvSpPr>
        <p:spPr bwMode="auto">
          <a:xfrm>
            <a:off x="4124989" y="1585744"/>
            <a:ext cx="1074235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투석여부</a:t>
            </a:r>
            <a:endParaRPr lang="en-US" altLang="ko-KR" sz="8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(HD, CAPD, CAVH) 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304" name="제목 30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kern="0" dirty="0">
                <a:latin typeface="Malgun Gothic" charset="-127"/>
                <a:ea typeface="Malgun Gothic" charset="-127"/>
                <a:cs typeface="Malgun Gothic" charset="-127"/>
              </a:rPr>
              <a:t>3A</a:t>
            </a:r>
            <a:r>
              <a:rPr lang="ko-KR" altLang="en-US" kern="0" dirty="0">
                <a:latin typeface="Malgun Gothic" charset="-127"/>
                <a:ea typeface="Malgun Gothic" charset="-127"/>
                <a:cs typeface="Malgun Gothic" charset="-127"/>
              </a:rPr>
              <a:t> 경험적 </a:t>
            </a:r>
            <a:r>
              <a:rPr lang="ko-KR" altLang="en-US" dirty="0">
                <a:latin typeface="Malgun Gothic" charset="-127"/>
                <a:ea typeface="Malgun Gothic" charset="-127"/>
                <a:cs typeface="Malgun Gothic" charset="-127"/>
              </a:rPr>
              <a:t>항생제 </a:t>
            </a:r>
            <a:r>
              <a:rPr lang="ko-KR" altLang="en-US" kern="0" dirty="0">
                <a:latin typeface="Malgun Gothic" charset="-127"/>
                <a:ea typeface="Malgun Gothic" charset="-127"/>
                <a:cs typeface="Malgun Gothic" charset="-127"/>
              </a:rPr>
              <a:t>추천 </a:t>
            </a:r>
            <a:r>
              <a:rPr lang="en-US" altLang="ko-KR" kern="0" dirty="0">
                <a:latin typeface="Malgun Gothic" charset="-127"/>
                <a:ea typeface="Malgun Gothic" charset="-127"/>
                <a:cs typeface="Malgun Gothic" charset="-127"/>
              </a:rPr>
              <a:t>Flow</a:t>
            </a:r>
            <a:endParaRPr lang="ko-KR" altLang="en-US" dirty="0"/>
          </a:p>
        </p:txBody>
      </p:sp>
      <p:sp>
        <p:nvSpPr>
          <p:cNvPr id="94" name="Rectangle 287"/>
          <p:cNvSpPr>
            <a:spLocks noChangeArrowheads="1"/>
          </p:cNvSpPr>
          <p:nvPr/>
        </p:nvSpPr>
        <p:spPr bwMode="auto">
          <a:xfrm>
            <a:off x="1928567" y="1585744"/>
            <a:ext cx="2066862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환자 기본정보</a:t>
            </a:r>
            <a:endParaRPr lang="en-US" altLang="ko-KR" sz="8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성별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나이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키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몸무게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알러지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임신여부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59" name="Rectangle 287"/>
          <p:cNvSpPr>
            <a:spLocks noChangeArrowheads="1"/>
          </p:cNvSpPr>
          <p:nvPr/>
        </p:nvSpPr>
        <p:spPr bwMode="auto">
          <a:xfrm>
            <a:off x="1136576" y="6453336"/>
            <a:ext cx="8280474" cy="3392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t"/>
          <a:lstStyle/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주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1)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지역사회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= “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외래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”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이며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16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개 질환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.      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타기관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원내감염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= “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입원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”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이며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16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개 질환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.       ICU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는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2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개 질환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이 추천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항생제를 달리하고 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있음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 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대상 질환 목록은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“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참고자료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1.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발병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정보별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적용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질환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”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 참고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61" name="Rectangle 287"/>
          <p:cNvSpPr>
            <a:spLocks noChangeArrowheads="1"/>
          </p:cNvSpPr>
          <p:nvPr/>
        </p:nvSpPr>
        <p:spPr bwMode="auto">
          <a:xfrm>
            <a:off x="5328784" y="1585744"/>
            <a:ext cx="1510880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감염경로 </a:t>
            </a:r>
            <a:r>
              <a:rPr lang="en-US" altLang="ko-KR" sz="800" baseline="30000" dirty="0" smtClean="0">
                <a:latin typeface="Malgun Gothic" charset="-127"/>
                <a:ea typeface="Malgun Gothic" charset="-127"/>
                <a:cs typeface="Malgun Gothic" charset="-127"/>
              </a:rPr>
              <a:t>1) (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발병정보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en-US" altLang="ko-KR" sz="800" baseline="300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지역사회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타기관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원내감염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ICU)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484860" y="1340768"/>
            <a:ext cx="8932190" cy="5112568"/>
            <a:chOff x="484860" y="1340768"/>
            <a:chExt cx="8932190" cy="5112568"/>
          </a:xfrm>
        </p:grpSpPr>
        <p:cxnSp>
          <p:nvCxnSpPr>
            <p:cNvPr id="306" name="직선 연결선[R] 305"/>
            <p:cNvCxnSpPr/>
            <p:nvPr/>
          </p:nvCxnSpPr>
          <p:spPr bwMode="auto">
            <a:xfrm>
              <a:off x="501650" y="2134304"/>
              <a:ext cx="8915400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1" name="텍스트 상자 80"/>
            <p:cNvSpPr txBox="1"/>
            <p:nvPr/>
          </p:nvSpPr>
          <p:spPr>
            <a:xfrm>
              <a:off x="484862" y="1556792"/>
              <a:ext cx="651714" cy="386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200" b="1" dirty="0" smtClean="0">
                  <a:latin typeface="+mn-ea"/>
                </a:rPr>
                <a:t>Input</a:t>
              </a:r>
            </a:p>
            <a:p>
              <a:pPr algn="ctr"/>
              <a:r>
                <a:rPr kumimoji="1" lang="en-US" altLang="ko-KR" sz="1200" b="1" dirty="0" smtClean="0">
                  <a:latin typeface="+mn-ea"/>
                </a:rPr>
                <a:t>Data</a:t>
              </a:r>
              <a:endParaRPr kumimoji="1" lang="ko-KR" altLang="en-US" sz="1200" b="1" dirty="0" smtClean="0">
                <a:latin typeface="+mn-ea"/>
                <a:ea typeface="+mn-ea"/>
              </a:endParaRPr>
            </a:p>
          </p:txBody>
        </p:sp>
        <p:cxnSp>
          <p:nvCxnSpPr>
            <p:cNvPr id="57" name="직선 연결선[R] 69"/>
            <p:cNvCxnSpPr/>
            <p:nvPr/>
          </p:nvCxnSpPr>
          <p:spPr bwMode="auto">
            <a:xfrm>
              <a:off x="1136576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2" name="텍스트 상자 276"/>
            <p:cNvSpPr txBox="1"/>
            <p:nvPr/>
          </p:nvSpPr>
          <p:spPr>
            <a:xfrm>
              <a:off x="484862" y="4028007"/>
              <a:ext cx="651714" cy="386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ko-KR" altLang="en-US" sz="1200" b="1" dirty="0" smtClean="0">
                  <a:latin typeface="+mn-ea"/>
                </a:rPr>
                <a:t>경험적</a:t>
              </a:r>
              <a:endParaRPr kumimoji="1" lang="en-US" altLang="ko-KR" sz="1200" b="1" dirty="0" smtClean="0">
                <a:latin typeface="+mn-ea"/>
              </a:endParaRPr>
            </a:p>
            <a:p>
              <a:pPr algn="ctr"/>
              <a:r>
                <a:rPr kumimoji="1" lang="ko-KR" altLang="en-US" sz="1200" b="1" dirty="0" smtClean="0">
                  <a:latin typeface="+mn-ea"/>
                </a:rPr>
                <a:t>추천</a:t>
              </a:r>
              <a:endParaRPr kumimoji="1" lang="en-US" altLang="ko-KR" sz="1200" b="1" dirty="0" smtClean="0">
                <a:latin typeface="+mn-ea"/>
              </a:endParaRPr>
            </a:p>
          </p:txBody>
        </p:sp>
        <p:cxnSp>
          <p:nvCxnSpPr>
            <p:cNvPr id="63" name="직선 연결선[R] 69"/>
            <p:cNvCxnSpPr/>
            <p:nvPr/>
          </p:nvCxnSpPr>
          <p:spPr bwMode="auto">
            <a:xfrm>
              <a:off x="484860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직선 연결선[R] 305"/>
            <p:cNvCxnSpPr/>
            <p:nvPr/>
          </p:nvCxnSpPr>
          <p:spPr bwMode="auto">
            <a:xfrm>
              <a:off x="501650" y="1340768"/>
              <a:ext cx="8915400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직선 연결선[R] 305"/>
            <p:cNvCxnSpPr/>
            <p:nvPr/>
          </p:nvCxnSpPr>
          <p:spPr bwMode="auto">
            <a:xfrm>
              <a:off x="501650" y="6452666"/>
              <a:ext cx="8915400" cy="52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직선 연결선[R] 69"/>
            <p:cNvCxnSpPr/>
            <p:nvPr/>
          </p:nvCxnSpPr>
          <p:spPr bwMode="auto">
            <a:xfrm>
              <a:off x="9417050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2" name="직선 연결선[R] 69"/>
            <p:cNvCxnSpPr/>
            <p:nvPr/>
          </p:nvCxnSpPr>
          <p:spPr bwMode="auto">
            <a:xfrm>
              <a:off x="3746886" y="2134304"/>
              <a:ext cx="0" cy="431903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4" name="직선 연결선[R] 69"/>
            <p:cNvCxnSpPr/>
            <p:nvPr/>
          </p:nvCxnSpPr>
          <p:spPr bwMode="auto">
            <a:xfrm>
              <a:off x="7112338" y="2134304"/>
              <a:ext cx="0" cy="431903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4" name="Rectangle 287"/>
          <p:cNvSpPr>
            <a:spLocks noChangeArrowheads="1"/>
          </p:cNvSpPr>
          <p:nvPr/>
        </p:nvSpPr>
        <p:spPr bwMode="auto">
          <a:xfrm>
            <a:off x="6969224" y="1585744"/>
            <a:ext cx="936104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신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간 기능 수치</a:t>
            </a:r>
            <a:endParaRPr lang="en-US" altLang="ko-KR" sz="8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4" name="순서도: 준비 13"/>
          <p:cNvSpPr/>
          <p:nvPr/>
        </p:nvSpPr>
        <p:spPr>
          <a:xfrm>
            <a:off x="1424608" y="4190955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질환</a:t>
            </a:r>
          </a:p>
        </p:txBody>
      </p:sp>
      <p:sp>
        <p:nvSpPr>
          <p:cNvPr id="86" name="순서도: 준비 85"/>
          <p:cNvSpPr/>
          <p:nvPr/>
        </p:nvSpPr>
        <p:spPr>
          <a:xfrm>
            <a:off x="1424608" y="4563649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성별</a:t>
            </a:r>
            <a:endParaRPr lang="ko-KR" altLang="en-US" sz="800" dirty="0">
              <a:solidFill>
                <a:schemeClr val="tx1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87" name="순서도: 준비 86"/>
          <p:cNvSpPr/>
          <p:nvPr/>
        </p:nvSpPr>
        <p:spPr>
          <a:xfrm>
            <a:off x="1424608" y="4936343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알러지</a:t>
            </a:r>
            <a:endParaRPr lang="ko-KR" altLang="en-US" sz="800" dirty="0">
              <a:solidFill>
                <a:schemeClr val="tx1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89" name="순서도: 준비 88"/>
          <p:cNvSpPr/>
          <p:nvPr/>
        </p:nvSpPr>
        <p:spPr>
          <a:xfrm>
            <a:off x="1424608" y="5309037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몸무게</a:t>
            </a:r>
            <a:endParaRPr lang="ko-KR" altLang="en-US" sz="800" dirty="0">
              <a:solidFill>
                <a:schemeClr val="tx1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90" name="순서도: 준비 89"/>
          <p:cNvSpPr/>
          <p:nvPr/>
        </p:nvSpPr>
        <p:spPr>
          <a:xfrm>
            <a:off x="1424608" y="5681731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임신여부</a:t>
            </a:r>
            <a:endParaRPr lang="ko-KR" altLang="en-US" sz="800" dirty="0">
              <a:solidFill>
                <a:schemeClr val="tx1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92" name="순서도: 준비 91"/>
          <p:cNvSpPr/>
          <p:nvPr/>
        </p:nvSpPr>
        <p:spPr>
          <a:xfrm>
            <a:off x="1424608" y="6054423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감염경로</a:t>
            </a:r>
            <a:endParaRPr lang="ko-KR" altLang="en-US" sz="800" dirty="0">
              <a:solidFill>
                <a:schemeClr val="tx1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93" name="텍스트 상자 193"/>
          <p:cNvSpPr txBox="1"/>
          <p:nvPr/>
        </p:nvSpPr>
        <p:spPr>
          <a:xfrm>
            <a:off x="1568624" y="5847139"/>
            <a:ext cx="1004277" cy="19598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algn="ctr"/>
            <a:r>
              <a:rPr kumimoji="1" lang="en-US" altLang="ko-KR" sz="700" dirty="0" smtClean="0">
                <a:latin typeface="+mn-ea"/>
              </a:rPr>
              <a:t>Category D, E </a:t>
            </a:r>
            <a:r>
              <a:rPr kumimoji="1" lang="ko-KR" altLang="en-US" sz="700" dirty="0" smtClean="0">
                <a:latin typeface="+mn-ea"/>
              </a:rPr>
              <a:t>제외</a:t>
            </a:r>
          </a:p>
        </p:txBody>
      </p:sp>
      <p:sp>
        <p:nvSpPr>
          <p:cNvPr id="95" name="순서도: 자기 디스크 94"/>
          <p:cNvSpPr/>
          <p:nvPr/>
        </p:nvSpPr>
        <p:spPr>
          <a:xfrm>
            <a:off x="1336262" y="3208290"/>
            <a:ext cx="720160" cy="46474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 smtClean="0">
                <a:solidFill>
                  <a:schemeClr val="tx1"/>
                </a:solidFill>
                <a:latin typeface="+mn-ea"/>
              </a:rPr>
              <a:t>경험적 </a:t>
            </a:r>
            <a:endParaRPr lang="en-US" altLang="ko-KR" sz="8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b="1" dirty="0" smtClean="0">
                <a:solidFill>
                  <a:schemeClr val="tx1"/>
                </a:solidFill>
                <a:latin typeface="+mn-ea"/>
              </a:rPr>
              <a:t>항생제 </a:t>
            </a:r>
            <a:r>
              <a:rPr lang="en-US" altLang="ko-KR" sz="800" b="1" dirty="0" smtClean="0">
                <a:solidFill>
                  <a:schemeClr val="tx1"/>
                </a:solidFill>
                <a:latin typeface="+mn-ea"/>
              </a:rPr>
              <a:t>DB</a:t>
            </a:r>
            <a:endParaRPr lang="ko-KR" altLang="en-US" sz="800" b="1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9" name="꺾인 연결선[E] 272"/>
          <p:cNvCxnSpPr>
            <a:stCxn id="14" idx="3"/>
            <a:endCxn id="29" idx="2"/>
          </p:cNvCxnSpPr>
          <p:nvPr/>
        </p:nvCxnSpPr>
        <p:spPr bwMode="auto">
          <a:xfrm flipV="1">
            <a:off x="2216696" y="4006766"/>
            <a:ext cx="576104" cy="282181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1" name="꺾인 연결선[E] 272"/>
          <p:cNvCxnSpPr>
            <a:stCxn id="86" idx="3"/>
            <a:endCxn id="29" idx="2"/>
          </p:cNvCxnSpPr>
          <p:nvPr/>
        </p:nvCxnSpPr>
        <p:spPr bwMode="auto">
          <a:xfrm flipV="1">
            <a:off x="2216696" y="4006766"/>
            <a:ext cx="576104" cy="654875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꺾인 연결선[E] 272"/>
          <p:cNvCxnSpPr>
            <a:stCxn id="87" idx="3"/>
            <a:endCxn id="29" idx="2"/>
          </p:cNvCxnSpPr>
          <p:nvPr/>
        </p:nvCxnSpPr>
        <p:spPr bwMode="auto">
          <a:xfrm flipV="1">
            <a:off x="2216696" y="4006766"/>
            <a:ext cx="576104" cy="1027569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꺾인 연결선[E] 272"/>
          <p:cNvCxnSpPr>
            <a:stCxn id="89" idx="3"/>
            <a:endCxn id="29" idx="2"/>
          </p:cNvCxnSpPr>
          <p:nvPr/>
        </p:nvCxnSpPr>
        <p:spPr bwMode="auto">
          <a:xfrm flipV="1">
            <a:off x="2216696" y="4006766"/>
            <a:ext cx="576104" cy="1400263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6" name="꺾인 연결선[E] 272"/>
          <p:cNvCxnSpPr>
            <a:stCxn id="90" idx="3"/>
            <a:endCxn id="29" idx="2"/>
          </p:cNvCxnSpPr>
          <p:nvPr/>
        </p:nvCxnSpPr>
        <p:spPr bwMode="auto">
          <a:xfrm flipV="1">
            <a:off x="2216696" y="4006766"/>
            <a:ext cx="576104" cy="1772957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8" name="꺾인 연결선[E] 272"/>
          <p:cNvCxnSpPr>
            <a:stCxn id="92" idx="3"/>
            <a:endCxn id="29" idx="2"/>
          </p:cNvCxnSpPr>
          <p:nvPr/>
        </p:nvCxnSpPr>
        <p:spPr bwMode="auto">
          <a:xfrm flipV="1">
            <a:off x="2216696" y="4006766"/>
            <a:ext cx="576104" cy="2145649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순서도: 대체 처리 28"/>
          <p:cNvSpPr/>
          <p:nvPr/>
        </p:nvSpPr>
        <p:spPr>
          <a:xfrm>
            <a:off x="2180732" y="3628589"/>
            <a:ext cx="1224136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경험적 처방</a:t>
            </a:r>
            <a:endParaRPr lang="en-US" altLang="ko-KR" sz="90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algn="ctr"/>
            <a:r>
              <a:rPr lang="ko-KR" altLang="en-US" sz="900" b="1" dirty="0" smtClean="0">
                <a:solidFill>
                  <a:schemeClr val="tx2"/>
                </a:solidFill>
                <a:latin typeface="+mn-ea"/>
              </a:rPr>
              <a:t>대상항생제 선정</a:t>
            </a:r>
          </a:p>
        </p:txBody>
      </p:sp>
      <p:cxnSp>
        <p:nvCxnSpPr>
          <p:cNvPr id="117" name="꺾인 연결선[E] 272"/>
          <p:cNvCxnSpPr>
            <a:stCxn id="95" idx="3"/>
            <a:endCxn id="29" idx="1"/>
          </p:cNvCxnSpPr>
          <p:nvPr/>
        </p:nvCxnSpPr>
        <p:spPr bwMode="auto">
          <a:xfrm rot="16200000" flipH="1">
            <a:off x="1866217" y="3503163"/>
            <a:ext cx="144640" cy="484390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4" name="꺾인 연결선[E] 272"/>
          <p:cNvCxnSpPr>
            <a:stCxn id="148" idx="3"/>
            <a:endCxn id="159" idx="2"/>
          </p:cNvCxnSpPr>
          <p:nvPr/>
        </p:nvCxnSpPr>
        <p:spPr bwMode="auto">
          <a:xfrm>
            <a:off x="5313040" y="3810478"/>
            <a:ext cx="762400" cy="141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1" name="직사각형 290"/>
          <p:cNvSpPr/>
          <p:nvPr/>
        </p:nvSpPr>
        <p:spPr>
          <a:xfrm>
            <a:off x="7887150" y="3199393"/>
            <a:ext cx="15299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▶ 소아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18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세 미만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, 30Kg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미만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▶ 신기능저하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소아 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en-US" altLang="ko-KR" sz="700" dirty="0" err="1">
                <a:latin typeface="Malgun Gothic" charset="-127"/>
                <a:ea typeface="Malgun Gothic" charset="-127"/>
                <a:cs typeface="Malgun Gothic" charset="-127"/>
              </a:rPr>
              <a:t>CrCl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&lt;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50, </a:t>
            </a:r>
          </a:p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                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en-US" altLang="ko-KR" sz="700" dirty="0" err="1">
                <a:latin typeface="Malgun Gothic" charset="-127"/>
                <a:ea typeface="Malgun Gothic" charset="-127"/>
                <a:cs typeface="Malgun Gothic" charset="-127"/>
              </a:rPr>
              <a:t>CrCl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&lt;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90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48" name="순서도: 대체 처리 147"/>
          <p:cNvSpPr/>
          <p:nvPr/>
        </p:nvSpPr>
        <p:spPr>
          <a:xfrm>
            <a:off x="4088904" y="3621389"/>
            <a:ext cx="1224136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2"/>
                </a:solidFill>
                <a:latin typeface="+mn-ea"/>
              </a:rPr>
              <a:t>우선순위 적용</a:t>
            </a:r>
          </a:p>
        </p:txBody>
      </p:sp>
      <p:cxnSp>
        <p:nvCxnSpPr>
          <p:cNvPr id="149" name="꺾인 연결선[E] 272"/>
          <p:cNvCxnSpPr>
            <a:stCxn id="29" idx="3"/>
            <a:endCxn id="148" idx="1"/>
          </p:cNvCxnSpPr>
          <p:nvPr/>
        </p:nvCxnSpPr>
        <p:spPr bwMode="auto">
          <a:xfrm flipV="1">
            <a:off x="3404868" y="3810478"/>
            <a:ext cx="684036" cy="720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1" name="직사각형 150"/>
          <p:cNvSpPr/>
          <p:nvPr/>
        </p:nvSpPr>
        <p:spPr>
          <a:xfrm>
            <a:off x="4270856" y="4028936"/>
            <a:ext cx="205029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0) P, A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구분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1)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항생제 계열 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★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2) Mono, Combination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3)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용법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   -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입원 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: IV 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 IM  PO 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기타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   -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외래 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: PO  IM  IV 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기타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4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)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투여주기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5)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알파벳 순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6) </a:t>
            </a:r>
            <a:r>
              <a:rPr lang="ko-KR" altLang="en-US" sz="900" dirty="0" err="1" smtClean="0">
                <a:latin typeface="Malgun Gothic" charset="-127"/>
                <a:ea typeface="Malgun Gothic" charset="-127"/>
                <a:cs typeface="Malgun Gothic" charset="-127"/>
              </a:rPr>
              <a:t>알러지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 항생제 </a:t>
            </a:r>
            <a:r>
              <a:rPr lang="ko-KR" altLang="en-US" sz="900" dirty="0" err="1" smtClean="0">
                <a:latin typeface="Malgun Gothic" charset="-127"/>
                <a:ea typeface="Malgun Gothic" charset="-127"/>
                <a:cs typeface="Malgun Gothic" charset="-127"/>
              </a:rPr>
              <a:t>후순위적용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7) </a:t>
            </a:r>
            <a:r>
              <a:rPr lang="ko-KR" altLang="en-US" sz="900" dirty="0" err="1" smtClean="0">
                <a:latin typeface="Malgun Gothic" charset="-127"/>
                <a:ea typeface="Malgun Gothic" charset="-127"/>
                <a:cs typeface="Malgun Gothic" charset="-127"/>
              </a:rPr>
              <a:t>간기능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 관련 항생제 </a:t>
            </a:r>
            <a:r>
              <a:rPr lang="ko-KR" altLang="en-US" sz="900" dirty="0" err="1" smtClean="0">
                <a:latin typeface="Malgun Gothic" charset="-127"/>
                <a:ea typeface="Malgun Gothic" charset="-127"/>
                <a:cs typeface="Malgun Gothic" charset="-127"/>
              </a:rPr>
              <a:t>후순위적용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57" name="텍스트 개체 틀 2"/>
          <p:cNvSpPr txBox="1">
            <a:spLocks/>
          </p:cNvSpPr>
          <p:nvPr/>
        </p:nvSpPr>
        <p:spPr>
          <a:xfrm>
            <a:off x="484860" y="668947"/>
            <a:ext cx="8932190" cy="4565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q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dirty="0">
                <a:latin typeface="+mn-ea"/>
              </a:rPr>
              <a:t>OCS</a:t>
            </a:r>
            <a:r>
              <a:rPr kumimoji="1" lang="ko-KR" altLang="en-US" dirty="0">
                <a:latin typeface="+mn-ea"/>
              </a:rPr>
              <a:t>연계항목과 추가 입력 정보를 활용하여 경험적 기반의 항생제를 추천</a:t>
            </a:r>
          </a:p>
        </p:txBody>
      </p:sp>
      <p:sp>
        <p:nvSpPr>
          <p:cNvPr id="159" name="순서도: 자기 디스크 158"/>
          <p:cNvSpPr/>
          <p:nvPr/>
        </p:nvSpPr>
        <p:spPr>
          <a:xfrm>
            <a:off x="6075440" y="3526999"/>
            <a:ext cx="764224" cy="56978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 smtClean="0">
                <a:solidFill>
                  <a:srgbClr val="C00000"/>
                </a:solidFill>
                <a:latin typeface="+mn-ea"/>
              </a:rPr>
              <a:t>추천항생제</a:t>
            </a:r>
            <a:endParaRPr lang="en-US" altLang="ko-KR" sz="900" b="1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en-US" altLang="ko-KR" sz="900" b="1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900" b="1" dirty="0" smtClean="0">
                <a:solidFill>
                  <a:srgbClr val="C00000"/>
                </a:solidFill>
                <a:latin typeface="+mn-ea"/>
              </a:rPr>
              <a:t>후보</a:t>
            </a:r>
            <a:r>
              <a:rPr lang="en-US" altLang="ko-KR" sz="900" b="1" dirty="0" smtClean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900" b="1" dirty="0" smtClean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76" name="순서도: 대체 처리 175"/>
          <p:cNvSpPr/>
          <p:nvPr/>
        </p:nvSpPr>
        <p:spPr>
          <a:xfrm>
            <a:off x="7385012" y="4464858"/>
            <a:ext cx="1440160" cy="352193"/>
          </a:xfrm>
          <a:prstGeom prst="flowChartAlternateProcess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800" kern="0" dirty="0" err="1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단위</a:t>
            </a:r>
            <a:r>
              <a:rPr kumimoji="1" lang="ko-KR" altLang="en-US" sz="800" kern="0" dirty="0" err="1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별</a:t>
            </a:r>
            <a:r>
              <a:rPr kumimoji="1" lang="en-US" altLang="ko-KR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(/kg) 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용량 계산</a:t>
            </a:r>
            <a:endParaRPr kumimoji="1" lang="ko-KR" altLang="en-US" sz="800" kern="0" baseline="3000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71" name="Rectangle 287"/>
          <p:cNvSpPr>
            <a:spLocks noChangeArrowheads="1"/>
          </p:cNvSpPr>
          <p:nvPr/>
        </p:nvSpPr>
        <p:spPr bwMode="auto">
          <a:xfrm>
            <a:off x="7385012" y="3619930"/>
            <a:ext cx="1440160" cy="3897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소아</a:t>
            </a:r>
            <a:r>
              <a:rPr kumimoji="1" lang="en-US" altLang="ko-KR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신장장애</a:t>
            </a:r>
            <a:endParaRPr kumimoji="1" lang="en-US" altLang="ko-KR" sz="800" kern="0" dirty="0" smtClean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 defTabSz="972739" eaLnBrk="0" hangingPunct="0"/>
            <a:r>
              <a:rPr kumimoji="1" lang="en-US" altLang="ko-KR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Dose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로 용량 </a:t>
            </a:r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치환</a:t>
            </a:r>
            <a:endParaRPr kumimoji="1" lang="en-US" altLang="ko-KR" sz="800" kern="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202" name="꺾인 연결선[E] 272"/>
          <p:cNvCxnSpPr>
            <a:stCxn id="159" idx="4"/>
            <a:endCxn id="171" idx="1"/>
          </p:cNvCxnSpPr>
          <p:nvPr/>
        </p:nvCxnSpPr>
        <p:spPr bwMode="auto">
          <a:xfrm>
            <a:off x="6839664" y="3811893"/>
            <a:ext cx="545348" cy="289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5" name="꺾인 연결선[E] 272"/>
          <p:cNvCxnSpPr>
            <a:stCxn id="171" idx="2"/>
            <a:endCxn id="176" idx="0"/>
          </p:cNvCxnSpPr>
          <p:nvPr/>
        </p:nvCxnSpPr>
        <p:spPr bwMode="auto">
          <a:xfrm rot="5400000">
            <a:off x="7877483" y="4237249"/>
            <a:ext cx="455218" cy="1270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2" name="꺾인 연결선[E] 272"/>
          <p:cNvCxnSpPr>
            <a:stCxn id="176" idx="2"/>
            <a:endCxn id="168" idx="0"/>
          </p:cNvCxnSpPr>
          <p:nvPr/>
        </p:nvCxnSpPr>
        <p:spPr bwMode="auto">
          <a:xfrm rot="16200000" flipH="1">
            <a:off x="7884326" y="5037816"/>
            <a:ext cx="441533" cy="1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73" name="그룹 172"/>
          <p:cNvGrpSpPr/>
          <p:nvPr/>
        </p:nvGrpSpPr>
        <p:grpSpPr>
          <a:xfrm>
            <a:off x="7400044" y="5258584"/>
            <a:ext cx="1410098" cy="1050736"/>
            <a:chOff x="6457552" y="4745227"/>
            <a:chExt cx="1410098" cy="1050736"/>
          </a:xfrm>
        </p:grpSpPr>
        <p:sp>
          <p:nvSpPr>
            <p:cNvPr id="168" name="직사각형 167"/>
            <p:cNvSpPr/>
            <p:nvPr/>
          </p:nvSpPr>
          <p:spPr>
            <a:xfrm>
              <a:off x="6457552" y="4745227"/>
              <a:ext cx="1410098" cy="148079"/>
            </a:xfrm>
            <a:prstGeom prst="rect">
              <a:avLst/>
            </a:prstGeom>
            <a:solidFill>
              <a:srgbClr val="FF9933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+mn-ea"/>
                </a:rPr>
                <a:t>3A </a:t>
              </a: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화면</a:t>
              </a:r>
            </a:p>
          </p:txBody>
        </p:sp>
        <p:sp>
          <p:nvSpPr>
            <p:cNvPr id="217" name="직사각형 216"/>
            <p:cNvSpPr/>
            <p:nvPr/>
          </p:nvSpPr>
          <p:spPr>
            <a:xfrm>
              <a:off x="6457552" y="4897657"/>
              <a:ext cx="1410098" cy="898306"/>
            </a:xfrm>
            <a:prstGeom prst="rect">
              <a:avLst/>
            </a:prstGeom>
            <a:solidFill>
              <a:srgbClr val="FF9933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b="1" dirty="0" smtClean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2903" y="4924299"/>
              <a:ext cx="1362979" cy="858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9" name="다이아몬드 178"/>
          <p:cNvSpPr/>
          <p:nvPr/>
        </p:nvSpPr>
        <p:spPr>
          <a:xfrm>
            <a:off x="1856736" y="2420888"/>
            <a:ext cx="864016" cy="360040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en-US" altLang="ko-KR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MRSA</a:t>
            </a:r>
          </a:p>
          <a:p>
            <a:pPr algn="ctr" defTabSz="972739" eaLnBrk="0" hangingPunct="0"/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추</a:t>
            </a:r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정</a:t>
            </a:r>
          </a:p>
        </p:txBody>
      </p:sp>
      <p:cxnSp>
        <p:nvCxnSpPr>
          <p:cNvPr id="224" name="꺾인 연결선[E] 272"/>
          <p:cNvCxnSpPr>
            <a:stCxn id="179" idx="2"/>
            <a:endCxn id="29" idx="0"/>
          </p:cNvCxnSpPr>
          <p:nvPr/>
        </p:nvCxnSpPr>
        <p:spPr bwMode="auto">
          <a:xfrm rot="16200000" flipH="1">
            <a:off x="2116942" y="2952730"/>
            <a:ext cx="847661" cy="504056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0" name="직사각형 229"/>
          <p:cNvSpPr/>
          <p:nvPr/>
        </p:nvSpPr>
        <p:spPr>
          <a:xfrm>
            <a:off x="1955842" y="2752810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N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233" name="순서도: 연결자 232"/>
          <p:cNvSpPr/>
          <p:nvPr/>
        </p:nvSpPr>
        <p:spPr>
          <a:xfrm>
            <a:off x="3368824" y="2259630"/>
            <a:ext cx="1224136" cy="37817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tx2"/>
                </a:solidFill>
                <a:latin typeface="+mn-ea"/>
              </a:rPr>
              <a:t>Go </a:t>
            </a:r>
            <a:r>
              <a:rPr lang="ko-KR" altLang="en-US" sz="900" b="1" dirty="0" smtClean="0">
                <a:solidFill>
                  <a:schemeClr val="tx2"/>
                </a:solidFill>
                <a:latin typeface="+mn-ea"/>
              </a:rPr>
              <a:t>선택적 추천</a:t>
            </a:r>
            <a:endParaRPr lang="ko-KR" altLang="en-US" sz="900" b="1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234" name="꺾인 연결선[E] 272"/>
          <p:cNvCxnSpPr>
            <a:stCxn id="179" idx="3"/>
          </p:cNvCxnSpPr>
          <p:nvPr/>
        </p:nvCxnSpPr>
        <p:spPr bwMode="auto">
          <a:xfrm flipV="1">
            <a:off x="2720752" y="2448719"/>
            <a:ext cx="648072" cy="152189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7" name="직사각형 236"/>
          <p:cNvSpPr/>
          <p:nvPr/>
        </p:nvSpPr>
        <p:spPr>
          <a:xfrm>
            <a:off x="2792760" y="2436857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Y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239" name="꺾인 연결선[E] 272"/>
          <p:cNvCxnSpPr>
            <a:stCxn id="120" idx="2"/>
            <a:endCxn id="179" idx="1"/>
          </p:cNvCxnSpPr>
          <p:nvPr/>
        </p:nvCxnSpPr>
        <p:spPr bwMode="auto">
          <a:xfrm rot="16200000" flipH="1">
            <a:off x="1378479" y="2122650"/>
            <a:ext cx="675583" cy="280932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5235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287"/>
          <p:cNvSpPr>
            <a:spLocks noChangeArrowheads="1"/>
          </p:cNvSpPr>
          <p:nvPr/>
        </p:nvSpPr>
        <p:spPr bwMode="auto">
          <a:xfrm>
            <a:off x="1352600" y="1585744"/>
            <a:ext cx="446407" cy="339581"/>
          </a:xfrm>
          <a:prstGeom prst="rect">
            <a:avLst/>
          </a:prstGeom>
          <a:solidFill>
            <a:srgbClr val="FFFFCC"/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Malgun Gothic" charset="-127"/>
                <a:ea typeface="Malgun Gothic" charset="-127"/>
                <a:cs typeface="Malgun Gothic" charset="-127"/>
              </a:rPr>
              <a:t>질환명</a:t>
            </a:r>
            <a:endParaRPr lang="en-US" altLang="ko-KR" sz="8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47" name="Rectangle 287"/>
          <p:cNvSpPr>
            <a:spLocks noChangeArrowheads="1"/>
          </p:cNvSpPr>
          <p:nvPr/>
        </p:nvSpPr>
        <p:spPr bwMode="auto">
          <a:xfrm>
            <a:off x="5205109" y="1585744"/>
            <a:ext cx="1074235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투석여부</a:t>
            </a:r>
            <a:endParaRPr lang="en-US" altLang="ko-KR" sz="8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(HD, CAPD, CAVH) 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304" name="제목 30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kern="0" dirty="0">
                <a:latin typeface="Malgun Gothic" charset="-127"/>
                <a:ea typeface="Malgun Gothic" charset="-127"/>
                <a:cs typeface="Malgun Gothic" charset="-127"/>
              </a:rPr>
              <a:t>3A</a:t>
            </a:r>
            <a:r>
              <a:rPr lang="ko-KR" altLang="en-US" kern="0" dirty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ko-KR" altLang="en-US" kern="0" dirty="0" smtClean="0">
                <a:latin typeface="Malgun Gothic" charset="-127"/>
                <a:ea typeface="Malgun Gothic" charset="-127"/>
                <a:cs typeface="Malgun Gothic" charset="-127"/>
              </a:rPr>
              <a:t>선택적 </a:t>
            </a:r>
            <a:r>
              <a:rPr lang="ko-KR" altLang="en-US" dirty="0">
                <a:latin typeface="Malgun Gothic" charset="-127"/>
                <a:ea typeface="Malgun Gothic" charset="-127"/>
                <a:cs typeface="Malgun Gothic" charset="-127"/>
              </a:rPr>
              <a:t>항생제 </a:t>
            </a:r>
            <a:r>
              <a:rPr lang="ko-KR" altLang="en-US" kern="0" dirty="0">
                <a:latin typeface="Malgun Gothic" charset="-127"/>
                <a:ea typeface="Malgun Gothic" charset="-127"/>
                <a:cs typeface="Malgun Gothic" charset="-127"/>
              </a:rPr>
              <a:t>추천 </a:t>
            </a:r>
            <a:r>
              <a:rPr lang="en-US" altLang="ko-KR" kern="0" dirty="0">
                <a:latin typeface="Malgun Gothic" charset="-127"/>
                <a:ea typeface="Malgun Gothic" charset="-127"/>
                <a:cs typeface="Malgun Gothic" charset="-127"/>
              </a:rPr>
              <a:t>Flow</a:t>
            </a:r>
            <a:endParaRPr lang="ko-KR" altLang="en-US" dirty="0"/>
          </a:p>
        </p:txBody>
      </p:sp>
      <p:sp>
        <p:nvSpPr>
          <p:cNvPr id="94" name="Rectangle 287"/>
          <p:cNvSpPr>
            <a:spLocks noChangeArrowheads="1"/>
          </p:cNvSpPr>
          <p:nvPr/>
        </p:nvSpPr>
        <p:spPr bwMode="auto">
          <a:xfrm>
            <a:off x="3008687" y="1585744"/>
            <a:ext cx="2066862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환자 기본정보</a:t>
            </a:r>
            <a:endParaRPr lang="en-US" altLang="ko-KR" sz="8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성별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나이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키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몸무게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알러지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임신여부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59" name="Rectangle 287"/>
          <p:cNvSpPr>
            <a:spLocks noChangeArrowheads="1"/>
          </p:cNvSpPr>
          <p:nvPr/>
        </p:nvSpPr>
        <p:spPr bwMode="auto">
          <a:xfrm>
            <a:off x="1136576" y="6453336"/>
            <a:ext cx="8280474" cy="3392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t"/>
          <a:lstStyle/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주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1)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감수성에 사용된 항생제와 동일 계열의 항생제를 포함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.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감수성결과가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R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이 아닌 항생제의 계열에 속하는 항생제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.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소아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감수성결과가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S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인 항생제의 계열에 속하는 항생제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 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동일계열의 항생제가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R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S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가 같이 나오는 경우에는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.???</a:t>
            </a:r>
          </a:p>
        </p:txBody>
      </p:sp>
      <p:sp>
        <p:nvSpPr>
          <p:cNvPr id="61" name="Rectangle 287"/>
          <p:cNvSpPr>
            <a:spLocks noChangeArrowheads="1"/>
          </p:cNvSpPr>
          <p:nvPr/>
        </p:nvSpPr>
        <p:spPr bwMode="auto">
          <a:xfrm>
            <a:off x="6408904" y="1585744"/>
            <a:ext cx="1510880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감염경로 </a:t>
            </a:r>
            <a:r>
              <a:rPr lang="en-US" altLang="ko-KR" sz="800" baseline="30000" dirty="0" smtClean="0">
                <a:latin typeface="Malgun Gothic" charset="-127"/>
                <a:ea typeface="Malgun Gothic" charset="-127"/>
                <a:cs typeface="Malgun Gothic" charset="-127"/>
              </a:rPr>
              <a:t>1) (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발병정보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en-US" altLang="ko-KR" sz="800" baseline="300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지역사회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타기관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원내감염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ICU)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484860" y="1340768"/>
            <a:ext cx="8932190" cy="5112568"/>
            <a:chOff x="484860" y="1340768"/>
            <a:chExt cx="8932190" cy="5112568"/>
          </a:xfrm>
        </p:grpSpPr>
        <p:cxnSp>
          <p:nvCxnSpPr>
            <p:cNvPr id="306" name="직선 연결선[R] 305"/>
            <p:cNvCxnSpPr/>
            <p:nvPr/>
          </p:nvCxnSpPr>
          <p:spPr bwMode="auto">
            <a:xfrm>
              <a:off x="501650" y="2134304"/>
              <a:ext cx="8915400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1" name="텍스트 상자 80"/>
            <p:cNvSpPr txBox="1"/>
            <p:nvPr/>
          </p:nvSpPr>
          <p:spPr>
            <a:xfrm>
              <a:off x="484862" y="1556792"/>
              <a:ext cx="651714" cy="386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200" b="1" dirty="0" smtClean="0">
                  <a:latin typeface="+mn-ea"/>
                </a:rPr>
                <a:t>Input</a:t>
              </a:r>
            </a:p>
            <a:p>
              <a:pPr algn="ctr"/>
              <a:r>
                <a:rPr kumimoji="1" lang="en-US" altLang="ko-KR" sz="1200" b="1" dirty="0" smtClean="0">
                  <a:latin typeface="+mn-ea"/>
                </a:rPr>
                <a:t>Data</a:t>
              </a:r>
              <a:endParaRPr kumimoji="1" lang="ko-KR" altLang="en-US" sz="1200" b="1" dirty="0" smtClean="0">
                <a:latin typeface="+mn-ea"/>
                <a:ea typeface="+mn-ea"/>
              </a:endParaRPr>
            </a:p>
          </p:txBody>
        </p:sp>
        <p:cxnSp>
          <p:nvCxnSpPr>
            <p:cNvPr id="57" name="직선 연결선[R] 69"/>
            <p:cNvCxnSpPr/>
            <p:nvPr/>
          </p:nvCxnSpPr>
          <p:spPr bwMode="auto">
            <a:xfrm>
              <a:off x="1136576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2" name="텍스트 상자 276"/>
            <p:cNvSpPr txBox="1"/>
            <p:nvPr/>
          </p:nvSpPr>
          <p:spPr>
            <a:xfrm>
              <a:off x="484862" y="4028007"/>
              <a:ext cx="651714" cy="386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ko-KR" altLang="en-US" sz="1200" b="1" dirty="0" smtClean="0">
                  <a:latin typeface="+mn-ea"/>
                </a:rPr>
                <a:t>선</a:t>
              </a:r>
              <a:r>
                <a:rPr kumimoji="1" lang="ko-KR" altLang="en-US" sz="1200" b="1" dirty="0">
                  <a:latin typeface="+mn-ea"/>
                </a:rPr>
                <a:t>택</a:t>
              </a:r>
              <a:r>
                <a:rPr kumimoji="1" lang="ko-KR" altLang="en-US" sz="1200" b="1" dirty="0" smtClean="0">
                  <a:latin typeface="+mn-ea"/>
                </a:rPr>
                <a:t>적</a:t>
              </a:r>
              <a:endParaRPr kumimoji="1" lang="en-US" altLang="ko-KR" sz="1200" b="1" dirty="0" smtClean="0">
                <a:latin typeface="+mn-ea"/>
              </a:endParaRPr>
            </a:p>
            <a:p>
              <a:pPr algn="ctr"/>
              <a:r>
                <a:rPr kumimoji="1" lang="ko-KR" altLang="en-US" sz="1200" b="1" dirty="0" smtClean="0">
                  <a:latin typeface="+mn-ea"/>
                </a:rPr>
                <a:t>추천</a:t>
              </a:r>
              <a:endParaRPr kumimoji="1" lang="en-US" altLang="ko-KR" sz="1200" b="1" dirty="0" smtClean="0">
                <a:latin typeface="+mn-ea"/>
              </a:endParaRPr>
            </a:p>
          </p:txBody>
        </p:sp>
        <p:cxnSp>
          <p:nvCxnSpPr>
            <p:cNvPr id="63" name="직선 연결선[R] 69"/>
            <p:cNvCxnSpPr/>
            <p:nvPr/>
          </p:nvCxnSpPr>
          <p:spPr bwMode="auto">
            <a:xfrm>
              <a:off x="484860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직선 연결선[R] 305"/>
            <p:cNvCxnSpPr/>
            <p:nvPr/>
          </p:nvCxnSpPr>
          <p:spPr bwMode="auto">
            <a:xfrm>
              <a:off x="501650" y="1340768"/>
              <a:ext cx="8915400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직선 연결선[R] 305"/>
            <p:cNvCxnSpPr/>
            <p:nvPr/>
          </p:nvCxnSpPr>
          <p:spPr bwMode="auto">
            <a:xfrm>
              <a:off x="501650" y="6452666"/>
              <a:ext cx="8915400" cy="52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직선 연결선[R] 69"/>
            <p:cNvCxnSpPr/>
            <p:nvPr/>
          </p:nvCxnSpPr>
          <p:spPr bwMode="auto">
            <a:xfrm>
              <a:off x="9417050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2" name="직선 연결선[R] 69"/>
            <p:cNvCxnSpPr/>
            <p:nvPr/>
          </p:nvCxnSpPr>
          <p:spPr bwMode="auto">
            <a:xfrm>
              <a:off x="5241032" y="2134304"/>
              <a:ext cx="0" cy="431903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4" name="직선 연결선[R] 69"/>
            <p:cNvCxnSpPr/>
            <p:nvPr/>
          </p:nvCxnSpPr>
          <p:spPr bwMode="auto">
            <a:xfrm>
              <a:off x="7617296" y="2134304"/>
              <a:ext cx="0" cy="431903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4" name="Rectangle 287"/>
          <p:cNvSpPr>
            <a:spLocks noChangeArrowheads="1"/>
          </p:cNvSpPr>
          <p:nvPr/>
        </p:nvSpPr>
        <p:spPr bwMode="auto">
          <a:xfrm>
            <a:off x="8049344" y="1585744"/>
            <a:ext cx="936104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신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간 기능 수치</a:t>
            </a:r>
            <a:endParaRPr lang="en-US" altLang="ko-KR" sz="8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grpSp>
        <p:nvGrpSpPr>
          <p:cNvPr id="2070" name="그룹 2069"/>
          <p:cNvGrpSpPr/>
          <p:nvPr/>
        </p:nvGrpSpPr>
        <p:grpSpPr>
          <a:xfrm>
            <a:off x="1496616" y="4293097"/>
            <a:ext cx="1736010" cy="1008112"/>
            <a:chOff x="1387530" y="4740386"/>
            <a:chExt cx="1836953" cy="1008112"/>
          </a:xfrm>
        </p:grpSpPr>
        <p:sp>
          <p:nvSpPr>
            <p:cNvPr id="174" name="Rectangle 287"/>
            <p:cNvSpPr>
              <a:spLocks noChangeArrowheads="1"/>
            </p:cNvSpPr>
            <p:nvPr/>
          </p:nvSpPr>
          <p:spPr bwMode="auto">
            <a:xfrm>
              <a:off x="1387530" y="4740386"/>
              <a:ext cx="1836953" cy="1008112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727272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7274" tIns="48637" rIns="97274" bIns="48637" rtlCol="0" anchor="ctr"/>
            <a:lstStyle/>
            <a:p>
              <a:pPr algn="ctr" defTabSz="972739" eaLnBrk="0" hangingPunct="0"/>
              <a:endParaRPr kumimoji="1" lang="en-US" altLang="ko-KR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14" name="순서도: 준비 13"/>
            <p:cNvSpPr/>
            <p:nvPr/>
          </p:nvSpPr>
          <p:spPr>
            <a:xfrm>
              <a:off x="1500451" y="4831150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질환</a:t>
              </a:r>
            </a:p>
          </p:txBody>
        </p:sp>
        <p:sp>
          <p:nvSpPr>
            <p:cNvPr id="86" name="순서도: 준비 85"/>
            <p:cNvSpPr/>
            <p:nvPr/>
          </p:nvSpPr>
          <p:spPr>
            <a:xfrm>
              <a:off x="2331452" y="4831150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성별</a:t>
              </a:r>
              <a:r>
                <a:rPr lang="en-US" altLang="ko-KR" sz="700" dirty="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, </a:t>
              </a:r>
              <a:r>
                <a:rPr lang="ko-KR" altLang="en-US" sz="700" dirty="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나이</a:t>
              </a:r>
              <a:endParaRPr lang="ko-KR" altLang="en-US" sz="7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87" name="순서도: 준비 86"/>
            <p:cNvSpPr/>
            <p:nvPr/>
          </p:nvSpPr>
          <p:spPr>
            <a:xfrm>
              <a:off x="1500451" y="5100425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몸무게</a:t>
              </a:r>
              <a:endParaRPr lang="ko-KR" altLang="en-US" sz="7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89" name="순서도: 준비 88"/>
            <p:cNvSpPr/>
            <p:nvPr/>
          </p:nvSpPr>
          <p:spPr>
            <a:xfrm>
              <a:off x="2331452" y="5100425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dirty="0" err="1">
                  <a:latin typeface="Malgun Gothic" charset="-127"/>
                  <a:ea typeface="Malgun Gothic" charset="-127"/>
                  <a:cs typeface="Malgun Gothic" charset="-127"/>
                </a:rPr>
                <a:t>알러지</a:t>
              </a:r>
              <a:endParaRPr lang="ko-KR" altLang="en-US" sz="7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90" name="순서도: 준비 89"/>
            <p:cNvSpPr/>
            <p:nvPr/>
          </p:nvSpPr>
          <p:spPr>
            <a:xfrm>
              <a:off x="1500451" y="5388457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임신여부</a:t>
              </a:r>
              <a:endParaRPr lang="ko-KR" altLang="en-US" sz="7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92" name="순서도: 준비 91"/>
            <p:cNvSpPr/>
            <p:nvPr/>
          </p:nvSpPr>
          <p:spPr>
            <a:xfrm>
              <a:off x="2331452" y="5388457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감염경로</a:t>
              </a:r>
              <a:endParaRPr lang="ko-KR" altLang="en-US" sz="7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93" name="텍스트 상자 193"/>
            <p:cNvSpPr txBox="1"/>
            <p:nvPr/>
          </p:nvSpPr>
          <p:spPr>
            <a:xfrm>
              <a:off x="1500452" y="5578497"/>
              <a:ext cx="792088" cy="97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600" dirty="0" smtClean="0">
                  <a:latin typeface="+mn-ea"/>
                </a:rPr>
                <a:t>Category D, E </a:t>
              </a:r>
              <a:r>
                <a:rPr kumimoji="1" lang="ko-KR" altLang="en-US" sz="600" dirty="0" smtClean="0">
                  <a:latin typeface="+mn-ea"/>
                </a:rPr>
                <a:t>제외</a:t>
              </a:r>
            </a:p>
          </p:txBody>
        </p:sp>
      </p:grpSp>
      <p:cxnSp>
        <p:nvCxnSpPr>
          <p:cNvPr id="108" name="꺾인 연결선[E] 272"/>
          <p:cNvCxnSpPr>
            <a:stCxn id="174" idx="0"/>
            <a:endCxn id="29" idx="2"/>
          </p:cNvCxnSpPr>
          <p:nvPr/>
        </p:nvCxnSpPr>
        <p:spPr bwMode="auto">
          <a:xfrm rot="5400000" flipH="1" flipV="1">
            <a:off x="2052119" y="3885463"/>
            <a:ext cx="720136" cy="9513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순서도: 대체 처리 28"/>
          <p:cNvSpPr/>
          <p:nvPr/>
        </p:nvSpPr>
        <p:spPr>
          <a:xfrm>
            <a:off x="1928664" y="3194784"/>
            <a:ext cx="1062177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2"/>
                </a:solidFill>
                <a:latin typeface="+mn-ea"/>
              </a:rPr>
              <a:t>대상항생제 선정</a:t>
            </a:r>
            <a:endParaRPr lang="en-US" altLang="ko-KR" sz="800" b="1" dirty="0" smtClean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① 선택적 </a:t>
            </a:r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DB </a:t>
            </a:r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활용</a:t>
            </a:r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)</a:t>
            </a:r>
            <a:endParaRPr lang="ko-KR" altLang="en-US" sz="600" b="1" dirty="0" smtClean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134" name="꺾인 연결선[E] 272"/>
          <p:cNvCxnSpPr>
            <a:stCxn id="148" idx="3"/>
            <a:endCxn id="159" idx="2"/>
          </p:cNvCxnSpPr>
          <p:nvPr/>
        </p:nvCxnSpPr>
        <p:spPr bwMode="auto">
          <a:xfrm>
            <a:off x="6416640" y="3611306"/>
            <a:ext cx="235276" cy="141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1" name="직사각형 290"/>
          <p:cNvSpPr/>
          <p:nvPr/>
        </p:nvSpPr>
        <p:spPr>
          <a:xfrm>
            <a:off x="7905328" y="2996952"/>
            <a:ext cx="15299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▶ 소아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18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세 미만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, 30Kg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미만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▶ 신기능저하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소아 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en-US" altLang="ko-KR" sz="700" dirty="0" err="1">
                <a:latin typeface="Malgun Gothic" charset="-127"/>
                <a:ea typeface="Malgun Gothic" charset="-127"/>
                <a:cs typeface="Malgun Gothic" charset="-127"/>
              </a:rPr>
              <a:t>CrCl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&lt;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50, </a:t>
            </a:r>
          </a:p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                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en-US" altLang="ko-KR" sz="700" dirty="0" err="1">
                <a:latin typeface="Malgun Gothic" charset="-127"/>
                <a:ea typeface="Malgun Gothic" charset="-127"/>
                <a:cs typeface="Malgun Gothic" charset="-127"/>
              </a:rPr>
              <a:t>CrCl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&lt;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90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48" name="순서도: 대체 처리 147"/>
          <p:cNvSpPr/>
          <p:nvPr/>
        </p:nvSpPr>
        <p:spPr>
          <a:xfrm>
            <a:off x="5407959" y="3422217"/>
            <a:ext cx="1008681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2"/>
                </a:solidFill>
                <a:latin typeface="+mn-ea"/>
              </a:rPr>
              <a:t>우선순위 적용</a:t>
            </a:r>
          </a:p>
        </p:txBody>
      </p:sp>
      <p:cxnSp>
        <p:nvCxnSpPr>
          <p:cNvPr id="149" name="꺾인 연결선[E] 272"/>
          <p:cNvCxnSpPr>
            <a:stCxn id="29" idx="3"/>
            <a:endCxn id="115" idx="1"/>
          </p:cNvCxnSpPr>
          <p:nvPr/>
        </p:nvCxnSpPr>
        <p:spPr bwMode="auto">
          <a:xfrm flipV="1">
            <a:off x="2990841" y="3382411"/>
            <a:ext cx="738103" cy="146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1" name="직사각형 150"/>
          <p:cNvSpPr/>
          <p:nvPr/>
        </p:nvSpPr>
        <p:spPr>
          <a:xfrm>
            <a:off x="5446464" y="3789040"/>
            <a:ext cx="1810792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0) P, A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구분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1)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항생제 계열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★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2) Mono, Combination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3)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용법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  -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입원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IV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 IM  PO 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기타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   -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외래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: PO  IM  IV 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기타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4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투여주기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5)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알파벳 순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6)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알러지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 항생제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후순위적용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7)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간기능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 관련 항생제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후순위적용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57" name="텍스트 개체 틀 2"/>
          <p:cNvSpPr txBox="1">
            <a:spLocks/>
          </p:cNvSpPr>
          <p:nvPr/>
        </p:nvSpPr>
        <p:spPr>
          <a:xfrm>
            <a:off x="484860" y="668947"/>
            <a:ext cx="8932190" cy="4565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q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dirty="0">
                <a:latin typeface="+mn-ea"/>
              </a:rPr>
              <a:t>OCS</a:t>
            </a:r>
            <a:r>
              <a:rPr kumimoji="1" lang="ko-KR" altLang="en-US" dirty="0" smtClean="0">
                <a:latin typeface="+mn-ea"/>
              </a:rPr>
              <a:t>연계항목</a:t>
            </a:r>
            <a:r>
              <a:rPr kumimoji="1" lang="en-US" altLang="ko-KR" dirty="0" smtClean="0">
                <a:latin typeface="+mn-ea"/>
              </a:rPr>
              <a:t>, </a:t>
            </a:r>
            <a:r>
              <a:rPr kumimoji="1" lang="ko-KR" altLang="en-US" dirty="0" smtClean="0">
                <a:latin typeface="+mn-ea"/>
              </a:rPr>
              <a:t>감수성결과와 </a:t>
            </a:r>
            <a:r>
              <a:rPr kumimoji="1" lang="ko-KR" altLang="en-US" dirty="0">
                <a:latin typeface="+mn-ea"/>
              </a:rPr>
              <a:t>추가 입력 정보를 활용하여 </a:t>
            </a:r>
            <a:r>
              <a:rPr kumimoji="1" lang="ko-KR" altLang="en-US" dirty="0" smtClean="0">
                <a:latin typeface="+mn-ea"/>
              </a:rPr>
              <a:t>선택적 </a:t>
            </a:r>
            <a:r>
              <a:rPr kumimoji="1" lang="ko-KR" altLang="en-US" dirty="0">
                <a:latin typeface="+mn-ea"/>
              </a:rPr>
              <a:t>기반의 항생제를 추천</a:t>
            </a:r>
          </a:p>
        </p:txBody>
      </p:sp>
      <p:sp>
        <p:nvSpPr>
          <p:cNvPr id="159" name="순서도: 자기 디스크 158"/>
          <p:cNvSpPr/>
          <p:nvPr/>
        </p:nvSpPr>
        <p:spPr>
          <a:xfrm>
            <a:off x="6651916" y="3327827"/>
            <a:ext cx="764224" cy="56978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 smtClean="0">
                <a:solidFill>
                  <a:srgbClr val="C00000"/>
                </a:solidFill>
                <a:latin typeface="+mn-ea"/>
              </a:rPr>
              <a:t>추천항생제</a:t>
            </a:r>
            <a:endParaRPr lang="en-US" altLang="ko-KR" sz="900" b="1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en-US" altLang="ko-KR" sz="900" b="1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900" b="1" dirty="0" smtClean="0">
                <a:solidFill>
                  <a:srgbClr val="C00000"/>
                </a:solidFill>
                <a:latin typeface="+mn-ea"/>
              </a:rPr>
              <a:t>후보</a:t>
            </a:r>
            <a:r>
              <a:rPr lang="en-US" altLang="ko-KR" sz="900" b="1" dirty="0" smtClean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900" b="1" dirty="0" smtClean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76" name="순서도: 대체 처리 175"/>
          <p:cNvSpPr/>
          <p:nvPr/>
        </p:nvSpPr>
        <p:spPr>
          <a:xfrm>
            <a:off x="7897635" y="4370905"/>
            <a:ext cx="1182708" cy="352193"/>
          </a:xfrm>
          <a:prstGeom prst="flowChartAlternateProcess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800" kern="0" dirty="0" err="1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단위</a:t>
            </a:r>
            <a:r>
              <a:rPr kumimoji="1" lang="ko-KR" altLang="en-US" sz="800" kern="0" dirty="0" err="1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별</a:t>
            </a:r>
            <a:r>
              <a:rPr kumimoji="1" lang="en-US" altLang="ko-KR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(/kg) 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용량 계산</a:t>
            </a:r>
            <a:endParaRPr kumimoji="1" lang="ko-KR" altLang="en-US" sz="800" kern="0" baseline="3000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71" name="Rectangle 287"/>
          <p:cNvSpPr>
            <a:spLocks noChangeArrowheads="1"/>
          </p:cNvSpPr>
          <p:nvPr/>
        </p:nvSpPr>
        <p:spPr bwMode="auto">
          <a:xfrm>
            <a:off x="7890201" y="3417489"/>
            <a:ext cx="1182708" cy="3897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소아</a:t>
            </a:r>
            <a:r>
              <a:rPr kumimoji="1" lang="en-US" altLang="ko-KR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신장장애</a:t>
            </a:r>
            <a:endParaRPr kumimoji="1" lang="en-US" altLang="ko-KR" sz="800" kern="0" dirty="0" smtClean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 defTabSz="972739" eaLnBrk="0" hangingPunct="0"/>
            <a:r>
              <a:rPr kumimoji="1" lang="en-US" altLang="ko-KR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Dose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로 용량 </a:t>
            </a:r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치환</a:t>
            </a:r>
            <a:endParaRPr kumimoji="1" lang="en-US" altLang="ko-KR" sz="800" kern="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202" name="꺾인 연결선[E] 272"/>
          <p:cNvCxnSpPr>
            <a:stCxn id="159" idx="4"/>
            <a:endCxn id="171" idx="1"/>
          </p:cNvCxnSpPr>
          <p:nvPr/>
        </p:nvCxnSpPr>
        <p:spPr bwMode="auto">
          <a:xfrm flipV="1">
            <a:off x="7416140" y="3612344"/>
            <a:ext cx="474061" cy="37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5" name="꺾인 연결선[E] 272"/>
          <p:cNvCxnSpPr>
            <a:stCxn id="171" idx="2"/>
            <a:endCxn id="176" idx="0"/>
          </p:cNvCxnSpPr>
          <p:nvPr/>
        </p:nvCxnSpPr>
        <p:spPr bwMode="auto">
          <a:xfrm rot="16200000" flipH="1">
            <a:off x="8203419" y="4085335"/>
            <a:ext cx="563706" cy="7434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2" name="꺾인 연결선[E] 272"/>
          <p:cNvCxnSpPr>
            <a:stCxn id="176" idx="2"/>
            <a:endCxn id="168" idx="0"/>
          </p:cNvCxnSpPr>
          <p:nvPr/>
        </p:nvCxnSpPr>
        <p:spPr bwMode="auto">
          <a:xfrm rot="16200000" flipH="1">
            <a:off x="8271940" y="4940147"/>
            <a:ext cx="441533" cy="7434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3" name="순서도: 연결자 232"/>
          <p:cNvSpPr/>
          <p:nvPr/>
        </p:nvSpPr>
        <p:spPr>
          <a:xfrm>
            <a:off x="3836920" y="2380630"/>
            <a:ext cx="396000" cy="36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tx2"/>
                </a:solidFill>
                <a:latin typeface="+mn-ea"/>
              </a:rPr>
              <a:t>추천</a:t>
            </a:r>
            <a:endParaRPr lang="en-US" altLang="ko-KR" sz="6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600" b="1" dirty="0">
                <a:solidFill>
                  <a:schemeClr val="tx2"/>
                </a:solidFill>
                <a:latin typeface="+mn-ea"/>
              </a:rPr>
              <a:t>항생제</a:t>
            </a:r>
            <a:endParaRPr lang="en-US" altLang="ko-KR" sz="6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600" b="1" dirty="0">
                <a:solidFill>
                  <a:schemeClr val="tx2"/>
                </a:solidFill>
                <a:latin typeface="+mn-ea"/>
              </a:rPr>
              <a:t>없음</a:t>
            </a:r>
          </a:p>
        </p:txBody>
      </p:sp>
      <p:cxnSp>
        <p:nvCxnSpPr>
          <p:cNvPr id="234" name="꺾인 연결선[E] 272"/>
          <p:cNvCxnSpPr>
            <a:stCxn id="7" idx="3"/>
            <a:endCxn id="233" idx="2"/>
          </p:cNvCxnSpPr>
          <p:nvPr/>
        </p:nvCxnSpPr>
        <p:spPr bwMode="auto">
          <a:xfrm flipV="1">
            <a:off x="2792760" y="2560630"/>
            <a:ext cx="1044160" cy="3724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7" name="직사각형 236"/>
          <p:cNvSpPr/>
          <p:nvPr/>
        </p:nvSpPr>
        <p:spPr>
          <a:xfrm>
            <a:off x="2792760" y="2391628"/>
            <a:ext cx="1004277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소아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and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S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항생제 없는 경우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239" name="꺾인 연결선[E] 272"/>
          <p:cNvCxnSpPr>
            <a:stCxn id="60" idx="2"/>
            <a:endCxn id="7" idx="0"/>
          </p:cNvCxnSpPr>
          <p:nvPr/>
        </p:nvCxnSpPr>
        <p:spPr bwMode="auto">
          <a:xfrm rot="5400000">
            <a:off x="2066777" y="2000677"/>
            <a:ext cx="419650" cy="26894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0" name="Rectangle 287"/>
          <p:cNvSpPr>
            <a:spLocks noChangeArrowheads="1"/>
          </p:cNvSpPr>
          <p:nvPr/>
        </p:nvSpPr>
        <p:spPr bwMode="auto">
          <a:xfrm>
            <a:off x="1943023" y="1585744"/>
            <a:ext cx="936104" cy="339581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b="1" smtClean="0">
                <a:latin typeface="Malgun Gothic" charset="-127"/>
                <a:ea typeface="Malgun Gothic" charset="-127"/>
                <a:cs typeface="Malgun Gothic" charset="-127"/>
              </a:rPr>
              <a:t>감수성 결과</a:t>
            </a:r>
            <a:endParaRPr lang="en-US" altLang="ko-KR" sz="800" b="1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7" name="순서도: 준비 6"/>
          <p:cNvSpPr/>
          <p:nvPr/>
        </p:nvSpPr>
        <p:spPr>
          <a:xfrm>
            <a:off x="1491496" y="2344975"/>
            <a:ext cx="1301264" cy="438758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800" dirty="0">
                <a:latin typeface="Malgun Gothic" charset="-127"/>
                <a:ea typeface="Malgun Gothic" charset="-127"/>
                <a:cs typeface="Malgun Gothic" charset="-127"/>
              </a:rPr>
              <a:t>S / 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R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endParaRPr lang="en-US" altLang="ko-KR" sz="8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항생제 목록 작성</a:t>
            </a:r>
            <a:endParaRPr lang="en-US" altLang="ko-KR" sz="800" dirty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800" dirty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계열포함 </a:t>
            </a:r>
            <a:r>
              <a:rPr lang="ko-KR" altLang="en-US" sz="800" baseline="30000" dirty="0" smtClean="0">
                <a:latin typeface="Malgun Gothic" charset="-127"/>
                <a:ea typeface="Malgun Gothic" charset="-127"/>
                <a:cs typeface="Malgun Gothic" charset="-127"/>
              </a:rPr>
              <a:t>주</a:t>
            </a:r>
            <a:r>
              <a:rPr lang="en-US" altLang="ko-KR" sz="800" baseline="30000" dirty="0" smtClean="0">
                <a:latin typeface="Malgun Gothic" charset="-127"/>
                <a:ea typeface="Malgun Gothic" charset="-127"/>
                <a:cs typeface="Malgun Gothic" charset="-127"/>
              </a:rPr>
              <a:t>1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ko-KR" altLang="en-US" sz="8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88" name="순서도: 자기 디스크 87"/>
          <p:cNvSpPr/>
          <p:nvPr/>
        </p:nvSpPr>
        <p:spPr>
          <a:xfrm>
            <a:off x="1388564" y="3645024"/>
            <a:ext cx="612108" cy="46474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 smtClean="0">
                <a:solidFill>
                  <a:schemeClr val="tx1"/>
                </a:solidFill>
                <a:latin typeface="+mn-ea"/>
              </a:rPr>
              <a:t>선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</a:rPr>
              <a:t>택</a:t>
            </a:r>
            <a:r>
              <a:rPr lang="ko-KR" altLang="en-US" sz="800" b="1" dirty="0" smtClean="0">
                <a:solidFill>
                  <a:schemeClr val="tx1"/>
                </a:solidFill>
                <a:latin typeface="+mn-ea"/>
              </a:rPr>
              <a:t>적 </a:t>
            </a:r>
            <a:endParaRPr lang="en-US" altLang="ko-KR" sz="8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b="1" dirty="0" smtClean="0">
                <a:solidFill>
                  <a:schemeClr val="tx1"/>
                </a:solidFill>
                <a:latin typeface="+mn-ea"/>
              </a:rPr>
              <a:t>항생제 </a:t>
            </a:r>
            <a:r>
              <a:rPr lang="en-US" altLang="ko-KR" sz="800" b="1" dirty="0" smtClean="0">
                <a:solidFill>
                  <a:schemeClr val="tx1"/>
                </a:solidFill>
                <a:latin typeface="+mn-ea"/>
              </a:rPr>
              <a:t>DB</a:t>
            </a:r>
            <a:endParaRPr lang="ko-KR" altLang="en-US" sz="800" b="1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1" name="꺾인 연결선[E] 272"/>
          <p:cNvCxnSpPr>
            <a:stCxn id="7" idx="2"/>
            <a:endCxn id="29" idx="0"/>
          </p:cNvCxnSpPr>
          <p:nvPr/>
        </p:nvCxnSpPr>
        <p:spPr bwMode="auto">
          <a:xfrm rot="16200000" flipH="1">
            <a:off x="2095415" y="2830445"/>
            <a:ext cx="411051" cy="31762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꺾인 연결선[E] 272"/>
          <p:cNvCxnSpPr>
            <a:stCxn id="88" idx="1"/>
            <a:endCxn id="29" idx="1"/>
          </p:cNvCxnSpPr>
          <p:nvPr/>
        </p:nvCxnSpPr>
        <p:spPr bwMode="auto">
          <a:xfrm rot="5400000" flipH="1" flipV="1">
            <a:off x="1681066" y="3397426"/>
            <a:ext cx="261151" cy="234046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4" name="직사각형 113"/>
          <p:cNvSpPr/>
          <p:nvPr/>
        </p:nvSpPr>
        <p:spPr>
          <a:xfrm>
            <a:off x="1631107" y="2809153"/>
            <a:ext cx="1209409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R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이 아닌 항생제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소아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S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인 항생제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15" name="다이아몬드 114"/>
          <p:cNvSpPr/>
          <p:nvPr/>
        </p:nvSpPr>
        <p:spPr>
          <a:xfrm>
            <a:off x="3728944" y="3140968"/>
            <a:ext cx="864016" cy="482886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추천 항생제</a:t>
            </a:r>
            <a:endParaRPr kumimoji="1" lang="en-US" altLang="ko-KR" sz="700" kern="0" dirty="0" smtClean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존재</a:t>
            </a:r>
            <a:endParaRPr kumimoji="1" lang="ko-KR" altLang="en-US" sz="700" kern="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548130" y="3449898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Y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32" name="순서도: 대체 처리 131"/>
          <p:cNvSpPr/>
          <p:nvPr/>
        </p:nvSpPr>
        <p:spPr>
          <a:xfrm>
            <a:off x="3722160" y="4032622"/>
            <a:ext cx="870800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2"/>
                </a:solidFill>
                <a:latin typeface="+mn-ea"/>
              </a:rPr>
              <a:t>대상항생제 선정</a:t>
            </a:r>
            <a:endParaRPr lang="en-US" altLang="ko-KR" sz="800" b="1" dirty="0" smtClean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② 경험</a:t>
            </a:r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DB</a:t>
            </a:r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활용</a:t>
            </a:r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)</a:t>
            </a:r>
            <a:endParaRPr lang="ko-KR" altLang="en-US" sz="600" b="1" dirty="0" smtClean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3970288" y="3717032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N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135" name="꺾인 연결선[E] 272"/>
          <p:cNvCxnSpPr>
            <a:stCxn id="115" idx="2"/>
            <a:endCxn id="132" idx="0"/>
          </p:cNvCxnSpPr>
          <p:nvPr/>
        </p:nvCxnSpPr>
        <p:spPr bwMode="auto">
          <a:xfrm rot="5400000">
            <a:off x="3954872" y="3826542"/>
            <a:ext cx="408768" cy="339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38" name="순서도: 자기 디스크 137"/>
          <p:cNvSpPr/>
          <p:nvPr/>
        </p:nvSpPr>
        <p:spPr>
          <a:xfrm>
            <a:off x="3080792" y="3682352"/>
            <a:ext cx="612108" cy="39472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 smtClean="0">
                <a:solidFill>
                  <a:schemeClr val="tx1"/>
                </a:solidFill>
                <a:latin typeface="+mn-ea"/>
              </a:rPr>
              <a:t>경</a:t>
            </a:r>
            <a:r>
              <a:rPr lang="ko-KR" altLang="en-US" sz="700" b="1" dirty="0">
                <a:solidFill>
                  <a:schemeClr val="tx1"/>
                </a:solidFill>
                <a:latin typeface="+mn-ea"/>
              </a:rPr>
              <a:t>험</a:t>
            </a:r>
            <a:r>
              <a:rPr lang="ko-KR" altLang="en-US" sz="700" b="1" dirty="0" smtClean="0">
                <a:solidFill>
                  <a:schemeClr val="tx1"/>
                </a:solidFill>
                <a:latin typeface="+mn-ea"/>
              </a:rPr>
              <a:t>적 </a:t>
            </a:r>
            <a:endParaRPr lang="en-US" altLang="ko-KR" sz="7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700" b="1" dirty="0" smtClean="0">
                <a:solidFill>
                  <a:schemeClr val="tx1"/>
                </a:solidFill>
                <a:latin typeface="+mn-ea"/>
              </a:rPr>
              <a:t>항생제 </a:t>
            </a:r>
            <a:r>
              <a:rPr lang="en-US" altLang="ko-KR" sz="700" b="1" dirty="0" smtClean="0">
                <a:solidFill>
                  <a:schemeClr val="tx1"/>
                </a:solidFill>
                <a:latin typeface="+mn-ea"/>
              </a:rPr>
              <a:t>DB</a:t>
            </a:r>
            <a:endParaRPr lang="ko-KR" altLang="en-US" sz="700" b="1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0" name="꺾인 연결선[E] 272"/>
          <p:cNvCxnSpPr>
            <a:stCxn id="138" idx="3"/>
            <a:endCxn id="132" idx="1"/>
          </p:cNvCxnSpPr>
          <p:nvPr/>
        </p:nvCxnSpPr>
        <p:spPr bwMode="auto">
          <a:xfrm rot="16200000" flipH="1">
            <a:off x="3482184" y="3981734"/>
            <a:ext cx="144639" cy="335314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178" name="꺾인 연결선[E] 272"/>
          <p:cNvCxnSpPr>
            <a:stCxn id="174" idx="3"/>
            <a:endCxn id="132" idx="1"/>
          </p:cNvCxnSpPr>
          <p:nvPr/>
        </p:nvCxnSpPr>
        <p:spPr bwMode="auto">
          <a:xfrm flipV="1">
            <a:off x="3232626" y="4221711"/>
            <a:ext cx="489534" cy="575442"/>
          </a:xfrm>
          <a:prstGeom prst="bentConnector3">
            <a:avLst>
              <a:gd name="adj1" fmla="val 27948"/>
            </a:avLst>
          </a:prstGeom>
          <a:solidFill>
            <a:schemeClr val="bg1"/>
          </a:solidFill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grpSp>
        <p:nvGrpSpPr>
          <p:cNvPr id="69" name="그룹 68"/>
          <p:cNvGrpSpPr/>
          <p:nvPr/>
        </p:nvGrpSpPr>
        <p:grpSpPr>
          <a:xfrm>
            <a:off x="1280592" y="2563872"/>
            <a:ext cx="2441569" cy="2881352"/>
            <a:chOff x="1280592" y="2563872"/>
            <a:chExt cx="2441569" cy="3092109"/>
          </a:xfrm>
        </p:grpSpPr>
        <p:cxnSp>
          <p:nvCxnSpPr>
            <p:cNvPr id="310" name="직선 연결선 309"/>
            <p:cNvCxnSpPr>
              <a:stCxn id="7" idx="1"/>
            </p:cNvCxnSpPr>
            <p:nvPr/>
          </p:nvCxnSpPr>
          <p:spPr>
            <a:xfrm flipH="1" flipV="1">
              <a:off x="1280592" y="2563872"/>
              <a:ext cx="210904" cy="48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6" name="직선 연결선 205"/>
            <p:cNvCxnSpPr/>
            <p:nvPr/>
          </p:nvCxnSpPr>
          <p:spPr>
            <a:xfrm flipV="1">
              <a:off x="1280592" y="2567061"/>
              <a:ext cx="0" cy="308892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0" name="직선 연결선 209"/>
            <p:cNvCxnSpPr/>
            <p:nvPr/>
          </p:nvCxnSpPr>
          <p:spPr>
            <a:xfrm>
              <a:off x="1280592" y="5655981"/>
              <a:ext cx="2160240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직선 연결선 212"/>
            <p:cNvCxnSpPr/>
            <p:nvPr/>
          </p:nvCxnSpPr>
          <p:spPr>
            <a:xfrm>
              <a:off x="3440832" y="4437112"/>
              <a:ext cx="0" cy="1218869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8" name="직선 연결선 217"/>
            <p:cNvCxnSpPr/>
            <p:nvPr/>
          </p:nvCxnSpPr>
          <p:spPr>
            <a:xfrm>
              <a:off x="3440832" y="4437112"/>
              <a:ext cx="281329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56" name="다이아몬드 255"/>
          <p:cNvSpPr/>
          <p:nvPr/>
        </p:nvSpPr>
        <p:spPr>
          <a:xfrm>
            <a:off x="3728944" y="4653136"/>
            <a:ext cx="864016" cy="482886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추천 항생제</a:t>
            </a:r>
            <a:endParaRPr kumimoji="1" lang="en-US" altLang="ko-KR" sz="700" kern="0" dirty="0" smtClean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존재</a:t>
            </a:r>
            <a:endParaRPr kumimoji="1" lang="ko-KR" altLang="en-US" sz="700" kern="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257" name="순서도: 대체 처리 256"/>
          <p:cNvSpPr/>
          <p:nvPr/>
        </p:nvSpPr>
        <p:spPr>
          <a:xfrm>
            <a:off x="3722159" y="5373216"/>
            <a:ext cx="870802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2"/>
                </a:solidFill>
                <a:latin typeface="+mn-ea"/>
              </a:rPr>
              <a:t>대상항생제 선정</a:t>
            </a:r>
            <a:endParaRPr lang="en-US" altLang="ko-KR" sz="800" b="1" dirty="0" smtClean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③ 감수성 결과</a:t>
            </a:r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)</a:t>
            </a:r>
            <a:endParaRPr lang="ko-KR" altLang="en-US" sz="6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3970288" y="5157192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N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259" name="꺾인 연결선[E] 272"/>
          <p:cNvCxnSpPr>
            <a:stCxn id="256" idx="2"/>
            <a:endCxn id="257" idx="0"/>
          </p:cNvCxnSpPr>
          <p:nvPr/>
        </p:nvCxnSpPr>
        <p:spPr bwMode="auto">
          <a:xfrm rot="5400000">
            <a:off x="4040659" y="5252923"/>
            <a:ext cx="237194" cy="339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60" name="꺾인 연결선[E] 272"/>
          <p:cNvCxnSpPr>
            <a:stCxn id="132" idx="2"/>
            <a:endCxn id="256" idx="0"/>
          </p:cNvCxnSpPr>
          <p:nvPr/>
        </p:nvCxnSpPr>
        <p:spPr bwMode="auto">
          <a:xfrm rot="16200000" flipH="1">
            <a:off x="4038088" y="4530271"/>
            <a:ext cx="242337" cy="339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61" name="꺾인 연결선[E] 272"/>
          <p:cNvCxnSpPr>
            <a:stCxn id="256" idx="3"/>
            <a:endCxn id="148" idx="1"/>
          </p:cNvCxnSpPr>
          <p:nvPr/>
        </p:nvCxnSpPr>
        <p:spPr bwMode="auto">
          <a:xfrm flipV="1">
            <a:off x="4592960" y="3611306"/>
            <a:ext cx="814999" cy="1283273"/>
          </a:xfrm>
          <a:prstGeom prst="bentConnector3">
            <a:avLst>
              <a:gd name="adj1" fmla="val 39966"/>
            </a:avLst>
          </a:prstGeom>
          <a:solidFill>
            <a:schemeClr val="bg1"/>
          </a:solidFill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262" name="직사각형 261"/>
          <p:cNvSpPr/>
          <p:nvPr/>
        </p:nvSpPr>
        <p:spPr>
          <a:xfrm>
            <a:off x="4548130" y="4728956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Y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263" name="순서도: 자기 디스크 262"/>
          <p:cNvSpPr/>
          <p:nvPr/>
        </p:nvSpPr>
        <p:spPr>
          <a:xfrm>
            <a:off x="2648744" y="5805264"/>
            <a:ext cx="612108" cy="39472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  <a:latin typeface="+mn-ea"/>
              </a:rPr>
              <a:t>General Dose</a:t>
            </a: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+mn-ea"/>
              </a:rPr>
              <a:t>항생제 </a:t>
            </a:r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DB</a:t>
            </a:r>
            <a:endParaRPr lang="ko-KR" altLang="en-US" sz="700" b="1" dirty="0" smtClean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74" name="그룹 273"/>
          <p:cNvGrpSpPr/>
          <p:nvPr/>
        </p:nvGrpSpPr>
        <p:grpSpPr>
          <a:xfrm>
            <a:off x="1208584" y="2563872"/>
            <a:ext cx="2513577" cy="3097376"/>
            <a:chOff x="1280592" y="2563872"/>
            <a:chExt cx="2442175" cy="3169384"/>
          </a:xfrm>
        </p:grpSpPr>
        <p:cxnSp>
          <p:nvCxnSpPr>
            <p:cNvPr id="275" name="직선 연결선 274"/>
            <p:cNvCxnSpPr/>
            <p:nvPr/>
          </p:nvCxnSpPr>
          <p:spPr>
            <a:xfrm flipH="1" flipV="1">
              <a:off x="1280592" y="2563872"/>
              <a:ext cx="210904" cy="48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6" name="직선 연결선 275"/>
            <p:cNvCxnSpPr/>
            <p:nvPr/>
          </p:nvCxnSpPr>
          <p:spPr>
            <a:xfrm flipV="1">
              <a:off x="1280592" y="2567060"/>
              <a:ext cx="0" cy="3166196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" name="직선 연결선 276"/>
            <p:cNvCxnSpPr/>
            <p:nvPr/>
          </p:nvCxnSpPr>
          <p:spPr>
            <a:xfrm>
              <a:off x="1280592" y="5733256"/>
              <a:ext cx="2442175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284" name="꺾인 연결선[E] 272"/>
          <p:cNvCxnSpPr>
            <a:stCxn id="263" idx="4"/>
          </p:cNvCxnSpPr>
          <p:nvPr/>
        </p:nvCxnSpPr>
        <p:spPr bwMode="auto">
          <a:xfrm flipV="1">
            <a:off x="3260852" y="5661248"/>
            <a:ext cx="468092" cy="341376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322" name="꺾인 연결선[E] 272"/>
          <p:cNvCxnSpPr>
            <a:stCxn id="90" idx="2"/>
            <a:endCxn id="257" idx="1"/>
          </p:cNvCxnSpPr>
          <p:nvPr/>
        </p:nvCxnSpPr>
        <p:spPr bwMode="auto">
          <a:xfrm rot="16200000" flipH="1">
            <a:off x="2637310" y="4477455"/>
            <a:ext cx="425153" cy="1744546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328" name="다이아몬드 327"/>
          <p:cNvSpPr/>
          <p:nvPr/>
        </p:nvSpPr>
        <p:spPr>
          <a:xfrm>
            <a:off x="3728944" y="5926791"/>
            <a:ext cx="864016" cy="350779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추천 항생제</a:t>
            </a:r>
            <a:endParaRPr kumimoji="1" lang="en-US" altLang="ko-KR" sz="700" kern="0" dirty="0" smtClean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존재</a:t>
            </a:r>
            <a:endParaRPr kumimoji="1" lang="ko-KR" altLang="en-US" sz="700" kern="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329" name="꺾인 연결선[E] 272"/>
          <p:cNvCxnSpPr>
            <a:stCxn id="257" idx="2"/>
            <a:endCxn id="328" idx="0"/>
          </p:cNvCxnSpPr>
          <p:nvPr/>
        </p:nvCxnSpPr>
        <p:spPr bwMode="auto">
          <a:xfrm rot="16200000" flipH="1">
            <a:off x="4071557" y="5837396"/>
            <a:ext cx="175398" cy="339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332" name="직사각형 331"/>
          <p:cNvSpPr/>
          <p:nvPr/>
        </p:nvSpPr>
        <p:spPr>
          <a:xfrm>
            <a:off x="4620138" y="5893241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Y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333" name="순서도: 연결자 332"/>
          <p:cNvSpPr/>
          <p:nvPr/>
        </p:nvSpPr>
        <p:spPr>
          <a:xfrm>
            <a:off x="5061056" y="5949280"/>
            <a:ext cx="396000" cy="36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추천</a:t>
            </a:r>
            <a:endParaRPr lang="en-US" altLang="ko-KR" sz="600" b="1" dirty="0" smtClean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항생제</a:t>
            </a:r>
            <a:endParaRPr lang="en-US" altLang="ko-KR" sz="600" b="1" dirty="0" smtClean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없음</a:t>
            </a:r>
            <a:endParaRPr lang="ko-KR" altLang="en-US" sz="600" b="1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334" name="꺾인 연결선[E] 272"/>
          <p:cNvCxnSpPr>
            <a:stCxn id="328" idx="2"/>
            <a:endCxn id="333" idx="3"/>
          </p:cNvCxnSpPr>
          <p:nvPr/>
        </p:nvCxnSpPr>
        <p:spPr bwMode="auto">
          <a:xfrm rot="5400000" flipH="1" flipV="1">
            <a:off x="4629494" y="5788016"/>
            <a:ext cx="21011" cy="958097"/>
          </a:xfrm>
          <a:prstGeom prst="bentConnector3">
            <a:avLst>
              <a:gd name="adj1" fmla="val -543810"/>
            </a:avLst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338" name="직사각형 337"/>
          <p:cNvSpPr/>
          <p:nvPr/>
        </p:nvSpPr>
        <p:spPr>
          <a:xfrm>
            <a:off x="4578828" y="6237312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N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grpSp>
        <p:nvGrpSpPr>
          <p:cNvPr id="349" name="그룹 348"/>
          <p:cNvGrpSpPr/>
          <p:nvPr/>
        </p:nvGrpSpPr>
        <p:grpSpPr>
          <a:xfrm>
            <a:off x="4592960" y="3710090"/>
            <a:ext cx="814999" cy="2383205"/>
            <a:chOff x="3163619" y="5722505"/>
            <a:chExt cx="559148" cy="1895274"/>
          </a:xfrm>
        </p:grpSpPr>
        <p:cxnSp>
          <p:nvCxnSpPr>
            <p:cNvPr id="350" name="직선 연결선 349"/>
            <p:cNvCxnSpPr>
              <a:endCxn id="257" idx="3"/>
            </p:cNvCxnSpPr>
            <p:nvPr/>
          </p:nvCxnSpPr>
          <p:spPr>
            <a:xfrm flipH="1">
              <a:off x="3163619" y="7617778"/>
              <a:ext cx="279851" cy="1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1" name="직선 연결선 350"/>
            <p:cNvCxnSpPr/>
            <p:nvPr/>
          </p:nvCxnSpPr>
          <p:spPr>
            <a:xfrm flipV="1">
              <a:off x="3443193" y="5722505"/>
              <a:ext cx="0" cy="1895274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2" name="직선 연결선 351"/>
            <p:cNvCxnSpPr/>
            <p:nvPr/>
          </p:nvCxnSpPr>
          <p:spPr>
            <a:xfrm>
              <a:off x="3443193" y="5729608"/>
              <a:ext cx="279574" cy="3648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53" name="그룹 352"/>
          <p:cNvGrpSpPr/>
          <p:nvPr/>
        </p:nvGrpSpPr>
        <p:grpSpPr>
          <a:xfrm>
            <a:off x="4586926" y="3390788"/>
            <a:ext cx="814999" cy="117962"/>
            <a:chOff x="3163619" y="5612549"/>
            <a:chExt cx="559148" cy="120707"/>
          </a:xfrm>
        </p:grpSpPr>
        <p:cxnSp>
          <p:nvCxnSpPr>
            <p:cNvPr id="354" name="직선 연결선 353"/>
            <p:cNvCxnSpPr/>
            <p:nvPr/>
          </p:nvCxnSpPr>
          <p:spPr>
            <a:xfrm flipH="1">
              <a:off x="3163619" y="5612549"/>
              <a:ext cx="279851" cy="1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5" name="직선 연결선 354"/>
            <p:cNvCxnSpPr/>
            <p:nvPr/>
          </p:nvCxnSpPr>
          <p:spPr>
            <a:xfrm flipV="1">
              <a:off x="3443193" y="5612549"/>
              <a:ext cx="0" cy="117059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6" name="직선 연결선 355"/>
            <p:cNvCxnSpPr/>
            <p:nvPr/>
          </p:nvCxnSpPr>
          <p:spPr>
            <a:xfrm>
              <a:off x="3443193" y="5729608"/>
              <a:ext cx="279574" cy="3648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50" name="그룹 149"/>
          <p:cNvGrpSpPr/>
          <p:nvPr/>
        </p:nvGrpSpPr>
        <p:grpSpPr>
          <a:xfrm>
            <a:off x="7791374" y="5164631"/>
            <a:ext cx="1410098" cy="907557"/>
            <a:chOff x="7791374" y="5164631"/>
            <a:chExt cx="1410098" cy="907557"/>
          </a:xfrm>
        </p:grpSpPr>
        <p:grpSp>
          <p:nvGrpSpPr>
            <p:cNvPr id="173" name="그룹 172"/>
            <p:cNvGrpSpPr/>
            <p:nvPr/>
          </p:nvGrpSpPr>
          <p:grpSpPr>
            <a:xfrm>
              <a:off x="7791374" y="5164631"/>
              <a:ext cx="1410098" cy="907557"/>
              <a:chOff x="6457552" y="4745227"/>
              <a:chExt cx="1410098" cy="907557"/>
            </a:xfrm>
          </p:grpSpPr>
          <p:sp>
            <p:nvSpPr>
              <p:cNvPr id="168" name="직사각형 167"/>
              <p:cNvSpPr/>
              <p:nvPr/>
            </p:nvSpPr>
            <p:spPr>
              <a:xfrm>
                <a:off x="6457552" y="4745227"/>
                <a:ext cx="1410098" cy="148079"/>
              </a:xfrm>
              <a:prstGeom prst="rect">
                <a:avLst/>
              </a:prstGeom>
              <a:solidFill>
                <a:srgbClr val="FF9933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smtClean="0">
                    <a:solidFill>
                      <a:schemeClr val="bg1"/>
                    </a:solidFill>
                    <a:latin typeface="+mn-ea"/>
                  </a:rPr>
                  <a:t>3A </a:t>
                </a:r>
                <a:r>
                  <a:rPr lang="ko-KR" altLang="en-US" sz="800" b="1" dirty="0" smtClean="0">
                    <a:solidFill>
                      <a:schemeClr val="bg1"/>
                    </a:solidFill>
                    <a:latin typeface="+mn-ea"/>
                  </a:rPr>
                  <a:t>화면</a:t>
                </a:r>
              </a:p>
            </p:txBody>
          </p:sp>
          <p:sp>
            <p:nvSpPr>
              <p:cNvPr id="217" name="직사각형 216"/>
              <p:cNvSpPr/>
              <p:nvPr/>
            </p:nvSpPr>
            <p:spPr>
              <a:xfrm>
                <a:off x="6457552" y="4897657"/>
                <a:ext cx="1410098" cy="755127"/>
              </a:xfrm>
              <a:prstGeom prst="rect">
                <a:avLst/>
              </a:prstGeom>
              <a:solidFill>
                <a:srgbClr val="FF9933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b="1" dirty="0" smtClean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536"/>
            <a:stretch/>
          </p:blipFill>
          <p:spPr bwMode="auto">
            <a:xfrm>
              <a:off x="7803356" y="5334047"/>
              <a:ext cx="1388269" cy="725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3894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287"/>
          <p:cNvSpPr>
            <a:spLocks noChangeArrowheads="1"/>
          </p:cNvSpPr>
          <p:nvPr/>
        </p:nvSpPr>
        <p:spPr bwMode="auto">
          <a:xfrm>
            <a:off x="1352600" y="1585744"/>
            <a:ext cx="446407" cy="339581"/>
          </a:xfrm>
          <a:prstGeom prst="rect">
            <a:avLst/>
          </a:prstGeom>
          <a:solidFill>
            <a:srgbClr val="FFFFCC"/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Malgun Gothic" charset="-127"/>
                <a:ea typeface="Malgun Gothic" charset="-127"/>
                <a:cs typeface="Malgun Gothic" charset="-127"/>
              </a:rPr>
              <a:t>질환명</a:t>
            </a:r>
            <a:endParaRPr lang="en-US" altLang="ko-KR" sz="8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47" name="Rectangle 287"/>
          <p:cNvSpPr>
            <a:spLocks noChangeArrowheads="1"/>
          </p:cNvSpPr>
          <p:nvPr/>
        </p:nvSpPr>
        <p:spPr bwMode="auto">
          <a:xfrm>
            <a:off x="4124989" y="1585744"/>
            <a:ext cx="1074235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투석여부</a:t>
            </a:r>
            <a:endParaRPr lang="en-US" altLang="ko-KR" sz="8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(HD, CAPD, CAVH) 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304" name="제목 30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kern="0" dirty="0">
                <a:latin typeface="Malgun Gothic" charset="-127"/>
                <a:ea typeface="Malgun Gothic" charset="-127"/>
                <a:cs typeface="Malgun Gothic" charset="-127"/>
              </a:rPr>
              <a:t>3A</a:t>
            </a:r>
            <a:r>
              <a:rPr lang="ko-KR" altLang="en-US" kern="0" dirty="0">
                <a:latin typeface="Malgun Gothic" charset="-127"/>
                <a:ea typeface="Malgun Gothic" charset="-127"/>
                <a:cs typeface="Malgun Gothic" charset="-127"/>
              </a:rPr>
              <a:t> 경험적 </a:t>
            </a:r>
            <a:r>
              <a:rPr lang="ko-KR" altLang="en-US" dirty="0">
                <a:latin typeface="Malgun Gothic" charset="-127"/>
                <a:ea typeface="Malgun Gothic" charset="-127"/>
                <a:cs typeface="Malgun Gothic" charset="-127"/>
              </a:rPr>
              <a:t>항생제 </a:t>
            </a:r>
            <a:r>
              <a:rPr lang="ko-KR" altLang="en-US" kern="0" dirty="0">
                <a:latin typeface="Malgun Gothic" charset="-127"/>
                <a:ea typeface="Malgun Gothic" charset="-127"/>
                <a:cs typeface="Malgun Gothic" charset="-127"/>
              </a:rPr>
              <a:t>추천 </a:t>
            </a:r>
            <a:r>
              <a:rPr lang="en-US" altLang="ko-KR" kern="0" dirty="0">
                <a:latin typeface="Malgun Gothic" charset="-127"/>
                <a:ea typeface="Malgun Gothic" charset="-127"/>
                <a:cs typeface="Malgun Gothic" charset="-127"/>
              </a:rPr>
              <a:t>Flow</a:t>
            </a:r>
            <a:endParaRPr lang="ko-KR" altLang="en-US" dirty="0"/>
          </a:p>
        </p:txBody>
      </p:sp>
      <p:sp>
        <p:nvSpPr>
          <p:cNvPr id="94" name="Rectangle 287"/>
          <p:cNvSpPr>
            <a:spLocks noChangeArrowheads="1"/>
          </p:cNvSpPr>
          <p:nvPr/>
        </p:nvSpPr>
        <p:spPr bwMode="auto">
          <a:xfrm>
            <a:off x="1928567" y="1585744"/>
            <a:ext cx="2066862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환자 기본정보</a:t>
            </a:r>
            <a:endParaRPr lang="en-US" altLang="ko-KR" sz="8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성별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나이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키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몸무게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알러지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임신여부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59" name="Rectangle 287"/>
          <p:cNvSpPr>
            <a:spLocks noChangeArrowheads="1"/>
          </p:cNvSpPr>
          <p:nvPr/>
        </p:nvSpPr>
        <p:spPr bwMode="auto">
          <a:xfrm>
            <a:off x="1136576" y="6453336"/>
            <a:ext cx="8280474" cy="3392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t"/>
          <a:lstStyle/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주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1)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지역사회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= “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외래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”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이며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16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개 질환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.      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타기관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원내감염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= “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입원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”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이며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16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개 질환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.       ICU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는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2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개 질환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이 추천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항생제를 달리하고 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있음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 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대상 질환 목록은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“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참고자료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1.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발병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정보별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적용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질환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”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 참고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61" name="Rectangle 287"/>
          <p:cNvSpPr>
            <a:spLocks noChangeArrowheads="1"/>
          </p:cNvSpPr>
          <p:nvPr/>
        </p:nvSpPr>
        <p:spPr bwMode="auto">
          <a:xfrm>
            <a:off x="5328784" y="1585744"/>
            <a:ext cx="1510880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감염경로 </a:t>
            </a:r>
            <a:r>
              <a:rPr lang="en-US" altLang="ko-KR" sz="800" baseline="30000" dirty="0" smtClean="0">
                <a:latin typeface="Malgun Gothic" charset="-127"/>
                <a:ea typeface="Malgun Gothic" charset="-127"/>
                <a:cs typeface="Malgun Gothic" charset="-127"/>
              </a:rPr>
              <a:t>1) (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발병정보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en-US" altLang="ko-KR" sz="800" baseline="300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지역사회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타기관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원내감염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ICU)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484860" y="1340768"/>
            <a:ext cx="8932190" cy="5112568"/>
            <a:chOff x="484860" y="1340768"/>
            <a:chExt cx="8932190" cy="5112568"/>
          </a:xfrm>
        </p:grpSpPr>
        <p:cxnSp>
          <p:nvCxnSpPr>
            <p:cNvPr id="306" name="직선 연결선[R] 305"/>
            <p:cNvCxnSpPr/>
            <p:nvPr/>
          </p:nvCxnSpPr>
          <p:spPr bwMode="auto">
            <a:xfrm>
              <a:off x="501650" y="2134304"/>
              <a:ext cx="8915400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1" name="텍스트 상자 80"/>
            <p:cNvSpPr txBox="1"/>
            <p:nvPr/>
          </p:nvSpPr>
          <p:spPr>
            <a:xfrm>
              <a:off x="484862" y="1556792"/>
              <a:ext cx="651714" cy="386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200" b="1" dirty="0" smtClean="0">
                  <a:latin typeface="+mn-ea"/>
                </a:rPr>
                <a:t>Input</a:t>
              </a:r>
            </a:p>
            <a:p>
              <a:pPr algn="ctr"/>
              <a:r>
                <a:rPr kumimoji="1" lang="en-US" altLang="ko-KR" sz="1200" b="1" dirty="0" smtClean="0">
                  <a:latin typeface="+mn-ea"/>
                </a:rPr>
                <a:t>Data</a:t>
              </a:r>
              <a:endParaRPr kumimoji="1" lang="ko-KR" altLang="en-US" sz="1200" b="1" dirty="0" smtClean="0">
                <a:latin typeface="+mn-ea"/>
                <a:ea typeface="+mn-ea"/>
              </a:endParaRPr>
            </a:p>
          </p:txBody>
        </p:sp>
        <p:cxnSp>
          <p:nvCxnSpPr>
            <p:cNvPr id="57" name="직선 연결선[R] 69"/>
            <p:cNvCxnSpPr/>
            <p:nvPr/>
          </p:nvCxnSpPr>
          <p:spPr bwMode="auto">
            <a:xfrm>
              <a:off x="1136576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2" name="텍스트 상자 276"/>
            <p:cNvSpPr txBox="1"/>
            <p:nvPr/>
          </p:nvSpPr>
          <p:spPr>
            <a:xfrm>
              <a:off x="484862" y="4028007"/>
              <a:ext cx="651714" cy="386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ko-KR" altLang="en-US" sz="1200" b="1" dirty="0" smtClean="0">
                  <a:latin typeface="+mn-ea"/>
                </a:rPr>
                <a:t>경험적</a:t>
              </a:r>
              <a:endParaRPr kumimoji="1" lang="en-US" altLang="ko-KR" sz="1200" b="1" dirty="0" smtClean="0">
                <a:latin typeface="+mn-ea"/>
              </a:endParaRPr>
            </a:p>
            <a:p>
              <a:pPr algn="ctr"/>
              <a:r>
                <a:rPr kumimoji="1" lang="ko-KR" altLang="en-US" sz="1200" b="1" dirty="0" smtClean="0">
                  <a:latin typeface="+mn-ea"/>
                </a:rPr>
                <a:t>추천</a:t>
              </a:r>
              <a:endParaRPr kumimoji="1" lang="en-US" altLang="ko-KR" sz="1200" b="1" dirty="0" smtClean="0">
                <a:latin typeface="+mn-ea"/>
              </a:endParaRPr>
            </a:p>
          </p:txBody>
        </p:sp>
        <p:cxnSp>
          <p:nvCxnSpPr>
            <p:cNvPr id="63" name="직선 연결선[R] 69"/>
            <p:cNvCxnSpPr/>
            <p:nvPr/>
          </p:nvCxnSpPr>
          <p:spPr bwMode="auto">
            <a:xfrm>
              <a:off x="484860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직선 연결선[R] 305"/>
            <p:cNvCxnSpPr/>
            <p:nvPr/>
          </p:nvCxnSpPr>
          <p:spPr bwMode="auto">
            <a:xfrm>
              <a:off x="501650" y="1340768"/>
              <a:ext cx="8915400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직선 연결선[R] 305"/>
            <p:cNvCxnSpPr/>
            <p:nvPr/>
          </p:nvCxnSpPr>
          <p:spPr bwMode="auto">
            <a:xfrm>
              <a:off x="501650" y="6452666"/>
              <a:ext cx="8915400" cy="52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직선 연결선[R] 69"/>
            <p:cNvCxnSpPr/>
            <p:nvPr/>
          </p:nvCxnSpPr>
          <p:spPr bwMode="auto">
            <a:xfrm>
              <a:off x="9417050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2" name="직선 연결선[R] 69"/>
            <p:cNvCxnSpPr/>
            <p:nvPr/>
          </p:nvCxnSpPr>
          <p:spPr bwMode="auto">
            <a:xfrm>
              <a:off x="3746886" y="2134304"/>
              <a:ext cx="0" cy="431903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4" name="직선 연결선[R] 69"/>
            <p:cNvCxnSpPr/>
            <p:nvPr/>
          </p:nvCxnSpPr>
          <p:spPr bwMode="auto">
            <a:xfrm>
              <a:off x="7112338" y="2134304"/>
              <a:ext cx="0" cy="431903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4" name="Rectangle 287"/>
          <p:cNvSpPr>
            <a:spLocks noChangeArrowheads="1"/>
          </p:cNvSpPr>
          <p:nvPr/>
        </p:nvSpPr>
        <p:spPr bwMode="auto">
          <a:xfrm>
            <a:off x="6969224" y="1585744"/>
            <a:ext cx="936104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신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간 기능 수치</a:t>
            </a:r>
            <a:endParaRPr lang="en-US" altLang="ko-KR" sz="8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4" name="순서도: 준비 13"/>
          <p:cNvSpPr/>
          <p:nvPr/>
        </p:nvSpPr>
        <p:spPr>
          <a:xfrm>
            <a:off x="1424608" y="4190955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질환</a:t>
            </a:r>
          </a:p>
        </p:txBody>
      </p:sp>
      <p:sp>
        <p:nvSpPr>
          <p:cNvPr id="86" name="순서도: 준비 85"/>
          <p:cNvSpPr/>
          <p:nvPr/>
        </p:nvSpPr>
        <p:spPr>
          <a:xfrm>
            <a:off x="1424608" y="4563649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성별</a:t>
            </a:r>
            <a:endParaRPr lang="ko-KR" altLang="en-US" sz="800" dirty="0">
              <a:solidFill>
                <a:schemeClr val="tx1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87" name="순서도: 준비 86"/>
          <p:cNvSpPr/>
          <p:nvPr/>
        </p:nvSpPr>
        <p:spPr>
          <a:xfrm>
            <a:off x="1424608" y="4936343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알러지</a:t>
            </a:r>
            <a:endParaRPr lang="ko-KR" altLang="en-US" sz="800" dirty="0">
              <a:solidFill>
                <a:schemeClr val="tx1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89" name="순서도: 준비 88"/>
          <p:cNvSpPr/>
          <p:nvPr/>
        </p:nvSpPr>
        <p:spPr>
          <a:xfrm>
            <a:off x="1424608" y="5309037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몸무게</a:t>
            </a:r>
            <a:endParaRPr lang="ko-KR" altLang="en-US" sz="800" dirty="0">
              <a:solidFill>
                <a:schemeClr val="tx1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90" name="순서도: 준비 89"/>
          <p:cNvSpPr/>
          <p:nvPr/>
        </p:nvSpPr>
        <p:spPr>
          <a:xfrm>
            <a:off x="1424608" y="5681731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임신여부</a:t>
            </a:r>
            <a:endParaRPr lang="ko-KR" altLang="en-US" sz="800" dirty="0">
              <a:solidFill>
                <a:schemeClr val="tx1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92" name="순서도: 준비 91"/>
          <p:cNvSpPr/>
          <p:nvPr/>
        </p:nvSpPr>
        <p:spPr>
          <a:xfrm>
            <a:off x="1424608" y="6054423"/>
            <a:ext cx="792088" cy="195984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rPr>
              <a:t>감염경로</a:t>
            </a:r>
            <a:endParaRPr lang="ko-KR" altLang="en-US" sz="800" dirty="0">
              <a:solidFill>
                <a:schemeClr val="tx1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93" name="텍스트 상자 193"/>
          <p:cNvSpPr txBox="1"/>
          <p:nvPr/>
        </p:nvSpPr>
        <p:spPr>
          <a:xfrm>
            <a:off x="1568624" y="5847139"/>
            <a:ext cx="1004277" cy="19598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algn="ctr"/>
            <a:r>
              <a:rPr kumimoji="1" lang="en-US" altLang="ko-KR" sz="700" dirty="0" smtClean="0">
                <a:latin typeface="+mn-ea"/>
              </a:rPr>
              <a:t>Category D, E </a:t>
            </a:r>
            <a:r>
              <a:rPr kumimoji="1" lang="ko-KR" altLang="en-US" sz="700" dirty="0" smtClean="0">
                <a:latin typeface="+mn-ea"/>
              </a:rPr>
              <a:t>제외</a:t>
            </a:r>
          </a:p>
        </p:txBody>
      </p:sp>
      <p:sp>
        <p:nvSpPr>
          <p:cNvPr id="95" name="순서도: 자기 디스크 94"/>
          <p:cNvSpPr/>
          <p:nvPr/>
        </p:nvSpPr>
        <p:spPr>
          <a:xfrm>
            <a:off x="1336262" y="3208290"/>
            <a:ext cx="720160" cy="46474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 smtClean="0">
                <a:solidFill>
                  <a:schemeClr val="tx1"/>
                </a:solidFill>
                <a:latin typeface="+mn-ea"/>
              </a:rPr>
              <a:t>경험적 </a:t>
            </a:r>
            <a:endParaRPr lang="en-US" altLang="ko-KR" sz="8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b="1" dirty="0" smtClean="0">
                <a:solidFill>
                  <a:schemeClr val="tx1"/>
                </a:solidFill>
                <a:latin typeface="+mn-ea"/>
              </a:rPr>
              <a:t>항생제 </a:t>
            </a:r>
            <a:r>
              <a:rPr lang="en-US" altLang="ko-KR" sz="800" b="1" dirty="0" smtClean="0">
                <a:solidFill>
                  <a:schemeClr val="tx1"/>
                </a:solidFill>
                <a:latin typeface="+mn-ea"/>
              </a:rPr>
              <a:t>DB</a:t>
            </a:r>
            <a:endParaRPr lang="ko-KR" altLang="en-US" sz="800" b="1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9" name="꺾인 연결선[E] 272"/>
          <p:cNvCxnSpPr>
            <a:stCxn id="14" idx="3"/>
            <a:endCxn id="29" idx="2"/>
          </p:cNvCxnSpPr>
          <p:nvPr/>
        </p:nvCxnSpPr>
        <p:spPr bwMode="auto">
          <a:xfrm flipV="1">
            <a:off x="2216696" y="4006766"/>
            <a:ext cx="576104" cy="282181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1" name="꺾인 연결선[E] 272"/>
          <p:cNvCxnSpPr>
            <a:stCxn id="86" idx="3"/>
            <a:endCxn id="29" idx="2"/>
          </p:cNvCxnSpPr>
          <p:nvPr/>
        </p:nvCxnSpPr>
        <p:spPr bwMode="auto">
          <a:xfrm flipV="1">
            <a:off x="2216696" y="4006766"/>
            <a:ext cx="576104" cy="654875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꺾인 연결선[E] 272"/>
          <p:cNvCxnSpPr>
            <a:stCxn id="87" idx="3"/>
            <a:endCxn id="29" idx="2"/>
          </p:cNvCxnSpPr>
          <p:nvPr/>
        </p:nvCxnSpPr>
        <p:spPr bwMode="auto">
          <a:xfrm flipV="1">
            <a:off x="2216696" y="4006766"/>
            <a:ext cx="576104" cy="1027569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꺾인 연결선[E] 272"/>
          <p:cNvCxnSpPr>
            <a:stCxn id="89" idx="3"/>
            <a:endCxn id="29" idx="2"/>
          </p:cNvCxnSpPr>
          <p:nvPr/>
        </p:nvCxnSpPr>
        <p:spPr bwMode="auto">
          <a:xfrm flipV="1">
            <a:off x="2216696" y="4006766"/>
            <a:ext cx="576104" cy="1400263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6" name="꺾인 연결선[E] 272"/>
          <p:cNvCxnSpPr>
            <a:stCxn id="90" idx="3"/>
            <a:endCxn id="29" idx="2"/>
          </p:cNvCxnSpPr>
          <p:nvPr/>
        </p:nvCxnSpPr>
        <p:spPr bwMode="auto">
          <a:xfrm flipV="1">
            <a:off x="2216696" y="4006766"/>
            <a:ext cx="576104" cy="1772957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8" name="꺾인 연결선[E] 272"/>
          <p:cNvCxnSpPr>
            <a:stCxn id="92" idx="3"/>
            <a:endCxn id="29" idx="2"/>
          </p:cNvCxnSpPr>
          <p:nvPr/>
        </p:nvCxnSpPr>
        <p:spPr bwMode="auto">
          <a:xfrm flipV="1">
            <a:off x="2216696" y="4006766"/>
            <a:ext cx="576104" cy="2145649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순서도: 대체 처리 28"/>
          <p:cNvSpPr/>
          <p:nvPr/>
        </p:nvSpPr>
        <p:spPr>
          <a:xfrm>
            <a:off x="2180732" y="3628589"/>
            <a:ext cx="1224136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경험적 처방</a:t>
            </a:r>
            <a:endParaRPr lang="en-US" altLang="ko-KR" sz="900" dirty="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algn="ctr"/>
            <a:r>
              <a:rPr lang="ko-KR" altLang="en-US" sz="900" b="1" dirty="0" smtClean="0">
                <a:solidFill>
                  <a:schemeClr val="tx2"/>
                </a:solidFill>
                <a:latin typeface="+mn-ea"/>
              </a:rPr>
              <a:t>대상항생제 선정</a:t>
            </a:r>
          </a:p>
        </p:txBody>
      </p:sp>
      <p:cxnSp>
        <p:nvCxnSpPr>
          <p:cNvPr id="117" name="꺾인 연결선[E] 272"/>
          <p:cNvCxnSpPr>
            <a:stCxn id="95" idx="3"/>
            <a:endCxn id="29" idx="1"/>
          </p:cNvCxnSpPr>
          <p:nvPr/>
        </p:nvCxnSpPr>
        <p:spPr bwMode="auto">
          <a:xfrm rot="16200000" flipH="1">
            <a:off x="1866217" y="3503163"/>
            <a:ext cx="144640" cy="484390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4" name="꺾인 연결선[E] 272"/>
          <p:cNvCxnSpPr>
            <a:stCxn id="148" idx="3"/>
            <a:endCxn id="159" idx="2"/>
          </p:cNvCxnSpPr>
          <p:nvPr/>
        </p:nvCxnSpPr>
        <p:spPr bwMode="auto">
          <a:xfrm>
            <a:off x="5313040" y="3810478"/>
            <a:ext cx="762400" cy="141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1" name="직사각형 290"/>
          <p:cNvSpPr/>
          <p:nvPr/>
        </p:nvSpPr>
        <p:spPr>
          <a:xfrm>
            <a:off x="7887150" y="3199393"/>
            <a:ext cx="15299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▶ 소아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18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세 미만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, 30Kg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미만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▶ 신기능저하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소아 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en-US" altLang="ko-KR" sz="700" dirty="0" err="1">
                <a:latin typeface="Malgun Gothic" charset="-127"/>
                <a:ea typeface="Malgun Gothic" charset="-127"/>
                <a:cs typeface="Malgun Gothic" charset="-127"/>
              </a:rPr>
              <a:t>CrCl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&lt;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50, </a:t>
            </a:r>
          </a:p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                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en-US" altLang="ko-KR" sz="700" dirty="0" err="1">
                <a:latin typeface="Malgun Gothic" charset="-127"/>
                <a:ea typeface="Malgun Gothic" charset="-127"/>
                <a:cs typeface="Malgun Gothic" charset="-127"/>
              </a:rPr>
              <a:t>CrCl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&lt;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90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48" name="순서도: 대체 처리 147"/>
          <p:cNvSpPr/>
          <p:nvPr/>
        </p:nvSpPr>
        <p:spPr>
          <a:xfrm>
            <a:off x="4088904" y="3621389"/>
            <a:ext cx="1224136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2"/>
                </a:solidFill>
                <a:latin typeface="+mn-ea"/>
              </a:rPr>
              <a:t>우선순위 적용</a:t>
            </a:r>
          </a:p>
        </p:txBody>
      </p:sp>
      <p:cxnSp>
        <p:nvCxnSpPr>
          <p:cNvPr id="149" name="꺾인 연결선[E] 272"/>
          <p:cNvCxnSpPr>
            <a:stCxn id="29" idx="3"/>
            <a:endCxn id="148" idx="1"/>
          </p:cNvCxnSpPr>
          <p:nvPr/>
        </p:nvCxnSpPr>
        <p:spPr bwMode="auto">
          <a:xfrm flipV="1">
            <a:off x="3404868" y="3810478"/>
            <a:ext cx="684036" cy="720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1" name="직사각형 150"/>
          <p:cNvSpPr/>
          <p:nvPr/>
        </p:nvSpPr>
        <p:spPr>
          <a:xfrm>
            <a:off x="4270856" y="4028936"/>
            <a:ext cx="205029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0) P, A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구분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1)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항생제 계열 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★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2) Mono, Combination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3)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용법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   -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입원 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: IV 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 IM  PO 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기타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   -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외래 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: PO  IM  IV 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기타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4</a:t>
            </a: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)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투여주기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5) 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알파벳 순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6) </a:t>
            </a:r>
            <a:r>
              <a:rPr lang="ko-KR" altLang="en-US" sz="900" dirty="0" err="1" smtClean="0">
                <a:latin typeface="Malgun Gothic" charset="-127"/>
                <a:ea typeface="Malgun Gothic" charset="-127"/>
                <a:cs typeface="Malgun Gothic" charset="-127"/>
              </a:rPr>
              <a:t>알러지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 항생제 </a:t>
            </a:r>
            <a:r>
              <a:rPr lang="ko-KR" altLang="en-US" sz="900" dirty="0" err="1" smtClean="0">
                <a:latin typeface="Malgun Gothic" charset="-127"/>
                <a:ea typeface="Malgun Gothic" charset="-127"/>
                <a:cs typeface="Malgun Gothic" charset="-127"/>
              </a:rPr>
              <a:t>후순위적용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900" dirty="0" smtClean="0">
                <a:latin typeface="Malgun Gothic" charset="-127"/>
                <a:ea typeface="Malgun Gothic" charset="-127"/>
                <a:cs typeface="Malgun Gothic" charset="-127"/>
              </a:rPr>
              <a:t>7) </a:t>
            </a:r>
            <a:r>
              <a:rPr lang="ko-KR" altLang="en-US" sz="900" dirty="0" err="1" smtClean="0">
                <a:latin typeface="Malgun Gothic" charset="-127"/>
                <a:ea typeface="Malgun Gothic" charset="-127"/>
                <a:cs typeface="Malgun Gothic" charset="-127"/>
              </a:rPr>
              <a:t>간기능</a:t>
            </a:r>
            <a:r>
              <a:rPr lang="ko-KR" altLang="en-US" sz="900" dirty="0" smtClean="0">
                <a:latin typeface="Malgun Gothic" charset="-127"/>
                <a:ea typeface="Malgun Gothic" charset="-127"/>
                <a:cs typeface="Malgun Gothic" charset="-127"/>
              </a:rPr>
              <a:t> 관련 항생제 </a:t>
            </a:r>
            <a:r>
              <a:rPr lang="ko-KR" altLang="en-US" sz="900" dirty="0" err="1" smtClean="0">
                <a:latin typeface="Malgun Gothic" charset="-127"/>
                <a:ea typeface="Malgun Gothic" charset="-127"/>
                <a:cs typeface="Malgun Gothic" charset="-127"/>
              </a:rPr>
              <a:t>후순위적용</a:t>
            </a:r>
            <a:endParaRPr lang="en-US" altLang="ko-KR" sz="900" dirty="0" smtClean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57" name="텍스트 개체 틀 2"/>
          <p:cNvSpPr txBox="1">
            <a:spLocks/>
          </p:cNvSpPr>
          <p:nvPr/>
        </p:nvSpPr>
        <p:spPr>
          <a:xfrm>
            <a:off x="484860" y="668947"/>
            <a:ext cx="8932190" cy="4565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q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dirty="0">
                <a:latin typeface="+mn-ea"/>
              </a:rPr>
              <a:t>OCS</a:t>
            </a:r>
            <a:r>
              <a:rPr kumimoji="1" lang="ko-KR" altLang="en-US" dirty="0">
                <a:latin typeface="+mn-ea"/>
              </a:rPr>
              <a:t>연계항목과 추가 입력 정보를 활용하여 경험적 기반의 항생제를 추천</a:t>
            </a:r>
          </a:p>
        </p:txBody>
      </p:sp>
      <p:sp>
        <p:nvSpPr>
          <p:cNvPr id="159" name="순서도: 자기 디스크 158"/>
          <p:cNvSpPr/>
          <p:nvPr/>
        </p:nvSpPr>
        <p:spPr>
          <a:xfrm>
            <a:off x="6075440" y="3526999"/>
            <a:ext cx="764224" cy="56978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 smtClean="0">
                <a:solidFill>
                  <a:srgbClr val="C00000"/>
                </a:solidFill>
                <a:latin typeface="+mn-ea"/>
              </a:rPr>
              <a:t>추천항생제</a:t>
            </a:r>
            <a:endParaRPr lang="en-US" altLang="ko-KR" sz="900" b="1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en-US" altLang="ko-KR" sz="900" b="1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900" b="1" dirty="0" smtClean="0">
                <a:solidFill>
                  <a:srgbClr val="C00000"/>
                </a:solidFill>
                <a:latin typeface="+mn-ea"/>
              </a:rPr>
              <a:t>후보</a:t>
            </a:r>
            <a:r>
              <a:rPr lang="en-US" altLang="ko-KR" sz="900" b="1" dirty="0" smtClean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900" b="1" dirty="0" smtClean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76" name="순서도: 대체 처리 175"/>
          <p:cNvSpPr/>
          <p:nvPr/>
        </p:nvSpPr>
        <p:spPr>
          <a:xfrm>
            <a:off x="7385012" y="4464858"/>
            <a:ext cx="1440160" cy="352193"/>
          </a:xfrm>
          <a:prstGeom prst="flowChartAlternateProcess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800" kern="0" dirty="0" err="1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단위</a:t>
            </a:r>
            <a:r>
              <a:rPr kumimoji="1" lang="ko-KR" altLang="en-US" sz="800" kern="0" dirty="0" err="1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별</a:t>
            </a:r>
            <a:r>
              <a:rPr kumimoji="1" lang="en-US" altLang="ko-KR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(/kg) 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용량 계산</a:t>
            </a:r>
            <a:endParaRPr kumimoji="1" lang="ko-KR" altLang="en-US" sz="800" kern="0" baseline="3000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71" name="Rectangle 287"/>
          <p:cNvSpPr>
            <a:spLocks noChangeArrowheads="1"/>
          </p:cNvSpPr>
          <p:nvPr/>
        </p:nvSpPr>
        <p:spPr bwMode="auto">
          <a:xfrm>
            <a:off x="7385012" y="3619930"/>
            <a:ext cx="1440160" cy="3897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소아</a:t>
            </a:r>
            <a:r>
              <a:rPr kumimoji="1" lang="en-US" altLang="ko-KR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신장장애</a:t>
            </a:r>
            <a:endParaRPr kumimoji="1" lang="en-US" altLang="ko-KR" sz="800" kern="0" dirty="0" smtClean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 defTabSz="972739" eaLnBrk="0" hangingPunct="0"/>
            <a:r>
              <a:rPr kumimoji="1" lang="en-US" altLang="ko-KR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Dose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로 용량 </a:t>
            </a:r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치환</a:t>
            </a:r>
            <a:endParaRPr kumimoji="1" lang="en-US" altLang="ko-KR" sz="800" kern="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202" name="꺾인 연결선[E] 272"/>
          <p:cNvCxnSpPr>
            <a:stCxn id="159" idx="4"/>
            <a:endCxn id="171" idx="1"/>
          </p:cNvCxnSpPr>
          <p:nvPr/>
        </p:nvCxnSpPr>
        <p:spPr bwMode="auto">
          <a:xfrm>
            <a:off x="6839664" y="3811893"/>
            <a:ext cx="545348" cy="289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5" name="꺾인 연결선[E] 272"/>
          <p:cNvCxnSpPr>
            <a:stCxn id="171" idx="2"/>
            <a:endCxn id="176" idx="0"/>
          </p:cNvCxnSpPr>
          <p:nvPr/>
        </p:nvCxnSpPr>
        <p:spPr bwMode="auto">
          <a:xfrm rot="5400000">
            <a:off x="7877483" y="4237249"/>
            <a:ext cx="455218" cy="1270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2" name="꺾인 연결선[E] 272"/>
          <p:cNvCxnSpPr>
            <a:stCxn id="176" idx="2"/>
            <a:endCxn id="168" idx="0"/>
          </p:cNvCxnSpPr>
          <p:nvPr/>
        </p:nvCxnSpPr>
        <p:spPr bwMode="auto">
          <a:xfrm rot="16200000" flipH="1">
            <a:off x="7884326" y="5037816"/>
            <a:ext cx="441533" cy="1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73" name="그룹 172"/>
          <p:cNvGrpSpPr/>
          <p:nvPr/>
        </p:nvGrpSpPr>
        <p:grpSpPr>
          <a:xfrm>
            <a:off x="7400044" y="5258584"/>
            <a:ext cx="1410098" cy="1050736"/>
            <a:chOff x="6457552" y="4745227"/>
            <a:chExt cx="1410098" cy="1050736"/>
          </a:xfrm>
        </p:grpSpPr>
        <p:sp>
          <p:nvSpPr>
            <p:cNvPr id="168" name="직사각형 167"/>
            <p:cNvSpPr/>
            <p:nvPr/>
          </p:nvSpPr>
          <p:spPr>
            <a:xfrm>
              <a:off x="6457552" y="4745227"/>
              <a:ext cx="1410098" cy="148079"/>
            </a:xfrm>
            <a:prstGeom prst="rect">
              <a:avLst/>
            </a:prstGeom>
            <a:solidFill>
              <a:srgbClr val="FF9933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bg1"/>
                  </a:solidFill>
                  <a:latin typeface="+mn-ea"/>
                </a:rPr>
                <a:t>3A </a:t>
              </a:r>
              <a:r>
                <a:rPr lang="ko-KR" altLang="en-US" sz="800" b="1" dirty="0" smtClean="0">
                  <a:solidFill>
                    <a:schemeClr val="bg1"/>
                  </a:solidFill>
                  <a:latin typeface="+mn-ea"/>
                </a:rPr>
                <a:t>화면</a:t>
              </a:r>
            </a:p>
          </p:txBody>
        </p:sp>
        <p:sp>
          <p:nvSpPr>
            <p:cNvPr id="217" name="직사각형 216"/>
            <p:cNvSpPr/>
            <p:nvPr/>
          </p:nvSpPr>
          <p:spPr>
            <a:xfrm>
              <a:off x="6457552" y="4897657"/>
              <a:ext cx="1410098" cy="898306"/>
            </a:xfrm>
            <a:prstGeom prst="rect">
              <a:avLst/>
            </a:prstGeom>
            <a:solidFill>
              <a:srgbClr val="FF9933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b="1" dirty="0" smtClean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2903" y="4924299"/>
              <a:ext cx="1362979" cy="858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9" name="다이아몬드 178"/>
          <p:cNvSpPr/>
          <p:nvPr/>
        </p:nvSpPr>
        <p:spPr>
          <a:xfrm>
            <a:off x="1856736" y="2420888"/>
            <a:ext cx="864016" cy="360040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en-US" altLang="ko-KR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MRSA</a:t>
            </a:r>
          </a:p>
          <a:p>
            <a:pPr algn="ctr" defTabSz="972739" eaLnBrk="0" hangingPunct="0"/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추</a:t>
            </a:r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정</a:t>
            </a:r>
          </a:p>
        </p:txBody>
      </p:sp>
      <p:cxnSp>
        <p:nvCxnSpPr>
          <p:cNvPr id="224" name="꺾인 연결선[E] 272"/>
          <p:cNvCxnSpPr>
            <a:stCxn id="179" idx="2"/>
            <a:endCxn id="29" idx="0"/>
          </p:cNvCxnSpPr>
          <p:nvPr/>
        </p:nvCxnSpPr>
        <p:spPr bwMode="auto">
          <a:xfrm rot="16200000" flipH="1">
            <a:off x="2116942" y="2952730"/>
            <a:ext cx="847661" cy="504056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0" name="직사각형 229"/>
          <p:cNvSpPr/>
          <p:nvPr/>
        </p:nvSpPr>
        <p:spPr>
          <a:xfrm>
            <a:off x="1955842" y="2752810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N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233" name="순서도: 연결자 232"/>
          <p:cNvSpPr/>
          <p:nvPr/>
        </p:nvSpPr>
        <p:spPr>
          <a:xfrm>
            <a:off x="3368824" y="2259630"/>
            <a:ext cx="1224136" cy="37817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tx2"/>
                </a:solidFill>
                <a:latin typeface="+mn-ea"/>
              </a:rPr>
              <a:t>Go </a:t>
            </a:r>
            <a:r>
              <a:rPr lang="ko-KR" altLang="en-US" sz="900" b="1" dirty="0" smtClean="0">
                <a:solidFill>
                  <a:schemeClr val="tx2"/>
                </a:solidFill>
                <a:latin typeface="+mn-ea"/>
              </a:rPr>
              <a:t>선택적 추천</a:t>
            </a:r>
            <a:endParaRPr lang="ko-KR" altLang="en-US" sz="900" b="1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234" name="꺾인 연결선[E] 272"/>
          <p:cNvCxnSpPr>
            <a:stCxn id="179" idx="3"/>
          </p:cNvCxnSpPr>
          <p:nvPr/>
        </p:nvCxnSpPr>
        <p:spPr bwMode="auto">
          <a:xfrm flipV="1">
            <a:off x="2720752" y="2448719"/>
            <a:ext cx="648072" cy="152189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7" name="직사각형 236"/>
          <p:cNvSpPr/>
          <p:nvPr/>
        </p:nvSpPr>
        <p:spPr>
          <a:xfrm>
            <a:off x="2792760" y="2436857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Y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239" name="꺾인 연결선[E] 272"/>
          <p:cNvCxnSpPr>
            <a:stCxn id="120" idx="2"/>
            <a:endCxn id="179" idx="1"/>
          </p:cNvCxnSpPr>
          <p:nvPr/>
        </p:nvCxnSpPr>
        <p:spPr bwMode="auto">
          <a:xfrm rot="16200000" flipH="1">
            <a:off x="1378479" y="2122650"/>
            <a:ext cx="675583" cy="280932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TextBox 1"/>
          <p:cNvSpPr txBox="1"/>
          <p:nvPr/>
        </p:nvSpPr>
        <p:spPr>
          <a:xfrm>
            <a:off x="1712640" y="2334072"/>
            <a:ext cx="416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1.1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505869" y="3153055"/>
            <a:ext cx="416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.1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329264" y="3430936"/>
            <a:ext cx="258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329264" y="4273601"/>
            <a:ext cx="258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297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287"/>
          <p:cNvSpPr>
            <a:spLocks noChangeArrowheads="1"/>
          </p:cNvSpPr>
          <p:nvPr/>
        </p:nvSpPr>
        <p:spPr bwMode="auto">
          <a:xfrm>
            <a:off x="1352600" y="1585744"/>
            <a:ext cx="446407" cy="339581"/>
          </a:xfrm>
          <a:prstGeom prst="rect">
            <a:avLst/>
          </a:prstGeom>
          <a:solidFill>
            <a:srgbClr val="FFFFCC"/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Malgun Gothic" charset="-127"/>
                <a:ea typeface="Malgun Gothic" charset="-127"/>
                <a:cs typeface="Malgun Gothic" charset="-127"/>
              </a:rPr>
              <a:t>질환명</a:t>
            </a:r>
            <a:endParaRPr lang="en-US" altLang="ko-KR" sz="8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47" name="Rectangle 287"/>
          <p:cNvSpPr>
            <a:spLocks noChangeArrowheads="1"/>
          </p:cNvSpPr>
          <p:nvPr/>
        </p:nvSpPr>
        <p:spPr bwMode="auto">
          <a:xfrm>
            <a:off x="5205109" y="1585744"/>
            <a:ext cx="1074235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투석여부</a:t>
            </a:r>
            <a:endParaRPr lang="en-US" altLang="ko-KR" sz="8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(HD, CAPD, CAVH) 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304" name="제목 30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kern="0" dirty="0">
                <a:latin typeface="Malgun Gothic" charset="-127"/>
                <a:ea typeface="Malgun Gothic" charset="-127"/>
                <a:cs typeface="Malgun Gothic" charset="-127"/>
              </a:rPr>
              <a:t>3A</a:t>
            </a:r>
            <a:r>
              <a:rPr lang="ko-KR" altLang="en-US" kern="0" dirty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ko-KR" altLang="en-US" kern="0" dirty="0" smtClean="0">
                <a:latin typeface="Malgun Gothic" charset="-127"/>
                <a:ea typeface="Malgun Gothic" charset="-127"/>
                <a:cs typeface="Malgun Gothic" charset="-127"/>
              </a:rPr>
              <a:t>선택적 </a:t>
            </a:r>
            <a:r>
              <a:rPr lang="ko-KR" altLang="en-US" dirty="0">
                <a:latin typeface="Malgun Gothic" charset="-127"/>
                <a:ea typeface="Malgun Gothic" charset="-127"/>
                <a:cs typeface="Malgun Gothic" charset="-127"/>
              </a:rPr>
              <a:t>항생제 </a:t>
            </a:r>
            <a:r>
              <a:rPr lang="ko-KR" altLang="en-US" kern="0" dirty="0">
                <a:latin typeface="Malgun Gothic" charset="-127"/>
                <a:ea typeface="Malgun Gothic" charset="-127"/>
                <a:cs typeface="Malgun Gothic" charset="-127"/>
              </a:rPr>
              <a:t>추천 </a:t>
            </a:r>
            <a:r>
              <a:rPr lang="en-US" altLang="ko-KR" kern="0" dirty="0">
                <a:latin typeface="Malgun Gothic" charset="-127"/>
                <a:ea typeface="Malgun Gothic" charset="-127"/>
                <a:cs typeface="Malgun Gothic" charset="-127"/>
              </a:rPr>
              <a:t>Flow</a:t>
            </a:r>
            <a:endParaRPr lang="ko-KR" altLang="en-US" dirty="0"/>
          </a:p>
        </p:txBody>
      </p:sp>
      <p:sp>
        <p:nvSpPr>
          <p:cNvPr id="94" name="Rectangle 287"/>
          <p:cNvSpPr>
            <a:spLocks noChangeArrowheads="1"/>
          </p:cNvSpPr>
          <p:nvPr/>
        </p:nvSpPr>
        <p:spPr bwMode="auto">
          <a:xfrm>
            <a:off x="3008687" y="1585744"/>
            <a:ext cx="2066862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환자 기본정보</a:t>
            </a:r>
            <a:endParaRPr lang="en-US" altLang="ko-KR" sz="8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성별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나이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키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몸무게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알러지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임신여부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59" name="Rectangle 287"/>
          <p:cNvSpPr>
            <a:spLocks noChangeArrowheads="1"/>
          </p:cNvSpPr>
          <p:nvPr/>
        </p:nvSpPr>
        <p:spPr bwMode="auto">
          <a:xfrm>
            <a:off x="1136576" y="6453336"/>
            <a:ext cx="8280474" cy="3392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t"/>
          <a:lstStyle/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주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1)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감수성에 사용된 항생제와 동일 계열의 항생제를 포함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.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감수성결과가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R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이 아닌 항생제의 계열에 속하는 항생제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.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소아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감수성결과가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S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인 항생제의 계열에 속하는 항생제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 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동일계열의 항생제가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R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S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가 같이 나오는 경우에는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.???</a:t>
            </a:r>
          </a:p>
        </p:txBody>
      </p:sp>
      <p:sp>
        <p:nvSpPr>
          <p:cNvPr id="61" name="Rectangle 287"/>
          <p:cNvSpPr>
            <a:spLocks noChangeArrowheads="1"/>
          </p:cNvSpPr>
          <p:nvPr/>
        </p:nvSpPr>
        <p:spPr bwMode="auto">
          <a:xfrm>
            <a:off x="6408904" y="1585744"/>
            <a:ext cx="1510880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감염경로 </a:t>
            </a:r>
            <a:r>
              <a:rPr lang="en-US" altLang="ko-KR" sz="800" baseline="30000" dirty="0" smtClean="0">
                <a:latin typeface="Malgun Gothic" charset="-127"/>
                <a:ea typeface="Malgun Gothic" charset="-127"/>
                <a:cs typeface="Malgun Gothic" charset="-127"/>
              </a:rPr>
              <a:t>1) (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발병정보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en-US" altLang="ko-KR" sz="800" baseline="300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지역사회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타기관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원내감염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, ICU)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484860" y="1340768"/>
            <a:ext cx="8932190" cy="5112568"/>
            <a:chOff x="484860" y="1340768"/>
            <a:chExt cx="8932190" cy="5112568"/>
          </a:xfrm>
        </p:grpSpPr>
        <p:cxnSp>
          <p:nvCxnSpPr>
            <p:cNvPr id="306" name="직선 연결선[R] 305"/>
            <p:cNvCxnSpPr/>
            <p:nvPr/>
          </p:nvCxnSpPr>
          <p:spPr bwMode="auto">
            <a:xfrm>
              <a:off x="501650" y="2134304"/>
              <a:ext cx="8915400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1" name="텍스트 상자 80"/>
            <p:cNvSpPr txBox="1"/>
            <p:nvPr/>
          </p:nvSpPr>
          <p:spPr>
            <a:xfrm>
              <a:off x="484862" y="1556792"/>
              <a:ext cx="651714" cy="386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1200" b="1" dirty="0" smtClean="0">
                  <a:latin typeface="+mn-ea"/>
                </a:rPr>
                <a:t>Input</a:t>
              </a:r>
            </a:p>
            <a:p>
              <a:pPr algn="ctr"/>
              <a:r>
                <a:rPr kumimoji="1" lang="en-US" altLang="ko-KR" sz="1200" b="1" dirty="0" smtClean="0">
                  <a:latin typeface="+mn-ea"/>
                </a:rPr>
                <a:t>Data</a:t>
              </a:r>
              <a:endParaRPr kumimoji="1" lang="ko-KR" altLang="en-US" sz="1200" b="1" dirty="0" smtClean="0">
                <a:latin typeface="+mn-ea"/>
                <a:ea typeface="+mn-ea"/>
              </a:endParaRPr>
            </a:p>
          </p:txBody>
        </p:sp>
        <p:cxnSp>
          <p:nvCxnSpPr>
            <p:cNvPr id="57" name="직선 연결선[R] 69"/>
            <p:cNvCxnSpPr/>
            <p:nvPr/>
          </p:nvCxnSpPr>
          <p:spPr bwMode="auto">
            <a:xfrm>
              <a:off x="1136576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2" name="텍스트 상자 276"/>
            <p:cNvSpPr txBox="1"/>
            <p:nvPr/>
          </p:nvSpPr>
          <p:spPr>
            <a:xfrm>
              <a:off x="484862" y="4028007"/>
              <a:ext cx="651714" cy="386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ko-KR" altLang="en-US" sz="1200" b="1" dirty="0" smtClean="0">
                  <a:latin typeface="+mn-ea"/>
                </a:rPr>
                <a:t>선</a:t>
              </a:r>
              <a:r>
                <a:rPr kumimoji="1" lang="ko-KR" altLang="en-US" sz="1200" b="1" dirty="0">
                  <a:latin typeface="+mn-ea"/>
                </a:rPr>
                <a:t>택</a:t>
              </a:r>
              <a:r>
                <a:rPr kumimoji="1" lang="ko-KR" altLang="en-US" sz="1200" b="1" dirty="0" smtClean="0">
                  <a:latin typeface="+mn-ea"/>
                </a:rPr>
                <a:t>적</a:t>
              </a:r>
              <a:endParaRPr kumimoji="1" lang="en-US" altLang="ko-KR" sz="1200" b="1" dirty="0" smtClean="0">
                <a:latin typeface="+mn-ea"/>
              </a:endParaRPr>
            </a:p>
            <a:p>
              <a:pPr algn="ctr"/>
              <a:r>
                <a:rPr kumimoji="1" lang="ko-KR" altLang="en-US" sz="1200" b="1" dirty="0" smtClean="0">
                  <a:latin typeface="+mn-ea"/>
                </a:rPr>
                <a:t>추천</a:t>
              </a:r>
              <a:endParaRPr kumimoji="1" lang="en-US" altLang="ko-KR" sz="1200" b="1" dirty="0" smtClean="0">
                <a:latin typeface="+mn-ea"/>
              </a:endParaRPr>
            </a:p>
          </p:txBody>
        </p:sp>
        <p:cxnSp>
          <p:nvCxnSpPr>
            <p:cNvPr id="63" name="직선 연결선[R] 69"/>
            <p:cNvCxnSpPr/>
            <p:nvPr/>
          </p:nvCxnSpPr>
          <p:spPr bwMode="auto">
            <a:xfrm>
              <a:off x="484860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직선 연결선[R] 305"/>
            <p:cNvCxnSpPr/>
            <p:nvPr/>
          </p:nvCxnSpPr>
          <p:spPr bwMode="auto">
            <a:xfrm>
              <a:off x="501650" y="1340768"/>
              <a:ext cx="8915400" cy="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직선 연결선[R] 305"/>
            <p:cNvCxnSpPr/>
            <p:nvPr/>
          </p:nvCxnSpPr>
          <p:spPr bwMode="auto">
            <a:xfrm>
              <a:off x="501650" y="6452666"/>
              <a:ext cx="8915400" cy="52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직선 연결선[R] 69"/>
            <p:cNvCxnSpPr/>
            <p:nvPr/>
          </p:nvCxnSpPr>
          <p:spPr bwMode="auto">
            <a:xfrm>
              <a:off x="9417050" y="1340768"/>
              <a:ext cx="0" cy="5112420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2" name="직선 연결선[R] 69"/>
            <p:cNvCxnSpPr/>
            <p:nvPr/>
          </p:nvCxnSpPr>
          <p:spPr bwMode="auto">
            <a:xfrm>
              <a:off x="5241032" y="2134304"/>
              <a:ext cx="0" cy="431903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4" name="직선 연결선[R] 69"/>
            <p:cNvCxnSpPr/>
            <p:nvPr/>
          </p:nvCxnSpPr>
          <p:spPr bwMode="auto">
            <a:xfrm>
              <a:off x="7617296" y="2134304"/>
              <a:ext cx="0" cy="4319032"/>
            </a:xfrm>
            <a:prstGeom prst="lin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4" name="Rectangle 287"/>
          <p:cNvSpPr>
            <a:spLocks noChangeArrowheads="1"/>
          </p:cNvSpPr>
          <p:nvPr/>
        </p:nvSpPr>
        <p:spPr bwMode="auto">
          <a:xfrm>
            <a:off x="8049344" y="1585744"/>
            <a:ext cx="936104" cy="3395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신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간 기능 수치</a:t>
            </a:r>
            <a:endParaRPr lang="en-US" altLang="ko-KR" sz="8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grpSp>
        <p:nvGrpSpPr>
          <p:cNvPr id="2070" name="그룹 2069"/>
          <p:cNvGrpSpPr/>
          <p:nvPr/>
        </p:nvGrpSpPr>
        <p:grpSpPr>
          <a:xfrm>
            <a:off x="1496616" y="4293097"/>
            <a:ext cx="1736010" cy="1008112"/>
            <a:chOff x="1387530" y="4740386"/>
            <a:chExt cx="1836953" cy="1008112"/>
          </a:xfrm>
        </p:grpSpPr>
        <p:sp>
          <p:nvSpPr>
            <p:cNvPr id="174" name="Rectangle 287"/>
            <p:cNvSpPr>
              <a:spLocks noChangeArrowheads="1"/>
            </p:cNvSpPr>
            <p:nvPr/>
          </p:nvSpPr>
          <p:spPr bwMode="auto">
            <a:xfrm>
              <a:off x="1387530" y="4740386"/>
              <a:ext cx="1836953" cy="1008112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727272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7274" tIns="48637" rIns="97274" bIns="48637" rtlCol="0" anchor="ctr"/>
            <a:lstStyle/>
            <a:p>
              <a:pPr algn="ctr" defTabSz="972739" eaLnBrk="0" hangingPunct="0"/>
              <a:endParaRPr kumimoji="1" lang="en-US" altLang="ko-KR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14" name="순서도: 준비 13"/>
            <p:cNvSpPr/>
            <p:nvPr/>
          </p:nvSpPr>
          <p:spPr>
            <a:xfrm>
              <a:off x="1500451" y="4831150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질환</a:t>
              </a:r>
            </a:p>
          </p:txBody>
        </p:sp>
        <p:sp>
          <p:nvSpPr>
            <p:cNvPr id="86" name="순서도: 준비 85"/>
            <p:cNvSpPr/>
            <p:nvPr/>
          </p:nvSpPr>
          <p:spPr>
            <a:xfrm>
              <a:off x="2331452" y="4831150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성별</a:t>
              </a:r>
              <a:r>
                <a:rPr lang="en-US" altLang="ko-KR" sz="700" dirty="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, </a:t>
              </a:r>
              <a:r>
                <a:rPr lang="ko-KR" altLang="en-US" sz="700" dirty="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나이</a:t>
              </a:r>
              <a:endParaRPr lang="ko-KR" altLang="en-US" sz="7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87" name="순서도: 준비 86"/>
            <p:cNvSpPr/>
            <p:nvPr/>
          </p:nvSpPr>
          <p:spPr>
            <a:xfrm>
              <a:off x="1500451" y="5100425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몸무게</a:t>
              </a:r>
              <a:endParaRPr lang="ko-KR" altLang="en-US" sz="7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89" name="순서도: 준비 88"/>
            <p:cNvSpPr/>
            <p:nvPr/>
          </p:nvSpPr>
          <p:spPr>
            <a:xfrm>
              <a:off x="2331452" y="5100425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dirty="0" err="1">
                  <a:latin typeface="Malgun Gothic" charset="-127"/>
                  <a:ea typeface="Malgun Gothic" charset="-127"/>
                  <a:cs typeface="Malgun Gothic" charset="-127"/>
                </a:rPr>
                <a:t>알러지</a:t>
              </a:r>
              <a:endParaRPr lang="ko-KR" altLang="en-US" sz="7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90" name="순서도: 준비 89"/>
            <p:cNvSpPr/>
            <p:nvPr/>
          </p:nvSpPr>
          <p:spPr>
            <a:xfrm>
              <a:off x="1500451" y="5388457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임신여부</a:t>
              </a:r>
              <a:endParaRPr lang="ko-KR" altLang="en-US" sz="7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92" name="순서도: 준비 91"/>
            <p:cNvSpPr/>
            <p:nvPr/>
          </p:nvSpPr>
          <p:spPr>
            <a:xfrm>
              <a:off x="2331452" y="5388457"/>
              <a:ext cx="792088" cy="195984"/>
            </a:xfrm>
            <a:prstGeom prst="flowChartPreparation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ko-KR" altLang="en-US" sz="700" dirty="0" smtClean="0">
                  <a:solidFill>
                    <a:schemeClr val="tx1"/>
                  </a:solidFill>
                  <a:latin typeface="Malgun Gothic" charset="-127"/>
                  <a:ea typeface="Malgun Gothic" charset="-127"/>
                  <a:cs typeface="Malgun Gothic" charset="-127"/>
                </a:rPr>
                <a:t>감염경로</a:t>
              </a:r>
              <a:endParaRPr lang="ko-KR" altLang="en-US" sz="700" dirty="0">
                <a:solidFill>
                  <a:schemeClr val="tx1"/>
                </a:solidFill>
                <a:latin typeface="Malgun Gothic" charset="-127"/>
                <a:ea typeface="Malgun Gothic" charset="-127"/>
                <a:cs typeface="Malgun Gothic" charset="-127"/>
              </a:endParaRPr>
            </a:p>
          </p:txBody>
        </p:sp>
        <p:sp>
          <p:nvSpPr>
            <p:cNvPr id="93" name="텍스트 상자 193"/>
            <p:cNvSpPr txBox="1"/>
            <p:nvPr/>
          </p:nvSpPr>
          <p:spPr>
            <a:xfrm>
              <a:off x="1500452" y="5578497"/>
              <a:ext cx="792088" cy="97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ctr"/>
              <a:r>
                <a:rPr kumimoji="1" lang="en-US" altLang="ko-KR" sz="600" dirty="0" smtClean="0">
                  <a:latin typeface="+mn-ea"/>
                </a:rPr>
                <a:t>Category D, E </a:t>
              </a:r>
              <a:r>
                <a:rPr kumimoji="1" lang="ko-KR" altLang="en-US" sz="600" dirty="0" smtClean="0">
                  <a:latin typeface="+mn-ea"/>
                </a:rPr>
                <a:t>제외</a:t>
              </a:r>
            </a:p>
          </p:txBody>
        </p:sp>
      </p:grpSp>
      <p:cxnSp>
        <p:nvCxnSpPr>
          <p:cNvPr id="108" name="꺾인 연결선[E] 272"/>
          <p:cNvCxnSpPr>
            <a:stCxn id="174" idx="0"/>
            <a:endCxn id="29" idx="2"/>
          </p:cNvCxnSpPr>
          <p:nvPr/>
        </p:nvCxnSpPr>
        <p:spPr bwMode="auto">
          <a:xfrm rot="5400000" flipH="1" flipV="1">
            <a:off x="2052119" y="3885463"/>
            <a:ext cx="720136" cy="9513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순서도: 대체 처리 28"/>
          <p:cNvSpPr/>
          <p:nvPr/>
        </p:nvSpPr>
        <p:spPr>
          <a:xfrm>
            <a:off x="1928664" y="3194784"/>
            <a:ext cx="1062177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2"/>
                </a:solidFill>
                <a:latin typeface="+mn-ea"/>
              </a:rPr>
              <a:t>대상항생제 선정</a:t>
            </a:r>
            <a:endParaRPr lang="en-US" altLang="ko-KR" sz="800" b="1" dirty="0" smtClean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① 선택적 </a:t>
            </a:r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DB </a:t>
            </a:r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활용</a:t>
            </a:r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)</a:t>
            </a:r>
            <a:endParaRPr lang="ko-KR" altLang="en-US" sz="600" b="1" dirty="0" smtClean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134" name="꺾인 연결선[E] 272"/>
          <p:cNvCxnSpPr>
            <a:stCxn id="148" idx="3"/>
            <a:endCxn id="159" idx="2"/>
          </p:cNvCxnSpPr>
          <p:nvPr/>
        </p:nvCxnSpPr>
        <p:spPr bwMode="auto">
          <a:xfrm>
            <a:off x="6416640" y="3611306"/>
            <a:ext cx="235276" cy="141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1" name="직사각형 290"/>
          <p:cNvSpPr/>
          <p:nvPr/>
        </p:nvSpPr>
        <p:spPr>
          <a:xfrm>
            <a:off x="7905328" y="2996952"/>
            <a:ext cx="15299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▶ 소아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18</a:t>
            </a:r>
            <a:r>
              <a:rPr lang="ko-KR" altLang="en-US" sz="700" dirty="0">
                <a:latin typeface="Malgun Gothic" charset="-127"/>
                <a:ea typeface="Malgun Gothic" charset="-127"/>
                <a:cs typeface="Malgun Gothic" charset="-127"/>
              </a:rPr>
              <a:t>세 미만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, 30Kg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미만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▶ 신기능저하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소아 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en-US" altLang="ko-KR" sz="700" dirty="0" err="1">
                <a:latin typeface="Malgun Gothic" charset="-127"/>
                <a:ea typeface="Malgun Gothic" charset="-127"/>
                <a:cs typeface="Malgun Gothic" charset="-127"/>
              </a:rPr>
              <a:t>CrCl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&lt;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50, </a:t>
            </a:r>
          </a:p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                  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: </a:t>
            </a:r>
            <a:r>
              <a:rPr lang="en-US" altLang="ko-KR" sz="700" dirty="0" err="1">
                <a:latin typeface="Malgun Gothic" charset="-127"/>
                <a:ea typeface="Malgun Gothic" charset="-127"/>
                <a:cs typeface="Malgun Gothic" charset="-127"/>
              </a:rPr>
              <a:t>CrCl</a:t>
            </a: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</a:rPr>
              <a:t> &lt;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90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48" name="순서도: 대체 처리 147"/>
          <p:cNvSpPr/>
          <p:nvPr/>
        </p:nvSpPr>
        <p:spPr>
          <a:xfrm>
            <a:off x="5407959" y="3422217"/>
            <a:ext cx="1008681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2"/>
                </a:solidFill>
                <a:latin typeface="+mn-ea"/>
              </a:rPr>
              <a:t>우선순위 적용</a:t>
            </a:r>
          </a:p>
        </p:txBody>
      </p:sp>
      <p:cxnSp>
        <p:nvCxnSpPr>
          <p:cNvPr id="149" name="꺾인 연결선[E] 272"/>
          <p:cNvCxnSpPr>
            <a:stCxn id="29" idx="3"/>
            <a:endCxn id="115" idx="1"/>
          </p:cNvCxnSpPr>
          <p:nvPr/>
        </p:nvCxnSpPr>
        <p:spPr bwMode="auto">
          <a:xfrm flipV="1">
            <a:off x="2990841" y="3382411"/>
            <a:ext cx="738103" cy="146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1" name="직사각형 150"/>
          <p:cNvSpPr/>
          <p:nvPr/>
        </p:nvSpPr>
        <p:spPr>
          <a:xfrm>
            <a:off x="5446464" y="3789040"/>
            <a:ext cx="1810792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0) P, A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구분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1)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항생제 계열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★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2) Mono, Combination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3)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용법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   -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입원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IV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 IM  PO 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기타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   -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외래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: PO  IM  IV 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기타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4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투여주기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5)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  <a:sym typeface="Wingdings" panose="05000000000000000000" pitchFamily="2" charset="2"/>
              </a:rPr>
              <a:t>알파벳 순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  <a:sym typeface="Wingdings" panose="05000000000000000000" pitchFamily="2" charset="2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6)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알러지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 항생제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후순위적용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7)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간기능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 관련 항생제 </a:t>
            </a:r>
            <a:r>
              <a:rPr lang="ko-KR" altLang="en-US" sz="700" dirty="0" err="1" smtClean="0">
                <a:latin typeface="Malgun Gothic" charset="-127"/>
                <a:ea typeface="Malgun Gothic" charset="-127"/>
                <a:cs typeface="Malgun Gothic" charset="-127"/>
              </a:rPr>
              <a:t>후순위적용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57" name="텍스트 개체 틀 2"/>
          <p:cNvSpPr txBox="1">
            <a:spLocks/>
          </p:cNvSpPr>
          <p:nvPr/>
        </p:nvSpPr>
        <p:spPr>
          <a:xfrm>
            <a:off x="484860" y="668947"/>
            <a:ext cx="8932190" cy="4565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q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dirty="0">
                <a:latin typeface="+mn-ea"/>
              </a:rPr>
              <a:t>OCS</a:t>
            </a:r>
            <a:r>
              <a:rPr kumimoji="1" lang="ko-KR" altLang="en-US" dirty="0" smtClean="0">
                <a:latin typeface="+mn-ea"/>
              </a:rPr>
              <a:t>연계항목</a:t>
            </a:r>
            <a:r>
              <a:rPr kumimoji="1" lang="en-US" altLang="ko-KR" dirty="0" smtClean="0">
                <a:latin typeface="+mn-ea"/>
              </a:rPr>
              <a:t>, </a:t>
            </a:r>
            <a:r>
              <a:rPr kumimoji="1" lang="ko-KR" altLang="en-US" dirty="0" smtClean="0">
                <a:latin typeface="+mn-ea"/>
              </a:rPr>
              <a:t>감수성결과와 </a:t>
            </a:r>
            <a:r>
              <a:rPr kumimoji="1" lang="ko-KR" altLang="en-US" dirty="0">
                <a:latin typeface="+mn-ea"/>
              </a:rPr>
              <a:t>추가 입력 정보를 활용하여 </a:t>
            </a:r>
            <a:r>
              <a:rPr kumimoji="1" lang="ko-KR" altLang="en-US" dirty="0" smtClean="0">
                <a:latin typeface="+mn-ea"/>
              </a:rPr>
              <a:t>선택적 </a:t>
            </a:r>
            <a:r>
              <a:rPr kumimoji="1" lang="ko-KR" altLang="en-US" dirty="0">
                <a:latin typeface="+mn-ea"/>
              </a:rPr>
              <a:t>기반의 항생제를 추천</a:t>
            </a:r>
          </a:p>
        </p:txBody>
      </p:sp>
      <p:sp>
        <p:nvSpPr>
          <p:cNvPr id="159" name="순서도: 자기 디스크 158"/>
          <p:cNvSpPr/>
          <p:nvPr/>
        </p:nvSpPr>
        <p:spPr>
          <a:xfrm>
            <a:off x="6651916" y="3327827"/>
            <a:ext cx="764224" cy="56978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 smtClean="0">
                <a:solidFill>
                  <a:srgbClr val="C00000"/>
                </a:solidFill>
                <a:latin typeface="+mn-ea"/>
              </a:rPr>
              <a:t>추천항생제</a:t>
            </a:r>
            <a:endParaRPr lang="en-US" altLang="ko-KR" sz="900" b="1" dirty="0" smtClean="0">
              <a:solidFill>
                <a:srgbClr val="C00000"/>
              </a:solidFill>
              <a:latin typeface="+mn-ea"/>
            </a:endParaRPr>
          </a:p>
          <a:p>
            <a:pPr algn="ctr"/>
            <a:r>
              <a:rPr lang="en-US" altLang="ko-KR" sz="900" b="1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900" b="1" dirty="0" smtClean="0">
                <a:solidFill>
                  <a:srgbClr val="C00000"/>
                </a:solidFill>
                <a:latin typeface="+mn-ea"/>
              </a:rPr>
              <a:t>후보</a:t>
            </a:r>
            <a:r>
              <a:rPr lang="en-US" altLang="ko-KR" sz="900" b="1" dirty="0" smtClean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900" b="1" dirty="0" smtClean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76" name="순서도: 대체 처리 175"/>
          <p:cNvSpPr/>
          <p:nvPr/>
        </p:nvSpPr>
        <p:spPr>
          <a:xfrm>
            <a:off x="7897635" y="4370905"/>
            <a:ext cx="1182708" cy="352193"/>
          </a:xfrm>
          <a:prstGeom prst="flowChartAlternateProcess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800" kern="0" dirty="0" err="1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단위</a:t>
            </a:r>
            <a:r>
              <a:rPr kumimoji="1" lang="ko-KR" altLang="en-US" sz="800" kern="0" dirty="0" err="1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별</a:t>
            </a:r>
            <a:r>
              <a:rPr kumimoji="1" lang="en-US" altLang="ko-KR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(/kg) 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용량 계산</a:t>
            </a:r>
            <a:endParaRPr kumimoji="1" lang="ko-KR" altLang="en-US" sz="800" kern="0" baseline="3000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71" name="Rectangle 287"/>
          <p:cNvSpPr>
            <a:spLocks noChangeArrowheads="1"/>
          </p:cNvSpPr>
          <p:nvPr/>
        </p:nvSpPr>
        <p:spPr bwMode="auto">
          <a:xfrm>
            <a:off x="7890201" y="3417489"/>
            <a:ext cx="1182708" cy="3897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소아</a:t>
            </a:r>
            <a:r>
              <a:rPr kumimoji="1" lang="en-US" altLang="ko-KR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/</a:t>
            </a:r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신장장애</a:t>
            </a:r>
            <a:endParaRPr kumimoji="1" lang="en-US" altLang="ko-KR" sz="800" kern="0" dirty="0" smtClean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 defTabSz="972739" eaLnBrk="0" hangingPunct="0"/>
            <a:r>
              <a:rPr kumimoji="1" lang="en-US" altLang="ko-KR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Dose</a:t>
            </a:r>
            <a:r>
              <a:rPr kumimoji="1" lang="ko-KR" altLang="en-US" sz="8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로 용량 </a:t>
            </a:r>
            <a:r>
              <a:rPr kumimoji="1" lang="ko-KR" altLang="en-US" sz="800" kern="0" dirty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치환</a:t>
            </a:r>
            <a:endParaRPr kumimoji="1" lang="en-US" altLang="ko-KR" sz="800" kern="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202" name="꺾인 연결선[E] 272"/>
          <p:cNvCxnSpPr>
            <a:stCxn id="159" idx="4"/>
            <a:endCxn id="171" idx="1"/>
          </p:cNvCxnSpPr>
          <p:nvPr/>
        </p:nvCxnSpPr>
        <p:spPr bwMode="auto">
          <a:xfrm flipV="1">
            <a:off x="7416140" y="3612344"/>
            <a:ext cx="474061" cy="37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5" name="꺾인 연결선[E] 272"/>
          <p:cNvCxnSpPr>
            <a:stCxn id="171" idx="2"/>
            <a:endCxn id="176" idx="0"/>
          </p:cNvCxnSpPr>
          <p:nvPr/>
        </p:nvCxnSpPr>
        <p:spPr bwMode="auto">
          <a:xfrm rot="16200000" flipH="1">
            <a:off x="8203419" y="4085335"/>
            <a:ext cx="563706" cy="7434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2" name="꺾인 연결선[E] 272"/>
          <p:cNvCxnSpPr>
            <a:stCxn id="176" idx="2"/>
            <a:endCxn id="168" idx="0"/>
          </p:cNvCxnSpPr>
          <p:nvPr/>
        </p:nvCxnSpPr>
        <p:spPr bwMode="auto">
          <a:xfrm rot="16200000" flipH="1">
            <a:off x="8271940" y="4940147"/>
            <a:ext cx="441533" cy="7434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3" name="순서도: 연결자 232"/>
          <p:cNvSpPr/>
          <p:nvPr/>
        </p:nvSpPr>
        <p:spPr>
          <a:xfrm>
            <a:off x="3836920" y="2380630"/>
            <a:ext cx="396000" cy="36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>
                <a:solidFill>
                  <a:schemeClr val="tx2"/>
                </a:solidFill>
                <a:latin typeface="+mn-ea"/>
              </a:rPr>
              <a:t>추천</a:t>
            </a:r>
            <a:endParaRPr lang="en-US" altLang="ko-KR" sz="6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600" b="1" dirty="0">
                <a:solidFill>
                  <a:schemeClr val="tx2"/>
                </a:solidFill>
                <a:latin typeface="+mn-ea"/>
              </a:rPr>
              <a:t>항생제</a:t>
            </a:r>
            <a:endParaRPr lang="en-US" altLang="ko-KR" sz="6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600" b="1" dirty="0">
                <a:solidFill>
                  <a:schemeClr val="tx2"/>
                </a:solidFill>
                <a:latin typeface="+mn-ea"/>
              </a:rPr>
              <a:t>없음</a:t>
            </a:r>
          </a:p>
        </p:txBody>
      </p:sp>
      <p:cxnSp>
        <p:nvCxnSpPr>
          <p:cNvPr id="234" name="꺾인 연결선[E] 272"/>
          <p:cNvCxnSpPr>
            <a:stCxn id="7" idx="3"/>
            <a:endCxn id="233" idx="2"/>
          </p:cNvCxnSpPr>
          <p:nvPr/>
        </p:nvCxnSpPr>
        <p:spPr bwMode="auto">
          <a:xfrm flipV="1">
            <a:off x="2792760" y="2560630"/>
            <a:ext cx="1044160" cy="3724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7" name="직사각형 236"/>
          <p:cNvSpPr/>
          <p:nvPr/>
        </p:nvSpPr>
        <p:spPr>
          <a:xfrm>
            <a:off x="2792760" y="2391628"/>
            <a:ext cx="1004277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소아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and</a:t>
            </a:r>
          </a:p>
          <a:p>
            <a:pPr>
              <a:lnSpc>
                <a:spcPct val="120000"/>
              </a:lnSpc>
            </a:pP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S 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항생제 없는 경우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239" name="꺾인 연결선[E] 272"/>
          <p:cNvCxnSpPr>
            <a:stCxn id="60" idx="2"/>
            <a:endCxn id="7" idx="0"/>
          </p:cNvCxnSpPr>
          <p:nvPr/>
        </p:nvCxnSpPr>
        <p:spPr bwMode="auto">
          <a:xfrm rot="5400000">
            <a:off x="2066777" y="2000677"/>
            <a:ext cx="419650" cy="26894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0" name="Rectangle 287"/>
          <p:cNvSpPr>
            <a:spLocks noChangeArrowheads="1"/>
          </p:cNvSpPr>
          <p:nvPr/>
        </p:nvSpPr>
        <p:spPr bwMode="auto">
          <a:xfrm>
            <a:off x="1943023" y="1585744"/>
            <a:ext cx="936104" cy="339581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800" b="1" smtClean="0">
                <a:latin typeface="Malgun Gothic" charset="-127"/>
                <a:ea typeface="Malgun Gothic" charset="-127"/>
                <a:cs typeface="Malgun Gothic" charset="-127"/>
              </a:rPr>
              <a:t>감수성 결과</a:t>
            </a:r>
            <a:endParaRPr lang="en-US" altLang="ko-KR" sz="800" b="1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7" name="순서도: 준비 6"/>
          <p:cNvSpPr/>
          <p:nvPr/>
        </p:nvSpPr>
        <p:spPr>
          <a:xfrm>
            <a:off x="1491496" y="2344975"/>
            <a:ext cx="1301264" cy="438758"/>
          </a:xfrm>
          <a:prstGeom prst="flowChartPreparation">
            <a:avLst/>
          </a:prstGeom>
          <a:solidFill>
            <a:schemeClr val="bg1">
              <a:lumMod val="95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800" dirty="0">
                <a:latin typeface="Malgun Gothic" charset="-127"/>
                <a:ea typeface="Malgun Gothic" charset="-127"/>
                <a:cs typeface="Malgun Gothic" charset="-127"/>
              </a:rPr>
              <a:t>S / 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R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 </a:t>
            </a:r>
            <a:endParaRPr lang="en-US" altLang="ko-KR" sz="8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항생제 목록 작성</a:t>
            </a:r>
            <a:endParaRPr lang="en-US" altLang="ko-KR" sz="800" dirty="0"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/>
            <a:r>
              <a:rPr lang="en-US" altLang="ko-KR" sz="800" dirty="0">
                <a:latin typeface="Malgun Gothic" charset="-127"/>
                <a:ea typeface="Malgun Gothic" charset="-127"/>
                <a:cs typeface="Malgun Gothic" charset="-127"/>
              </a:rPr>
              <a:t>(</a:t>
            </a:r>
            <a:r>
              <a:rPr lang="ko-KR" altLang="en-US" sz="800" dirty="0" smtClean="0">
                <a:latin typeface="Malgun Gothic" charset="-127"/>
                <a:ea typeface="Malgun Gothic" charset="-127"/>
                <a:cs typeface="Malgun Gothic" charset="-127"/>
              </a:rPr>
              <a:t>계열포함 </a:t>
            </a:r>
            <a:r>
              <a:rPr lang="ko-KR" altLang="en-US" sz="800" baseline="30000" dirty="0" smtClean="0">
                <a:latin typeface="Malgun Gothic" charset="-127"/>
                <a:ea typeface="Malgun Gothic" charset="-127"/>
                <a:cs typeface="Malgun Gothic" charset="-127"/>
              </a:rPr>
              <a:t>주</a:t>
            </a:r>
            <a:r>
              <a:rPr lang="en-US" altLang="ko-KR" sz="800" baseline="30000" dirty="0" smtClean="0">
                <a:latin typeface="Malgun Gothic" charset="-127"/>
                <a:ea typeface="Malgun Gothic" charset="-127"/>
                <a:cs typeface="Malgun Gothic" charset="-127"/>
              </a:rPr>
              <a:t>1</a:t>
            </a:r>
            <a:r>
              <a:rPr lang="en-US" altLang="ko-KR" sz="800" dirty="0" smtClean="0">
                <a:latin typeface="Malgun Gothic" charset="-127"/>
                <a:ea typeface="Malgun Gothic" charset="-127"/>
                <a:cs typeface="Malgun Gothic" charset="-127"/>
              </a:rPr>
              <a:t>)</a:t>
            </a:r>
            <a:endParaRPr lang="ko-KR" altLang="en-US" sz="8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88" name="순서도: 자기 디스크 87"/>
          <p:cNvSpPr/>
          <p:nvPr/>
        </p:nvSpPr>
        <p:spPr>
          <a:xfrm>
            <a:off x="1388564" y="3645024"/>
            <a:ext cx="612108" cy="46474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b="1" dirty="0" smtClean="0">
                <a:solidFill>
                  <a:schemeClr val="tx1"/>
                </a:solidFill>
                <a:latin typeface="+mn-ea"/>
              </a:rPr>
              <a:t>선</a:t>
            </a:r>
            <a:r>
              <a:rPr lang="ko-KR" altLang="en-US" sz="800" b="1" dirty="0">
                <a:solidFill>
                  <a:schemeClr val="tx1"/>
                </a:solidFill>
                <a:latin typeface="+mn-ea"/>
              </a:rPr>
              <a:t>택</a:t>
            </a:r>
            <a:r>
              <a:rPr lang="ko-KR" altLang="en-US" sz="800" b="1" dirty="0" smtClean="0">
                <a:solidFill>
                  <a:schemeClr val="tx1"/>
                </a:solidFill>
                <a:latin typeface="+mn-ea"/>
              </a:rPr>
              <a:t>적 </a:t>
            </a:r>
            <a:endParaRPr lang="en-US" altLang="ko-KR" sz="8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b="1" dirty="0" smtClean="0">
                <a:solidFill>
                  <a:schemeClr val="tx1"/>
                </a:solidFill>
                <a:latin typeface="+mn-ea"/>
              </a:rPr>
              <a:t>항생제 </a:t>
            </a:r>
            <a:r>
              <a:rPr lang="en-US" altLang="ko-KR" sz="800" b="1" dirty="0" smtClean="0">
                <a:solidFill>
                  <a:schemeClr val="tx1"/>
                </a:solidFill>
                <a:latin typeface="+mn-ea"/>
              </a:rPr>
              <a:t>DB</a:t>
            </a:r>
            <a:endParaRPr lang="ko-KR" altLang="en-US" sz="800" b="1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1" name="꺾인 연결선[E] 272"/>
          <p:cNvCxnSpPr>
            <a:stCxn id="7" idx="2"/>
            <a:endCxn id="29" idx="0"/>
          </p:cNvCxnSpPr>
          <p:nvPr/>
        </p:nvCxnSpPr>
        <p:spPr bwMode="auto">
          <a:xfrm rot="16200000" flipH="1">
            <a:off x="2095415" y="2830445"/>
            <a:ext cx="411051" cy="31762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꺾인 연결선[E] 272"/>
          <p:cNvCxnSpPr>
            <a:stCxn id="88" idx="1"/>
            <a:endCxn id="29" idx="1"/>
          </p:cNvCxnSpPr>
          <p:nvPr/>
        </p:nvCxnSpPr>
        <p:spPr bwMode="auto">
          <a:xfrm rot="5400000" flipH="1" flipV="1">
            <a:off x="1681066" y="3397426"/>
            <a:ext cx="261151" cy="234046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4" name="직사각형 113"/>
          <p:cNvSpPr/>
          <p:nvPr/>
        </p:nvSpPr>
        <p:spPr>
          <a:xfrm>
            <a:off x="1631107" y="2809153"/>
            <a:ext cx="1209409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성인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R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이 아닌 항생제</a:t>
            </a:r>
            <a:endParaRPr lang="en-US" altLang="ko-KR" sz="700" dirty="0" smtClean="0">
              <a:latin typeface="Malgun Gothic" charset="-127"/>
              <a:ea typeface="Malgun Gothic" charset="-127"/>
              <a:cs typeface="Malgun Gothic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소아 </a:t>
            </a:r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: S</a:t>
            </a:r>
            <a:r>
              <a:rPr lang="ko-KR" altLang="en-US" sz="700" dirty="0" smtClean="0">
                <a:latin typeface="Malgun Gothic" charset="-127"/>
                <a:ea typeface="Malgun Gothic" charset="-127"/>
                <a:cs typeface="Malgun Gothic" charset="-127"/>
              </a:rPr>
              <a:t>인 항생제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15" name="다이아몬드 114"/>
          <p:cNvSpPr/>
          <p:nvPr/>
        </p:nvSpPr>
        <p:spPr>
          <a:xfrm>
            <a:off x="3728944" y="3140968"/>
            <a:ext cx="864016" cy="482886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추천 항생제</a:t>
            </a:r>
            <a:endParaRPr kumimoji="1" lang="en-US" altLang="ko-KR" sz="700" kern="0" dirty="0" smtClean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존재</a:t>
            </a:r>
            <a:endParaRPr kumimoji="1" lang="ko-KR" altLang="en-US" sz="700" kern="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548130" y="3449898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Y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132" name="순서도: 대체 처리 131"/>
          <p:cNvSpPr/>
          <p:nvPr/>
        </p:nvSpPr>
        <p:spPr>
          <a:xfrm>
            <a:off x="3722160" y="4032622"/>
            <a:ext cx="870800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2"/>
                </a:solidFill>
                <a:latin typeface="+mn-ea"/>
              </a:rPr>
              <a:t>대상항생제 선정</a:t>
            </a:r>
            <a:endParaRPr lang="en-US" altLang="ko-KR" sz="800" b="1" dirty="0" smtClean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② 경험</a:t>
            </a:r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DB</a:t>
            </a:r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활용</a:t>
            </a:r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)</a:t>
            </a:r>
            <a:endParaRPr lang="ko-KR" altLang="en-US" sz="600" b="1" dirty="0" smtClean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3970288" y="3717032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N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135" name="꺾인 연결선[E] 272"/>
          <p:cNvCxnSpPr>
            <a:stCxn id="115" idx="2"/>
            <a:endCxn id="132" idx="0"/>
          </p:cNvCxnSpPr>
          <p:nvPr/>
        </p:nvCxnSpPr>
        <p:spPr bwMode="auto">
          <a:xfrm rot="5400000">
            <a:off x="3954872" y="3826542"/>
            <a:ext cx="408768" cy="339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38" name="순서도: 자기 디스크 137"/>
          <p:cNvSpPr/>
          <p:nvPr/>
        </p:nvSpPr>
        <p:spPr>
          <a:xfrm>
            <a:off x="3080792" y="3682352"/>
            <a:ext cx="612108" cy="39472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b="1" dirty="0" smtClean="0">
                <a:solidFill>
                  <a:schemeClr val="tx1"/>
                </a:solidFill>
                <a:latin typeface="+mn-ea"/>
              </a:rPr>
              <a:t>경</a:t>
            </a:r>
            <a:r>
              <a:rPr lang="ko-KR" altLang="en-US" sz="700" b="1" dirty="0">
                <a:solidFill>
                  <a:schemeClr val="tx1"/>
                </a:solidFill>
                <a:latin typeface="+mn-ea"/>
              </a:rPr>
              <a:t>험</a:t>
            </a:r>
            <a:r>
              <a:rPr lang="ko-KR" altLang="en-US" sz="700" b="1" dirty="0" smtClean="0">
                <a:solidFill>
                  <a:schemeClr val="tx1"/>
                </a:solidFill>
                <a:latin typeface="+mn-ea"/>
              </a:rPr>
              <a:t>적 </a:t>
            </a:r>
            <a:endParaRPr lang="en-US" altLang="ko-KR" sz="700" b="1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700" b="1" dirty="0" smtClean="0">
                <a:solidFill>
                  <a:schemeClr val="tx1"/>
                </a:solidFill>
                <a:latin typeface="+mn-ea"/>
              </a:rPr>
              <a:t>항생제 </a:t>
            </a:r>
            <a:r>
              <a:rPr lang="en-US" altLang="ko-KR" sz="700" b="1" dirty="0" smtClean="0">
                <a:solidFill>
                  <a:schemeClr val="tx1"/>
                </a:solidFill>
                <a:latin typeface="+mn-ea"/>
              </a:rPr>
              <a:t>DB</a:t>
            </a:r>
            <a:endParaRPr lang="ko-KR" altLang="en-US" sz="700" b="1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0" name="꺾인 연결선[E] 272"/>
          <p:cNvCxnSpPr>
            <a:stCxn id="138" idx="3"/>
            <a:endCxn id="132" idx="1"/>
          </p:cNvCxnSpPr>
          <p:nvPr/>
        </p:nvCxnSpPr>
        <p:spPr bwMode="auto">
          <a:xfrm rot="16200000" flipH="1">
            <a:off x="3482184" y="3981734"/>
            <a:ext cx="144639" cy="335314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178" name="꺾인 연결선[E] 272"/>
          <p:cNvCxnSpPr>
            <a:stCxn id="174" idx="3"/>
            <a:endCxn id="132" idx="1"/>
          </p:cNvCxnSpPr>
          <p:nvPr/>
        </p:nvCxnSpPr>
        <p:spPr bwMode="auto">
          <a:xfrm flipV="1">
            <a:off x="3232626" y="4221711"/>
            <a:ext cx="489534" cy="575442"/>
          </a:xfrm>
          <a:prstGeom prst="bentConnector3">
            <a:avLst>
              <a:gd name="adj1" fmla="val 27948"/>
            </a:avLst>
          </a:prstGeom>
          <a:solidFill>
            <a:schemeClr val="bg1"/>
          </a:solidFill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grpSp>
        <p:nvGrpSpPr>
          <p:cNvPr id="69" name="그룹 68"/>
          <p:cNvGrpSpPr/>
          <p:nvPr/>
        </p:nvGrpSpPr>
        <p:grpSpPr>
          <a:xfrm>
            <a:off x="1280592" y="2563872"/>
            <a:ext cx="2441569" cy="2881352"/>
            <a:chOff x="1280592" y="2563872"/>
            <a:chExt cx="2441569" cy="3092109"/>
          </a:xfrm>
        </p:grpSpPr>
        <p:cxnSp>
          <p:nvCxnSpPr>
            <p:cNvPr id="310" name="직선 연결선 309"/>
            <p:cNvCxnSpPr>
              <a:stCxn id="7" idx="1"/>
            </p:cNvCxnSpPr>
            <p:nvPr/>
          </p:nvCxnSpPr>
          <p:spPr>
            <a:xfrm flipH="1" flipV="1">
              <a:off x="1280592" y="2563872"/>
              <a:ext cx="210904" cy="48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6" name="직선 연결선 205"/>
            <p:cNvCxnSpPr/>
            <p:nvPr/>
          </p:nvCxnSpPr>
          <p:spPr>
            <a:xfrm flipV="1">
              <a:off x="1280592" y="2567061"/>
              <a:ext cx="0" cy="308892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0" name="직선 연결선 209"/>
            <p:cNvCxnSpPr/>
            <p:nvPr/>
          </p:nvCxnSpPr>
          <p:spPr>
            <a:xfrm>
              <a:off x="1280592" y="5655981"/>
              <a:ext cx="2160240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3" name="직선 연결선 212"/>
            <p:cNvCxnSpPr/>
            <p:nvPr/>
          </p:nvCxnSpPr>
          <p:spPr>
            <a:xfrm>
              <a:off x="3440832" y="4437112"/>
              <a:ext cx="0" cy="1218869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8" name="직선 연결선 217"/>
            <p:cNvCxnSpPr/>
            <p:nvPr/>
          </p:nvCxnSpPr>
          <p:spPr>
            <a:xfrm>
              <a:off x="3440832" y="4437112"/>
              <a:ext cx="281329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56" name="다이아몬드 255"/>
          <p:cNvSpPr/>
          <p:nvPr/>
        </p:nvSpPr>
        <p:spPr>
          <a:xfrm>
            <a:off x="3728944" y="4653136"/>
            <a:ext cx="864016" cy="482886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추천 항생제</a:t>
            </a:r>
            <a:endParaRPr kumimoji="1" lang="en-US" altLang="ko-KR" sz="700" kern="0" dirty="0" smtClean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존재</a:t>
            </a:r>
            <a:endParaRPr kumimoji="1" lang="ko-KR" altLang="en-US" sz="700" kern="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257" name="순서도: 대체 처리 256"/>
          <p:cNvSpPr/>
          <p:nvPr/>
        </p:nvSpPr>
        <p:spPr>
          <a:xfrm>
            <a:off x="3722159" y="5373216"/>
            <a:ext cx="870802" cy="37817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b="1" dirty="0" smtClean="0">
                <a:solidFill>
                  <a:schemeClr val="tx2"/>
                </a:solidFill>
                <a:latin typeface="+mn-ea"/>
              </a:rPr>
              <a:t>대상항생제 선정</a:t>
            </a:r>
            <a:endParaRPr lang="en-US" altLang="ko-KR" sz="800" b="1" dirty="0" smtClean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③ 감수성 결과</a:t>
            </a:r>
            <a:r>
              <a:rPr lang="en-US" altLang="ko-KR" sz="600" b="1" dirty="0" smtClean="0">
                <a:solidFill>
                  <a:schemeClr val="tx2"/>
                </a:solidFill>
                <a:latin typeface="+mn-ea"/>
              </a:rPr>
              <a:t>)</a:t>
            </a:r>
            <a:endParaRPr lang="ko-KR" altLang="en-US" sz="6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3970288" y="5157192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N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259" name="꺾인 연결선[E] 272"/>
          <p:cNvCxnSpPr>
            <a:stCxn id="256" idx="2"/>
            <a:endCxn id="257" idx="0"/>
          </p:cNvCxnSpPr>
          <p:nvPr/>
        </p:nvCxnSpPr>
        <p:spPr bwMode="auto">
          <a:xfrm rot="5400000">
            <a:off x="4040659" y="5252923"/>
            <a:ext cx="237194" cy="339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60" name="꺾인 연결선[E] 272"/>
          <p:cNvCxnSpPr>
            <a:stCxn id="132" idx="2"/>
            <a:endCxn id="256" idx="0"/>
          </p:cNvCxnSpPr>
          <p:nvPr/>
        </p:nvCxnSpPr>
        <p:spPr bwMode="auto">
          <a:xfrm rot="16200000" flipH="1">
            <a:off x="4038088" y="4530271"/>
            <a:ext cx="242337" cy="339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61" name="꺾인 연결선[E] 272"/>
          <p:cNvCxnSpPr>
            <a:stCxn id="256" idx="3"/>
            <a:endCxn id="148" idx="1"/>
          </p:cNvCxnSpPr>
          <p:nvPr/>
        </p:nvCxnSpPr>
        <p:spPr bwMode="auto">
          <a:xfrm flipV="1">
            <a:off x="4592960" y="3611306"/>
            <a:ext cx="814999" cy="1283273"/>
          </a:xfrm>
          <a:prstGeom prst="bentConnector3">
            <a:avLst>
              <a:gd name="adj1" fmla="val 39966"/>
            </a:avLst>
          </a:prstGeom>
          <a:solidFill>
            <a:schemeClr val="bg1"/>
          </a:solidFill>
          <a:ln w="63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262" name="직사각형 261"/>
          <p:cNvSpPr/>
          <p:nvPr/>
        </p:nvSpPr>
        <p:spPr>
          <a:xfrm>
            <a:off x="4548130" y="4728956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Y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263" name="순서도: 자기 디스크 262"/>
          <p:cNvSpPr/>
          <p:nvPr/>
        </p:nvSpPr>
        <p:spPr>
          <a:xfrm>
            <a:off x="2648744" y="5805264"/>
            <a:ext cx="612108" cy="39472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700" b="1" dirty="0" smtClean="0">
                <a:solidFill>
                  <a:schemeClr val="tx1"/>
                </a:solidFill>
                <a:latin typeface="+mn-ea"/>
              </a:rPr>
              <a:t>General Dose</a:t>
            </a: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+mn-ea"/>
              </a:rPr>
              <a:t>항생제 </a:t>
            </a:r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DB</a:t>
            </a:r>
            <a:endParaRPr lang="ko-KR" altLang="en-US" sz="700" b="1" dirty="0" smtClean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74" name="그룹 273"/>
          <p:cNvGrpSpPr/>
          <p:nvPr/>
        </p:nvGrpSpPr>
        <p:grpSpPr>
          <a:xfrm>
            <a:off x="1208584" y="2563872"/>
            <a:ext cx="2513577" cy="3097376"/>
            <a:chOff x="1280592" y="2563872"/>
            <a:chExt cx="2442175" cy="3169384"/>
          </a:xfrm>
        </p:grpSpPr>
        <p:cxnSp>
          <p:nvCxnSpPr>
            <p:cNvPr id="275" name="직선 연결선 274"/>
            <p:cNvCxnSpPr/>
            <p:nvPr/>
          </p:nvCxnSpPr>
          <p:spPr>
            <a:xfrm flipH="1" flipV="1">
              <a:off x="1280592" y="2563872"/>
              <a:ext cx="210904" cy="48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6" name="직선 연결선 275"/>
            <p:cNvCxnSpPr/>
            <p:nvPr/>
          </p:nvCxnSpPr>
          <p:spPr>
            <a:xfrm flipV="1">
              <a:off x="1280592" y="2567060"/>
              <a:ext cx="0" cy="3166196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" name="직선 연결선 276"/>
            <p:cNvCxnSpPr/>
            <p:nvPr/>
          </p:nvCxnSpPr>
          <p:spPr>
            <a:xfrm>
              <a:off x="1280592" y="5733256"/>
              <a:ext cx="2442175" cy="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284" name="꺾인 연결선[E] 272"/>
          <p:cNvCxnSpPr>
            <a:stCxn id="263" idx="4"/>
          </p:cNvCxnSpPr>
          <p:nvPr/>
        </p:nvCxnSpPr>
        <p:spPr bwMode="auto">
          <a:xfrm flipV="1">
            <a:off x="3260852" y="5661248"/>
            <a:ext cx="468092" cy="341376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322" name="꺾인 연결선[E] 272"/>
          <p:cNvCxnSpPr>
            <a:stCxn id="90" idx="2"/>
            <a:endCxn id="257" idx="1"/>
          </p:cNvCxnSpPr>
          <p:nvPr/>
        </p:nvCxnSpPr>
        <p:spPr bwMode="auto">
          <a:xfrm rot="16200000" flipH="1">
            <a:off x="2637310" y="4477455"/>
            <a:ext cx="425153" cy="1744546"/>
          </a:xfrm>
          <a:prstGeom prst="bentConnector2">
            <a:avLst/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328" name="다이아몬드 327"/>
          <p:cNvSpPr/>
          <p:nvPr/>
        </p:nvSpPr>
        <p:spPr>
          <a:xfrm>
            <a:off x="3728944" y="5926791"/>
            <a:ext cx="864016" cy="350779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727272"/>
            </a:solidFill>
            <a:miter lim="800000"/>
            <a:headEnd/>
            <a:tailEnd/>
          </a:ln>
          <a:effectLst/>
        </p:spPr>
        <p:txBody>
          <a:bodyPr wrap="none" lIns="97274" tIns="48637" rIns="97274" bIns="48637" rtlCol="0" anchor="ctr"/>
          <a:lstStyle/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추천 항생제</a:t>
            </a:r>
            <a:endParaRPr kumimoji="1" lang="en-US" altLang="ko-KR" sz="700" kern="0" dirty="0" smtClean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  <a:p>
            <a:pPr algn="ctr" defTabSz="972739" eaLnBrk="0" hangingPunct="0"/>
            <a:r>
              <a:rPr kumimoji="1" lang="ko-KR" altLang="en-US" sz="700" kern="0" dirty="0" smtClean="0">
                <a:solidFill>
                  <a:srgbClr val="000000"/>
                </a:solidFill>
                <a:latin typeface="Malgun Gothic" charset="-127"/>
                <a:ea typeface="Malgun Gothic" charset="-127"/>
                <a:cs typeface="Malgun Gothic" charset="-127"/>
              </a:rPr>
              <a:t>존재</a:t>
            </a:r>
            <a:endParaRPr kumimoji="1" lang="ko-KR" altLang="en-US" sz="700" kern="0" dirty="0">
              <a:solidFill>
                <a:srgbClr val="000000"/>
              </a:solidFill>
              <a:latin typeface="Malgun Gothic" charset="-127"/>
              <a:ea typeface="Malgun Gothic" charset="-127"/>
              <a:cs typeface="Malgun Gothic" charset="-127"/>
            </a:endParaRPr>
          </a:p>
        </p:txBody>
      </p:sp>
      <p:cxnSp>
        <p:nvCxnSpPr>
          <p:cNvPr id="329" name="꺾인 연결선[E] 272"/>
          <p:cNvCxnSpPr>
            <a:stCxn id="257" idx="2"/>
            <a:endCxn id="328" idx="0"/>
          </p:cNvCxnSpPr>
          <p:nvPr/>
        </p:nvCxnSpPr>
        <p:spPr bwMode="auto">
          <a:xfrm rot="16200000" flipH="1">
            <a:off x="4071557" y="5837396"/>
            <a:ext cx="175398" cy="339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332" name="직사각형 331"/>
          <p:cNvSpPr/>
          <p:nvPr/>
        </p:nvSpPr>
        <p:spPr>
          <a:xfrm>
            <a:off x="4620138" y="5893241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Y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sp>
        <p:nvSpPr>
          <p:cNvPr id="333" name="순서도: 연결자 332"/>
          <p:cNvSpPr/>
          <p:nvPr/>
        </p:nvSpPr>
        <p:spPr>
          <a:xfrm>
            <a:off x="5061056" y="5949280"/>
            <a:ext cx="396000" cy="36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추천</a:t>
            </a:r>
            <a:endParaRPr lang="en-US" altLang="ko-KR" sz="600" b="1" dirty="0" smtClean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항생제</a:t>
            </a:r>
            <a:endParaRPr lang="en-US" altLang="ko-KR" sz="600" b="1" dirty="0" smtClean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600" b="1" dirty="0" smtClean="0">
                <a:solidFill>
                  <a:schemeClr val="tx2"/>
                </a:solidFill>
                <a:latin typeface="+mn-ea"/>
              </a:rPr>
              <a:t>없음</a:t>
            </a:r>
            <a:endParaRPr lang="ko-KR" altLang="en-US" sz="600" b="1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334" name="꺾인 연결선[E] 272"/>
          <p:cNvCxnSpPr>
            <a:stCxn id="328" idx="2"/>
            <a:endCxn id="333" idx="3"/>
          </p:cNvCxnSpPr>
          <p:nvPr/>
        </p:nvCxnSpPr>
        <p:spPr bwMode="auto">
          <a:xfrm rot="5400000" flipH="1" flipV="1">
            <a:off x="4629494" y="5788016"/>
            <a:ext cx="21011" cy="958097"/>
          </a:xfrm>
          <a:prstGeom prst="bentConnector3">
            <a:avLst>
              <a:gd name="adj1" fmla="val -543810"/>
            </a:avLst>
          </a:prstGeom>
          <a:solidFill>
            <a:schemeClr val="bg1"/>
          </a:solidFill>
          <a:ln w="635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338" name="직사각형 337"/>
          <p:cNvSpPr/>
          <p:nvPr/>
        </p:nvSpPr>
        <p:spPr>
          <a:xfrm>
            <a:off x="4578828" y="6237312"/>
            <a:ext cx="260854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 dirty="0" smtClean="0">
                <a:latin typeface="Malgun Gothic" charset="-127"/>
                <a:ea typeface="Malgun Gothic" charset="-127"/>
                <a:cs typeface="Malgun Gothic" charset="-127"/>
              </a:rPr>
              <a:t>N</a:t>
            </a:r>
            <a:endParaRPr lang="en-US" altLang="ko-KR" sz="700" dirty="0">
              <a:latin typeface="Malgun Gothic" charset="-127"/>
              <a:ea typeface="Malgun Gothic" charset="-127"/>
              <a:cs typeface="Malgun Gothic" charset="-127"/>
            </a:endParaRPr>
          </a:p>
        </p:txBody>
      </p:sp>
      <p:grpSp>
        <p:nvGrpSpPr>
          <p:cNvPr id="349" name="그룹 348"/>
          <p:cNvGrpSpPr/>
          <p:nvPr/>
        </p:nvGrpSpPr>
        <p:grpSpPr>
          <a:xfrm>
            <a:off x="4592960" y="3710090"/>
            <a:ext cx="814999" cy="2383205"/>
            <a:chOff x="3163619" y="5722505"/>
            <a:chExt cx="559148" cy="1895274"/>
          </a:xfrm>
        </p:grpSpPr>
        <p:cxnSp>
          <p:nvCxnSpPr>
            <p:cNvPr id="350" name="직선 연결선 349"/>
            <p:cNvCxnSpPr>
              <a:endCxn id="257" idx="3"/>
            </p:cNvCxnSpPr>
            <p:nvPr/>
          </p:nvCxnSpPr>
          <p:spPr>
            <a:xfrm flipH="1">
              <a:off x="3163619" y="7617778"/>
              <a:ext cx="279851" cy="1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1" name="직선 연결선 350"/>
            <p:cNvCxnSpPr/>
            <p:nvPr/>
          </p:nvCxnSpPr>
          <p:spPr>
            <a:xfrm flipV="1">
              <a:off x="3443193" y="5722505"/>
              <a:ext cx="0" cy="1895274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2" name="직선 연결선 351"/>
            <p:cNvCxnSpPr/>
            <p:nvPr/>
          </p:nvCxnSpPr>
          <p:spPr>
            <a:xfrm>
              <a:off x="3443193" y="5729608"/>
              <a:ext cx="279574" cy="3648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53" name="그룹 352"/>
          <p:cNvGrpSpPr/>
          <p:nvPr/>
        </p:nvGrpSpPr>
        <p:grpSpPr>
          <a:xfrm>
            <a:off x="4586926" y="3390788"/>
            <a:ext cx="814999" cy="117962"/>
            <a:chOff x="3163619" y="5612549"/>
            <a:chExt cx="559148" cy="120707"/>
          </a:xfrm>
        </p:grpSpPr>
        <p:cxnSp>
          <p:nvCxnSpPr>
            <p:cNvPr id="354" name="직선 연결선 353"/>
            <p:cNvCxnSpPr/>
            <p:nvPr/>
          </p:nvCxnSpPr>
          <p:spPr>
            <a:xfrm flipH="1">
              <a:off x="3163619" y="5612549"/>
              <a:ext cx="279851" cy="1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5" name="직선 연결선 354"/>
            <p:cNvCxnSpPr/>
            <p:nvPr/>
          </p:nvCxnSpPr>
          <p:spPr>
            <a:xfrm flipV="1">
              <a:off x="3443193" y="5612549"/>
              <a:ext cx="0" cy="117059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6" name="직선 연결선 355"/>
            <p:cNvCxnSpPr/>
            <p:nvPr/>
          </p:nvCxnSpPr>
          <p:spPr>
            <a:xfrm>
              <a:off x="3443193" y="5729608"/>
              <a:ext cx="279574" cy="3648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50" name="그룹 149"/>
          <p:cNvGrpSpPr/>
          <p:nvPr/>
        </p:nvGrpSpPr>
        <p:grpSpPr>
          <a:xfrm>
            <a:off x="7791374" y="5164631"/>
            <a:ext cx="1410098" cy="907557"/>
            <a:chOff x="7791374" y="5164631"/>
            <a:chExt cx="1410098" cy="907557"/>
          </a:xfrm>
        </p:grpSpPr>
        <p:grpSp>
          <p:nvGrpSpPr>
            <p:cNvPr id="173" name="그룹 172"/>
            <p:cNvGrpSpPr/>
            <p:nvPr/>
          </p:nvGrpSpPr>
          <p:grpSpPr>
            <a:xfrm>
              <a:off x="7791374" y="5164631"/>
              <a:ext cx="1410098" cy="907557"/>
              <a:chOff x="6457552" y="4745227"/>
              <a:chExt cx="1410098" cy="907557"/>
            </a:xfrm>
          </p:grpSpPr>
          <p:sp>
            <p:nvSpPr>
              <p:cNvPr id="168" name="직사각형 167"/>
              <p:cNvSpPr/>
              <p:nvPr/>
            </p:nvSpPr>
            <p:spPr>
              <a:xfrm>
                <a:off x="6457552" y="4745227"/>
                <a:ext cx="1410098" cy="148079"/>
              </a:xfrm>
              <a:prstGeom prst="rect">
                <a:avLst/>
              </a:prstGeom>
              <a:solidFill>
                <a:srgbClr val="FF9933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smtClean="0">
                    <a:solidFill>
                      <a:schemeClr val="bg1"/>
                    </a:solidFill>
                    <a:latin typeface="+mn-ea"/>
                  </a:rPr>
                  <a:t>3A </a:t>
                </a:r>
                <a:r>
                  <a:rPr lang="ko-KR" altLang="en-US" sz="800" b="1" dirty="0" smtClean="0">
                    <a:solidFill>
                      <a:schemeClr val="bg1"/>
                    </a:solidFill>
                    <a:latin typeface="+mn-ea"/>
                  </a:rPr>
                  <a:t>화면</a:t>
                </a:r>
              </a:p>
            </p:txBody>
          </p:sp>
          <p:sp>
            <p:nvSpPr>
              <p:cNvPr id="217" name="직사각형 216"/>
              <p:cNvSpPr/>
              <p:nvPr/>
            </p:nvSpPr>
            <p:spPr>
              <a:xfrm>
                <a:off x="6457552" y="4897657"/>
                <a:ext cx="1410098" cy="755127"/>
              </a:xfrm>
              <a:prstGeom prst="rect">
                <a:avLst/>
              </a:prstGeom>
              <a:solidFill>
                <a:srgbClr val="FF9933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b="1" dirty="0" smtClean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536"/>
            <a:stretch/>
          </p:blipFill>
          <p:spPr bwMode="auto">
            <a:xfrm>
              <a:off x="7803356" y="5334047"/>
              <a:ext cx="1388269" cy="725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0" name="TextBox 99"/>
          <p:cNvSpPr txBox="1"/>
          <p:nvPr/>
        </p:nvSpPr>
        <p:spPr>
          <a:xfrm>
            <a:off x="1667815" y="2177969"/>
            <a:ext cx="416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1.2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219940" y="2357049"/>
            <a:ext cx="416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4.1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901756" y="3018483"/>
            <a:ext cx="416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4.3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515960" y="3610622"/>
            <a:ext cx="416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4.2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219940" y="3620292"/>
            <a:ext cx="416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4.4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2771545" y="5754962"/>
            <a:ext cx="4163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4.5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896363" y="3239871"/>
            <a:ext cx="258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7896363" y="4206280"/>
            <a:ext cx="258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9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020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526382" y="2786063"/>
            <a:ext cx="6853237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10000"/>
              </a:lnSpc>
              <a:buClr>
                <a:srgbClr val="A50021"/>
              </a:buClr>
              <a:buSzPct val="85000"/>
              <a:buChar char="•"/>
              <a:defRPr sz="1600" b="1">
                <a:solidFill>
                  <a:schemeClr val="tx1"/>
                </a:solidFill>
                <a:latin typeface="Tahoma" pitchFamily="34" charset="0"/>
                <a:ea typeface="맑은 고딕" pitchFamily="50" charset="-127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SzPct val="40000"/>
              <a:buFont typeface="Wingdings" pitchFamily="2" charset="2"/>
              <a:buChar char="–"/>
              <a:defRPr sz="16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SzPct val="45000"/>
              <a:buFont typeface="Symbol" pitchFamily="18" charset="2"/>
              <a:buChar char="¾"/>
              <a:defRPr sz="16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SzPct val="40000"/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har char="»"/>
              <a:defRPr sz="1600" b="1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1600" b="1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hangingPunct="1">
              <a:lnSpc>
                <a:spcPct val="120000"/>
              </a:lnSpc>
              <a:buClrTx/>
              <a:buSzTx/>
              <a:buFontTx/>
              <a:buNone/>
            </a:pPr>
            <a:r>
              <a:rPr kumimoji="1" lang="en-US" altLang="ko-KR" sz="3200" b="0" dirty="0" smtClean="0">
                <a:solidFill>
                  <a:srgbClr val="000000"/>
                </a:solidFill>
                <a:latin typeface="Cambria" panose="02040503050406030204" pitchFamily="18" charset="0"/>
                <a:ea typeface="+mn-ea"/>
                <a:cs typeface="Tahoma" pitchFamily="34" charset="0"/>
              </a:rPr>
              <a:t>End of Document</a:t>
            </a:r>
            <a:endParaRPr kumimoji="1" lang="ko-KR" altLang="en-US" sz="3200" b="0" dirty="0">
              <a:solidFill>
                <a:srgbClr val="000000"/>
              </a:solidFill>
              <a:latin typeface="Cambria" panose="02040503050406030204" pitchFamily="18" charset="0"/>
              <a:ea typeface="+mn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999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276125"/>
              </p:ext>
            </p:extLst>
          </p:nvPr>
        </p:nvGraphicFramePr>
        <p:xfrm>
          <a:off x="273050" y="188910"/>
          <a:ext cx="9427052" cy="6483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1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672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사양서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8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</a:t>
                      </a:r>
                      <a:r>
                        <a:rPr 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/>
                      <a:r>
                        <a:rPr lang="en-US" sz="8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AntibioticService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항생제추천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8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Package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/>
                      <a:r>
                        <a:rPr 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com.aibril.antibiotics.ana.service.AntibioticService.java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2018.08.10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8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METHOD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호출프로그램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Entity</a:t>
                      </a:r>
                      <a:r>
                        <a:rPr lang="en-US" altLang="ko-KR" sz="8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</a:t>
                      </a:r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0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getAntibiotics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1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800" b="1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감수성 결과 </a:t>
                      </a:r>
                      <a:r>
                        <a:rPr lang="en-US" altLang="ko-KR" sz="800" b="1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  </a:t>
                      </a:r>
                      <a:r>
                        <a:rPr lang="ko-KR" altLang="en-US" sz="800" b="1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 세팅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MDR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추정 적용 여부 판단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 (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MdrAppYn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== True)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THEN (</a:t>
                      </a:r>
                      <a:r>
                        <a:rPr lang="ko-KR" alt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원인균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s.aureus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+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항생제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Oxacillin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+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'R') record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isEmpiricalAntibioticYn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 True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1.2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선택적항생제일 경우 감수성테스결과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R,I,+/S,-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DAO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호출하여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microTest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항생제코드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mapping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-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microTest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있는 항생제와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cls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subcls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같은 항생제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 ESBL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여부 세팅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IF( ( B10106E00027 | B10106E00027)  &amp;&amp; (R|I|+) ) THEN (ESBL=True)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endParaRPr lang="en-US" altLang="ko-KR" sz="800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1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</a:t>
                      </a:r>
                      <a:r>
                        <a:rPr lang="ko-KR" altLang="en-US" sz="800" b="1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환자기본정보 세팅</a:t>
                      </a:r>
                      <a:endParaRPr lang="en-US" altLang="ko-KR" sz="800" b="1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endParaRPr lang="ko-KR" altLang="en-US" sz="800" b="1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1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IF </a:t>
                      </a:r>
                      <a:r>
                        <a:rPr lang="en-US" altLang="ko-KR" sz="800" b="1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isEmpiricalAntibioticYn</a:t>
                      </a:r>
                      <a:r>
                        <a:rPr lang="en-US" altLang="ko-KR" sz="800" b="1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THEN </a:t>
                      </a:r>
                      <a:r>
                        <a:rPr lang="ko-KR" altLang="en-US" sz="800" b="1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경험적항생제추천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경험적 항생제 추천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SQL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소아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성인구분하여 용량대체구분자 세팅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3.2.1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소아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신기능이상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(CR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세팅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나이조건없이 </a:t>
                      </a:r>
                      <a:r>
                        <a:rPr lang="ko-KR" alt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추천됐을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경우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(CG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세팅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3.2.2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성인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신기능이상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(GR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concat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세팅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IF !</a:t>
                      </a:r>
                      <a:r>
                        <a:rPr lang="en-US" altLang="ko-KR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isEmpiricalAntibioticYn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THEN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선택적항생제추천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소아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감수성결과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'S'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한 개도 없으면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 RETURN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(-&gt;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소아는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항생제 계열에서 추천 가능하므로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4.2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선택적 항생제 추천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 SQL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-SCPT_TEM_DVSN_CD(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감수성항목구분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무시하고 질환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균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감수성항생제 맞는 건 조회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소아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IN 'S' /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NOT IN 'R')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4.3 SCPT_TEM_DVSN_CD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alrg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맞는 항생제만 다시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4.4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질환별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dose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추천건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없을경우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emperical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재조회</a:t>
                      </a:r>
                      <a:endParaRPr lang="ko-KR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경험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Dose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감수성 결과 반영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소아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IN 'S' /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성인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NOT IN 'R')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 </a:t>
                      </a:r>
                      <a:r>
                        <a:rPr 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AnaUtil.FindAnctiBackCdFromClass</a:t>
                      </a:r>
                      <a:endParaRPr lang="en-US" sz="800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 </a:t>
                      </a:r>
                      <a:r>
                        <a:rPr 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DescisionBase.esblYn</a:t>
                      </a:r>
                      <a:endParaRPr lang="en-US" sz="800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DescisionBase.calcAll</a:t>
                      </a:r>
                      <a:endParaRPr lang="en-US" sz="800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 Empr_Normal_Dose.xml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4.2 Diag_Normal_Dose.xml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4.3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this.selectIgrdDose</a:t>
                      </a:r>
                      <a:endParaRPr lang="en-US" altLang="ko-KR" sz="800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4.4 Empr_After_Diag_Dose.xml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3.1 </a:t>
                      </a:r>
                      <a:r>
                        <a:rPr lang="en-US" altLang="ko-KR" sz="800" u="none" strike="noStrike" kern="1200" noProof="0" dirty="0" smtClean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CA_EMPR_ANTB_ADMN_DT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kern="1200" noProof="0" dirty="0" smtClean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4.2 CA_DIAG_DS_ADMN_MT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kern="1200" noProof="0" dirty="0" smtClean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4.4 CA_EMPR_ANTB_ADMN_DT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654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851094"/>
              </p:ext>
            </p:extLst>
          </p:nvPr>
        </p:nvGraphicFramePr>
        <p:xfrm>
          <a:off x="273050" y="188911"/>
          <a:ext cx="9427052" cy="6416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426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사양서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5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</a:t>
                      </a:r>
                      <a:r>
                        <a:rPr 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/>
                      <a:r>
                        <a:rPr lang="en-US" sz="8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AntibioticService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항생제추천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1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Package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/>
                      <a:r>
                        <a:rPr 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com.aibril.antibiotics.ana.service.AntibioticService.java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2018.08.10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1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METHOD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호출프로그램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Entity</a:t>
                      </a:r>
                      <a:r>
                        <a:rPr lang="en-US" altLang="ko-KR" sz="8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</a:t>
                      </a:r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6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getAntibiotics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4.5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경험적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dose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추천건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없을경우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general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재조회</a:t>
                      </a:r>
                      <a:endParaRPr lang="ko-KR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성인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General_Normal_Dose.getGeneralDose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-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소아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Pediatric_Normal_Dose.getPediatricDose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소아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성인구분하여 용량대체구분자 세팅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성인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calcAdultCrcl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&lt; 90 THEN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신기능이상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(GR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세팅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-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소아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calcChildCrcl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&lt; 50 THEN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신기능이상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(CR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세팅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용량대체구분자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 null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용량대체하여 세팅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endParaRPr lang="ko-KR" alt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단위용량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계산하여 결과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세팅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endParaRPr lang="ko-KR" alt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7.GENERAL DOSE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 경우 상위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개는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Preferred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나머지는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Alternative 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주의사항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약제상호작용 정보 세팅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this.setDoseVlmReplace</a:t>
                      </a:r>
                      <a:endParaRPr lang="en-US" altLang="ko-KR" sz="800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this.setOrderRecommendVO</a:t>
                      </a:r>
                      <a:endParaRPr lang="en-US" altLang="ko-KR" sz="800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this.addAdditionalInfo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59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selectIgrdDose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감수성결과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일치하는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추천항생제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찾기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ScptItemDvsnCd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ATB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항생제 성분</a:t>
                      </a:r>
                      <a:b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ScptItemDvsnCd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ATB_C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항생제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</a:t>
                      </a:r>
                      <a:b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ScptItemDvsnCd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MDR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항생제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MDR true/false</a:t>
                      </a:r>
                      <a:b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비교하여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항목검사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4.3.2.1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순으로 유효한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먼저 세팅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microTest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맞는 추천 없으면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ScptItemDvsnCd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NULL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 것만 세팅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알러지체크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알러지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항목과 일치하는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record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있으면 해당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row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final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객체에 담기</a:t>
                      </a:r>
                      <a:b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없을 경우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tmp5SlctDVOs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객체에서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antbAlrgCtn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NULL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 것만 세팅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AnaUtil.getMicroHashmap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579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051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438990"/>
              </p:ext>
            </p:extLst>
          </p:nvPr>
        </p:nvGraphicFramePr>
        <p:xfrm>
          <a:off x="273050" y="188910"/>
          <a:ext cx="9427052" cy="63593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4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238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프로그램 사양서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5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프로그램</a:t>
                      </a:r>
                      <a:r>
                        <a:rPr lang="en-US" sz="800" u="none" strike="noStrike" dirty="0">
                          <a:effectLst/>
                          <a:latin typeface="+mj-ea"/>
                          <a:ea typeface="+mj-ea"/>
                        </a:rPr>
                        <a:t>ID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/>
                      <a:r>
                        <a:rPr lang="en-US" sz="800" u="none" strike="noStrike" dirty="0" err="1">
                          <a:effectLst/>
                          <a:latin typeface="+mj-ea"/>
                          <a:ea typeface="+mj-ea"/>
                        </a:rPr>
                        <a:t>AntibioticService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effectLst/>
                          <a:latin typeface="+mj-ea"/>
                          <a:ea typeface="+mj-ea"/>
                        </a:rPr>
                        <a:t>프로그램명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항생제추천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5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 smtClean="0">
                          <a:effectLst/>
                          <a:latin typeface="+mj-ea"/>
                          <a:ea typeface="+mj-ea"/>
                        </a:rPr>
                        <a:t>Package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/>
                      <a:r>
                        <a:rPr lang="en-US" sz="800" u="none" strike="noStrike" dirty="0">
                          <a:effectLst/>
                          <a:latin typeface="+mj-ea"/>
                          <a:ea typeface="+mj-ea"/>
                        </a:rPr>
                        <a:t>com.aibril.antibiotics.ana.service.AntibioticService.java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작성일자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2018.08.10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5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j-ea"/>
                          <a:ea typeface="+mj-ea"/>
                        </a:rPr>
                        <a:t>METHOD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내용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호출프로그램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j-ea"/>
                          <a:ea typeface="+mj-ea"/>
                        </a:rPr>
                        <a:t>Entity</a:t>
                      </a:r>
                      <a:r>
                        <a:rPr lang="en-US" altLang="ko-KR" sz="800" baseline="0" dirty="0" smtClean="0"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800" baseline="0" dirty="0" smtClean="0">
                          <a:latin typeface="+mj-ea"/>
                          <a:ea typeface="+mj-ea"/>
                        </a:rPr>
                        <a:t>정보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12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setDoseVlmReplace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소아</a:t>
                      </a:r>
                      <a:b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대체용량조회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DAO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  <a:b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1.1.1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 대체 </a:t>
                      </a:r>
                      <a:r>
                        <a:rPr lang="ko-KR" alt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구분자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CG|CRCG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소아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general dose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 조회</a:t>
                      </a:r>
                      <a:b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1.1.2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 대체 </a:t>
                      </a:r>
                      <a:r>
                        <a:rPr lang="ko-KR" alt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구분자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CR|CRCG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소아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general Renal dose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 조회</a:t>
                      </a:r>
                      <a:b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 renal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용량 있으면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renal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 세팅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renal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 용량 없고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general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있으면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general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 세팅</a:t>
                      </a:r>
                      <a:b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CG|CRCG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인데 </a:t>
                      </a:r>
                      <a:r>
                        <a:rPr lang="ko-KR" altLang="en-US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대체용량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조회 안됐으면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record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1.2.1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삭제하면서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combination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처방 중 하나라도 삭제된 성분 있으면 해당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combi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처방은 모두 삭제</a:t>
                      </a:r>
                      <a:endParaRPr lang="en-US" altLang="ko-KR" sz="800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성인</a:t>
                      </a:r>
                      <a:b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대체용량조회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DAO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</a:t>
                      </a:r>
                      <a:b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 GR (renal) </a:t>
                      </a:r>
                      <a:r>
                        <a:rPr lang="ko-KR" altLang="en-US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 있으면 대체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ana.getPediatricDoseVlm</a:t>
                      </a: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 </a:t>
                      </a:r>
                      <a:r>
                        <a:rPr lang="en-US" altLang="ko-KR" sz="800" u="none" strike="noStrike" dirty="0" err="1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ana.getGnrlRenalDoseVlm</a:t>
                      </a:r>
                      <a:endParaRPr lang="en-US" altLang="ko-KR" sz="800" u="none" strike="noStrike" dirty="0" smtClean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1.1 CA_GNRL_DS_CHLD_ADMN_MT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12.1 CA_GNRL_DS_RENAL_DSBL_ADMN_MT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setOrderRecommendVO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DB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 결과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outVO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세팅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용량계산을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위한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기준몸무게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세팅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IF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항생제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 == “B10600” THEN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기준무게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</a:t>
                      </a:r>
                      <a:r>
                        <a:rPr lang="en-US" altLang="ko-KR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AdjustedWeight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ELSE IF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항생제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== “B11300V00003” THEN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기준무게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 ABW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ELSE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기준무게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 IBW</a:t>
                      </a: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신장예외구분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"1"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아닌 경우만 신장이상 용량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재세팅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용량 단위에 맞게 투여 용량 다시 계산하여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세팅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579976"/>
                  </a:ext>
                </a:extLst>
              </a:tr>
              <a:tr h="11576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addAdditionalInfo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부가정보 세팅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1.1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 :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금기사항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1.2 W :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주의사항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1.2.1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투석용량을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주의사항에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Append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하여 세팅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1.3 A :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이상반응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1.4 O :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기타정보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상호작용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신장질환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ana.DrugIntactMt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lnSpc>
                          <a:spcPct val="150000"/>
                        </a:lnSpc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ana.RenalHlfMt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 CA_GNRL_DS_DRUG_INTACT_MT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3. </a:t>
                      </a:r>
                      <a:r>
                        <a:rPr kumimoji="0" lang="en-US" altLang="ko-KR" sz="800" b="0" i="0" u="none" strike="noStrike" kern="1200" cap="none" spc="0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CA_GNRL_DS_RENAL_HLF_MT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529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39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Cambria"/>
        <a:ea typeface="맑은 고딕"/>
        <a:cs typeface=""/>
      </a:majorFont>
      <a:minorFont>
        <a:latin typeface="Cambri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>
          <a:solidFill>
            <a:schemeClr val="tx1"/>
          </a:solidFill>
        </a:ln>
      </a:spPr>
      <a:bodyPr rtlCol="0" anchor="ctr"/>
      <a:lstStyle>
        <a:defPPr algn="ctr">
          <a:defRPr sz="1000" b="1" dirty="0" smtClean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34174</TotalTime>
  <Words>1679</Words>
  <Application>Microsoft Office PowerPoint</Application>
  <PresentationFormat>A4 용지(210x297mm)</PresentationFormat>
  <Paragraphs>411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가는각진제목체</vt:lpstr>
      <vt:lpstr>맑은 고딕</vt:lpstr>
      <vt:lpstr>맑은 고딕</vt:lpstr>
      <vt:lpstr>Arial</vt:lpstr>
      <vt:lpstr>Cambria</vt:lpstr>
      <vt:lpstr>Tahoma</vt:lpstr>
      <vt:lpstr>Times New Roman</vt:lpstr>
      <vt:lpstr>Wingdings</vt:lpstr>
      <vt:lpstr>Office 테마</vt:lpstr>
      <vt:lpstr> </vt:lpstr>
      <vt:lpstr>3A 경험적 항생제 추천 Flow</vt:lpstr>
      <vt:lpstr>3A 선택적 항생제 추천 Flow</vt:lpstr>
      <vt:lpstr>3A 경험적 항생제 추천 Flow</vt:lpstr>
      <vt:lpstr>3A 선택적 항생제 추천 Flow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697</cp:revision>
  <cp:lastPrinted>2018-11-21T07:32:35Z</cp:lastPrinted>
  <dcterms:created xsi:type="dcterms:W3CDTF">2017-01-20T09:13:40Z</dcterms:created>
  <dcterms:modified xsi:type="dcterms:W3CDTF">2018-11-21T07:44:38Z</dcterms:modified>
</cp:coreProperties>
</file>