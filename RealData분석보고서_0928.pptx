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7" r:id="rId2"/>
    <p:sldId id="303" r:id="rId3"/>
    <p:sldId id="285" r:id="rId4"/>
    <p:sldId id="283" r:id="rId5"/>
    <p:sldId id="278" r:id="rId6"/>
    <p:sldId id="276" r:id="rId7"/>
    <p:sldId id="279" r:id="rId8"/>
    <p:sldId id="280" r:id="rId9"/>
    <p:sldId id="293" r:id="rId10"/>
    <p:sldId id="298" r:id="rId11"/>
    <p:sldId id="289" r:id="rId12"/>
    <p:sldId id="295" r:id="rId13"/>
    <p:sldId id="302" r:id="rId14"/>
    <p:sldId id="306" r:id="rId15"/>
    <p:sldId id="305" r:id="rId16"/>
    <p:sldId id="301" r:id="rId17"/>
    <p:sldId id="304" r:id="rId18"/>
  </p:sldIdLst>
  <p:sldSz cx="9906000" cy="6858000" type="A4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96"/>
    <p:restoredTop sz="91820" autoAdjust="0"/>
  </p:normalViewPr>
  <p:slideViewPr>
    <p:cSldViewPr snapToGrid="0" snapToObjects="1" showGuides="1">
      <p:cViewPr varScale="1">
        <p:scale>
          <a:sx n="72" d="100"/>
          <a:sy n="72" d="100"/>
        </p:scale>
        <p:origin x="-96" y="-720"/>
      </p:cViewPr>
      <p:guideLst>
        <p:guide orient="horz" pos="421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6BE09-A435-4625-9B5B-9AA9257E5ED9}" type="datetimeFigureOut">
              <a:rPr lang="ko-KR" altLang="en-US" smtClean="0"/>
              <a:t>2018-09-28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123DA4-7A04-4ACB-8264-041B9D012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3225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D84170-1C29-7749-9BB7-E254B96F9D68}" type="datetimeFigureOut">
              <a:rPr lang="en-US" smtClean="0"/>
              <a:t>9/28/2018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B0CD5-2D1F-1246-91A2-38A091E88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975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B0CD5-2D1F-1246-91A2-38A091E880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94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레벨 재정리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B0CD5-2D1F-1246-91A2-38A091E880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083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행 높이 일치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B0CD5-2D1F-1246-91A2-38A091E880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10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B0CD5-2D1F-1246-91A2-38A091E8803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64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governing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다시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B0CD5-2D1F-1246-91A2-38A091E880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95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B0CD5-2D1F-1246-91A2-38A091E880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90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B0CD5-2D1F-1246-91A2-38A091E880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94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EB0CD5-2D1F-1246-91A2-38A091E880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49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 userDrawn="1"/>
        </p:nvSpPr>
        <p:spPr bwMode="gray">
          <a:xfrm>
            <a:off x="722891" y="1079377"/>
            <a:ext cx="8425260" cy="1004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198000" tIns="0" rIns="198000" bIns="0" anchor="ctr"/>
          <a:lstStyle/>
          <a:p>
            <a:pPr algn="ctr" eaLnBrk="0" hangingPunct="0">
              <a:lnSpc>
                <a:spcPct val="110000"/>
              </a:lnSpc>
              <a:spcBef>
                <a:spcPct val="0"/>
              </a:spcBef>
            </a:pPr>
            <a:endParaRPr kumimoji="0" lang="ko-KR" altLang="en-US" sz="3000" b="1" dirty="0">
              <a:latin typeface="Arial" charset="0"/>
            </a:endParaRPr>
          </a:p>
        </p:txBody>
      </p:sp>
      <p:pic>
        <p:nvPicPr>
          <p:cNvPr id="6" name="그림 5" descr="로고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9748" y="1331715"/>
            <a:ext cx="2444549" cy="1182940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 bwMode="auto">
          <a:xfrm>
            <a:off x="270136" y="2202679"/>
            <a:ext cx="9441075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sm" len="sm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315285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338" y="-13394"/>
            <a:ext cx="9517327" cy="562074"/>
          </a:xfrm>
        </p:spPr>
        <p:txBody>
          <a:bodyPr/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3"/>
          </p:nvPr>
        </p:nvSpPr>
        <p:spPr>
          <a:xfrm>
            <a:off x="193769" y="620691"/>
            <a:ext cx="9518464" cy="720751"/>
          </a:xfrm>
        </p:spPr>
        <p:txBody>
          <a:bodyPr>
            <a:normAutofit/>
          </a:bodyPr>
          <a:lstStyle>
            <a:lvl1pPr marL="0" indent="0" latinLnBrk="0">
              <a:defRPr sz="1800" b="1"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300699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777700" y="6486355"/>
            <a:ext cx="2311400" cy="365125"/>
          </a:xfrm>
        </p:spPr>
        <p:txBody>
          <a:bodyPr/>
          <a:lstStyle/>
          <a:p>
            <a:fld id="{B6DFE47B-94CE-4970-B9E9-D8C3683B0CF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326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94339" y="592088"/>
            <a:ext cx="9517327" cy="604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777700" y="6486355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fld id="{B6DFE47B-94CE-4970-B9E9-D8C3683B0CF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540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75000"/>
                  <a:lumOff val="25000"/>
                  <a:tint val="66000"/>
                  <a:satMod val="160000"/>
                </a:schemeClr>
              </a:gs>
              <a:gs pos="50000">
                <a:schemeClr val="tx1">
                  <a:lumMod val="75000"/>
                  <a:lumOff val="25000"/>
                  <a:tint val="44500"/>
                  <a:satMod val="160000"/>
                </a:schemeClr>
              </a:gs>
              <a:gs pos="100000">
                <a:schemeClr val="tx1">
                  <a:lumMod val="75000"/>
                  <a:lumOff val="25000"/>
                  <a:tint val="23500"/>
                  <a:satMod val="16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직사각형 7"/>
          <p:cNvSpPr/>
          <p:nvPr/>
        </p:nvSpPr>
        <p:spPr>
          <a:xfrm>
            <a:off x="0" y="6438602"/>
            <a:ext cx="9906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94339" y="-13394"/>
            <a:ext cx="4758663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9467" y="6476953"/>
            <a:ext cx="1031794" cy="368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8172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spcBef>
          <a:spcPct val="200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Tx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mschrei/notebooks/blob/master/MXNet%20Deep%20Matrix%20Factorization/MxNet_Deep_Matrix_Factorization.ipynb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34251" y="5715000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2018. 09. 28</a:t>
            </a:r>
            <a:endParaRPr lang="ko-KR" altLang="en-US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491351" y="3530600"/>
            <a:ext cx="291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 smtClean="0"/>
              <a:t>분 석 보 고 서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895970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AutoShape 9"/>
          <p:cNvSpPr>
            <a:spLocks noChangeArrowheads="1"/>
          </p:cNvSpPr>
          <p:nvPr/>
        </p:nvSpPr>
        <p:spPr bwMode="auto">
          <a:xfrm rot="16200000">
            <a:off x="4850191" y="4053667"/>
            <a:ext cx="4018244" cy="491869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829 w 21600"/>
              <a:gd name="T13" fmla="*/ 2829 h 21600"/>
              <a:gd name="T14" fmla="*/ 18771 w 21600"/>
              <a:gd name="T15" fmla="*/ 18771 h 21600"/>
              <a:gd name="connsiteX0" fmla="*/ 0 w 21600"/>
              <a:gd name="connsiteY0" fmla="*/ 0 h 21600"/>
              <a:gd name="connsiteX1" fmla="*/ 2057 w 21600"/>
              <a:gd name="connsiteY1" fmla="*/ 21600 h 21600"/>
              <a:gd name="connsiteX2" fmla="*/ 20193 w 21600"/>
              <a:gd name="connsiteY2" fmla="*/ 21600 h 21600"/>
              <a:gd name="connsiteX3" fmla="*/ 21600 w 21600"/>
              <a:gd name="connsiteY3" fmla="*/ 0 h 21600"/>
              <a:gd name="connsiteX4" fmla="*/ 0 w 21600"/>
              <a:gd name="connsiteY4" fmla="*/ 0 h 21600"/>
              <a:gd name="connsiteX0" fmla="*/ 0 w 21600"/>
              <a:gd name="connsiteY0" fmla="*/ 0 h 21600"/>
              <a:gd name="connsiteX1" fmla="*/ 1207 w 21600"/>
              <a:gd name="connsiteY1" fmla="*/ 21169 h 21600"/>
              <a:gd name="connsiteX2" fmla="*/ 20193 w 21600"/>
              <a:gd name="connsiteY2" fmla="*/ 21600 h 21600"/>
              <a:gd name="connsiteX3" fmla="*/ 21600 w 21600"/>
              <a:gd name="connsiteY3" fmla="*/ 0 h 21600"/>
              <a:gd name="connsiteX4" fmla="*/ 0 w 21600"/>
              <a:gd name="connsiteY4" fmla="*/ 0 h 21600"/>
              <a:gd name="connsiteX0" fmla="*/ 0 w 21600"/>
              <a:gd name="connsiteY0" fmla="*/ 0 h 22031"/>
              <a:gd name="connsiteX1" fmla="*/ 1207 w 21600"/>
              <a:gd name="connsiteY1" fmla="*/ 21169 h 22031"/>
              <a:gd name="connsiteX2" fmla="*/ 20793 w 21600"/>
              <a:gd name="connsiteY2" fmla="*/ 22031 h 22031"/>
              <a:gd name="connsiteX3" fmla="*/ 21600 w 21600"/>
              <a:gd name="connsiteY3" fmla="*/ 0 h 22031"/>
              <a:gd name="connsiteX4" fmla="*/ 0 w 21600"/>
              <a:gd name="connsiteY4" fmla="*/ 0 h 22031"/>
              <a:gd name="connsiteX0" fmla="*/ 0 w 21600"/>
              <a:gd name="connsiteY0" fmla="*/ 0 h 22031"/>
              <a:gd name="connsiteX1" fmla="*/ 907 w 21600"/>
              <a:gd name="connsiteY1" fmla="*/ 21169 h 22031"/>
              <a:gd name="connsiteX2" fmla="*/ 20793 w 21600"/>
              <a:gd name="connsiteY2" fmla="*/ 22031 h 22031"/>
              <a:gd name="connsiteX3" fmla="*/ 21600 w 21600"/>
              <a:gd name="connsiteY3" fmla="*/ 0 h 22031"/>
              <a:gd name="connsiteX4" fmla="*/ 0 w 21600"/>
              <a:gd name="connsiteY4" fmla="*/ 0 h 22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22031">
                <a:moveTo>
                  <a:pt x="0" y="0"/>
                </a:moveTo>
                <a:cubicBezTo>
                  <a:pt x="402" y="7056"/>
                  <a:pt x="505" y="14113"/>
                  <a:pt x="907" y="21169"/>
                </a:cubicBezTo>
                <a:lnTo>
                  <a:pt x="20793" y="22031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767676"/>
              </a:gs>
              <a:gs pos="100000">
                <a:srgbClr val="FFFFFF">
                  <a:alpha val="42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lIns="0" tIns="0" rIns="0" bIns="0" anchor="ctr"/>
          <a:lstStyle>
            <a:lvl1pPr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2767361" y="2290481"/>
            <a:ext cx="3852000" cy="401824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wrap="square" lIns="0" tIns="0" rIns="0" bIns="0" anchor="ctr" anchorCtr="0">
            <a:noAutofit/>
          </a:bodyPr>
          <a:lstStyle/>
          <a:p>
            <a:pPr algn="ctr"/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103" name="Rectangle 3"/>
          <p:cNvSpPr>
            <a:spLocks noChangeArrowheads="1"/>
          </p:cNvSpPr>
          <p:nvPr/>
        </p:nvSpPr>
        <p:spPr bwMode="auto">
          <a:xfrm>
            <a:off x="2775868" y="2301875"/>
            <a:ext cx="1223963" cy="4006850"/>
          </a:xfrm>
          <a:prstGeom prst="rect">
            <a:avLst/>
          </a:prstGeom>
          <a:gradFill rotWithShape="1">
            <a:gsLst>
              <a:gs pos="0">
                <a:srgbClr val="DDDDDD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4000" tIns="25200" rIns="54000" bIns="25200" anchor="ctr"/>
          <a:lstStyle>
            <a:lvl1pPr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1" i="0" u="none" strike="noStrike" kern="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87" name="AutoShape 272"/>
          <p:cNvSpPr>
            <a:spLocks noChangeArrowheads="1"/>
          </p:cNvSpPr>
          <p:nvPr/>
        </p:nvSpPr>
        <p:spPr bwMode="gray">
          <a:xfrm rot="5400000">
            <a:off x="1549775" y="3974353"/>
            <a:ext cx="1766918" cy="577092"/>
          </a:xfrm>
          <a:prstGeom prst="upArrow">
            <a:avLst>
              <a:gd name="adj1" fmla="val 60563"/>
              <a:gd name="adj2" fmla="val 56964"/>
            </a:avLst>
          </a:prstGeom>
          <a:gradFill rotWithShape="1">
            <a:gsLst>
              <a:gs pos="0">
                <a:srgbClr val="C0C0C0"/>
              </a:gs>
              <a:gs pos="100000">
                <a:srgbClr val="FFFFFF"/>
              </a:gs>
            </a:gsLst>
            <a:lin ang="5400000" scaled="1"/>
          </a:gradFill>
          <a:ln>
            <a:noFill/>
          </a:ln>
          <a:extLst/>
        </p:spPr>
        <p:txBody>
          <a:bodyPr vert="eaVert" wrap="none" lIns="101919" tIns="50960" rIns="101919" bIns="50960" anchor="ctr"/>
          <a:lstStyle/>
          <a:p>
            <a:pPr algn="ctr" latinLnBrk="0">
              <a:defRPr/>
            </a:pPr>
            <a:endParaRPr lang="ko-KR" altLang="en-US" sz="180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+mn-ea"/>
                <a:ea typeface="+mn-ea"/>
              </a:rPr>
              <a:t>프로젝트 개요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>
                <a:latin typeface="+mn-ea"/>
              </a:rPr>
              <a:pPr/>
              <a:t>2</a:t>
            </a:fld>
            <a:endParaRPr lang="ko-KR" altLang="en-US">
              <a:latin typeface="+mn-ea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>
                <a:latin typeface="+mn-ea"/>
              </a:rPr>
              <a:t>본 프로젝트는 항생제 추천을 위한 </a:t>
            </a:r>
            <a:r>
              <a:rPr lang="en-US" altLang="ko-KR" dirty="0" smtClean="0">
                <a:latin typeface="+mn-ea"/>
              </a:rPr>
              <a:t>MDR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Type</a:t>
            </a:r>
            <a:r>
              <a:rPr lang="ko-KR" altLang="en-US" dirty="0" smtClean="0">
                <a:latin typeface="+mn-ea"/>
              </a:rPr>
              <a:t>별 </a:t>
            </a:r>
            <a:r>
              <a:rPr lang="en-US" altLang="ko-KR" dirty="0" smtClean="0">
                <a:latin typeface="+mn-ea"/>
              </a:rPr>
              <a:t>Risk Factor Pool</a:t>
            </a:r>
            <a:r>
              <a:rPr lang="ko-KR" altLang="en-US" dirty="0" smtClean="0">
                <a:latin typeface="+mn-ea"/>
              </a:rPr>
              <a:t>을 도출하기 위하여</a:t>
            </a:r>
            <a:r>
              <a:rPr lang="en-US" altLang="ko-KR" dirty="0" smtClean="0">
                <a:latin typeface="+mn-ea"/>
              </a:rPr>
              <a:t>,</a:t>
            </a:r>
            <a:r>
              <a:rPr lang="ko-KR" altLang="en-US" dirty="0" smtClean="0">
                <a:latin typeface="+mn-ea"/>
              </a:rPr>
              <a:t> 모형 분석을 수행한 후</a:t>
            </a:r>
            <a:r>
              <a:rPr lang="en-US" altLang="ko-KR" dirty="0" smtClean="0">
                <a:latin typeface="+mn-ea"/>
              </a:rPr>
              <a:t>,</a:t>
            </a:r>
            <a:r>
              <a:rPr lang="ko-KR" altLang="en-US" dirty="0" smtClean="0">
                <a:latin typeface="+mn-ea"/>
              </a:rPr>
              <a:t> 그 결과로부터 </a:t>
            </a:r>
            <a:r>
              <a:rPr lang="en-US" altLang="ko-KR" dirty="0" smtClean="0">
                <a:latin typeface="+mn-ea"/>
              </a:rPr>
              <a:t>Risk Factor Pool</a:t>
            </a:r>
            <a:r>
              <a:rPr lang="ko-KR" altLang="en-US" dirty="0" smtClean="0">
                <a:latin typeface="+mn-ea"/>
              </a:rPr>
              <a:t>을 도출하였습니다</a:t>
            </a:r>
            <a:r>
              <a:rPr lang="en-US" altLang="ko-KR" dirty="0" smtClean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72" name="AutoShape 852"/>
          <p:cNvSpPr>
            <a:spLocks noChangeArrowheads="1"/>
          </p:cNvSpPr>
          <p:nvPr/>
        </p:nvSpPr>
        <p:spPr bwMode="auto">
          <a:xfrm>
            <a:off x="3730426" y="1603952"/>
            <a:ext cx="5028066" cy="291465"/>
          </a:xfrm>
          <a:prstGeom prst="bevel">
            <a:avLst>
              <a:gd name="adj" fmla="val 7935"/>
            </a:avLst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0" cap="none" spc="-8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프로젝트 수행 개요</a:t>
            </a:r>
          </a:p>
        </p:txBody>
      </p:sp>
      <p:grpSp>
        <p:nvGrpSpPr>
          <p:cNvPr id="73" name="그룹 72"/>
          <p:cNvGrpSpPr/>
          <p:nvPr/>
        </p:nvGrpSpPr>
        <p:grpSpPr>
          <a:xfrm>
            <a:off x="3503471" y="1556792"/>
            <a:ext cx="5481977" cy="403942"/>
            <a:chOff x="1839773" y="8501320"/>
            <a:chExt cx="2503627" cy="275897"/>
          </a:xfrm>
        </p:grpSpPr>
        <p:cxnSp>
          <p:nvCxnSpPr>
            <p:cNvPr id="74" name="직선 연결선 73"/>
            <p:cNvCxnSpPr/>
            <p:nvPr/>
          </p:nvCxnSpPr>
          <p:spPr>
            <a:xfrm>
              <a:off x="1839773" y="8501320"/>
              <a:ext cx="2503627" cy="0"/>
            </a:xfrm>
            <a:prstGeom prst="line">
              <a:avLst/>
            </a:prstGeom>
            <a:noFill/>
            <a:ln w="317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cxnSp>
          <p:nvCxnSpPr>
            <p:cNvPr id="78" name="직선 연결선 77"/>
            <p:cNvCxnSpPr/>
            <p:nvPr/>
          </p:nvCxnSpPr>
          <p:spPr>
            <a:xfrm>
              <a:off x="1839773" y="8777217"/>
              <a:ext cx="2503627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</p:grpSp>
      <p:sp>
        <p:nvSpPr>
          <p:cNvPr id="79" name="AutoShape 852"/>
          <p:cNvSpPr>
            <a:spLocks noChangeArrowheads="1"/>
          </p:cNvSpPr>
          <p:nvPr/>
        </p:nvSpPr>
        <p:spPr bwMode="auto">
          <a:xfrm>
            <a:off x="306388" y="1629352"/>
            <a:ext cx="1999068" cy="291465"/>
          </a:xfrm>
          <a:prstGeom prst="bevel">
            <a:avLst>
              <a:gd name="adj" fmla="val 7935"/>
            </a:avLst>
          </a:prstGeom>
          <a:noFill/>
          <a:ln>
            <a:noFill/>
          </a:ln>
          <a:effectLst/>
          <a:ex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kern="0" spc="-80" dirty="0" smtClean="0">
                <a:solidFill>
                  <a:prstClr val="black"/>
                </a:solidFill>
                <a:latin typeface="+mn-ea"/>
              </a:rPr>
              <a:t>추진배경 및 목표</a:t>
            </a:r>
            <a:endParaRPr kumimoji="0" lang="ko-KR" altLang="en-US" sz="1600" b="1" i="0" u="none" strike="noStrike" kern="0" cap="none" spc="-8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80" name="그룹 79"/>
          <p:cNvGrpSpPr/>
          <p:nvPr/>
        </p:nvGrpSpPr>
        <p:grpSpPr>
          <a:xfrm>
            <a:off x="308992" y="1556792"/>
            <a:ext cx="1996463" cy="403942"/>
            <a:chOff x="1839773" y="8501320"/>
            <a:chExt cx="2503627" cy="275897"/>
          </a:xfrm>
        </p:grpSpPr>
        <p:cxnSp>
          <p:nvCxnSpPr>
            <p:cNvPr id="81" name="직선 연결선 80"/>
            <p:cNvCxnSpPr/>
            <p:nvPr/>
          </p:nvCxnSpPr>
          <p:spPr>
            <a:xfrm>
              <a:off x="1839773" y="8501320"/>
              <a:ext cx="2503627" cy="0"/>
            </a:xfrm>
            <a:prstGeom prst="line">
              <a:avLst/>
            </a:prstGeom>
            <a:noFill/>
            <a:ln w="317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  <p:cxnSp>
          <p:nvCxnSpPr>
            <p:cNvPr id="82" name="직선 연결선 81"/>
            <p:cNvCxnSpPr/>
            <p:nvPr/>
          </p:nvCxnSpPr>
          <p:spPr>
            <a:xfrm>
              <a:off x="1839773" y="8777217"/>
              <a:ext cx="2503627" cy="0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/>
          </p:spPr>
        </p:cxnSp>
      </p:grpSp>
      <p:sp>
        <p:nvSpPr>
          <p:cNvPr id="85" name="모서리가 둥근 직사각형 84"/>
          <p:cNvSpPr/>
          <p:nvPr/>
        </p:nvSpPr>
        <p:spPr bwMode="auto">
          <a:xfrm>
            <a:off x="312664" y="2348880"/>
            <a:ext cx="1973667" cy="1727448"/>
          </a:xfrm>
          <a:prstGeom prst="roundRect">
            <a:avLst>
              <a:gd name="adj" fmla="val 4443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46800" rIns="54000" bIns="46800" anchor="ctr">
            <a:no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  <a:spcAft>
                <a:spcPts val="300"/>
              </a:spcAft>
              <a:buClr>
                <a:schemeClr val="bg2"/>
              </a:buClr>
            </a:pPr>
            <a:r>
              <a:rPr kumimoji="1" lang="en-US" altLang="ko-KR" sz="1400" b="1" dirty="0" smtClean="0">
                <a:latin typeface="+mn-ea"/>
              </a:rPr>
              <a:t>MDR</a:t>
            </a:r>
            <a:r>
              <a:rPr kumimoji="1" lang="ko-KR" altLang="en-US" sz="1400" b="1" dirty="0">
                <a:latin typeface="+mn-ea"/>
              </a:rPr>
              <a:t> </a:t>
            </a:r>
            <a:r>
              <a:rPr kumimoji="1" lang="ko-KR" altLang="en-US" sz="1400" b="1" dirty="0" smtClean="0">
                <a:latin typeface="+mn-ea"/>
              </a:rPr>
              <a:t>환자의</a:t>
            </a:r>
            <a:r>
              <a:rPr kumimoji="1" lang="en-US" altLang="ko-KR" sz="1400" b="1" dirty="0" smtClean="0">
                <a:latin typeface="+mn-ea"/>
              </a:rPr>
              <a:t/>
            </a:r>
            <a:br>
              <a:rPr kumimoji="1" lang="en-US" altLang="ko-KR" sz="1400" b="1" dirty="0" smtClean="0">
                <a:latin typeface="+mn-ea"/>
              </a:rPr>
            </a:br>
            <a:r>
              <a:rPr kumimoji="1" lang="ko-KR" altLang="en-US" sz="1400" b="1" dirty="0" smtClean="0">
                <a:latin typeface="+mn-ea"/>
              </a:rPr>
              <a:t>항생제 처방에 필요한 </a:t>
            </a:r>
            <a:r>
              <a:rPr kumimoji="1" lang="en-US" altLang="ko-KR" sz="1400" b="1" dirty="0" smtClean="0">
                <a:latin typeface="+mn-ea"/>
              </a:rPr>
              <a:t/>
            </a:r>
            <a:br>
              <a:rPr kumimoji="1" lang="en-US" altLang="ko-KR" sz="1400" b="1" dirty="0" smtClean="0">
                <a:latin typeface="+mn-ea"/>
              </a:rPr>
            </a:br>
            <a:r>
              <a:rPr kumimoji="1" lang="en-US" altLang="ko-KR" sz="1400" b="1" dirty="0" smtClean="0">
                <a:latin typeface="+mn-ea"/>
              </a:rPr>
              <a:t>Risk Factor Pool </a:t>
            </a:r>
            <a:br>
              <a:rPr kumimoji="1" lang="en-US" altLang="ko-KR" sz="1400" b="1" dirty="0" smtClean="0">
                <a:latin typeface="+mn-ea"/>
              </a:rPr>
            </a:br>
            <a:r>
              <a:rPr kumimoji="1" lang="ko-KR" altLang="en-US" sz="1400" b="1" dirty="0" smtClean="0">
                <a:latin typeface="+mn-ea"/>
              </a:rPr>
              <a:t>확보</a:t>
            </a:r>
            <a:r>
              <a:rPr kumimoji="1" lang="en-US" altLang="ko-KR" sz="1400" b="1" dirty="0" smtClean="0">
                <a:latin typeface="+mn-ea"/>
              </a:rPr>
              <a:t> </a:t>
            </a:r>
          </a:p>
        </p:txBody>
      </p:sp>
      <p:sp>
        <p:nvSpPr>
          <p:cNvPr id="86" name="모서리가 둥근 직사각형 85"/>
          <p:cNvSpPr/>
          <p:nvPr/>
        </p:nvSpPr>
        <p:spPr bwMode="auto">
          <a:xfrm>
            <a:off x="331788" y="4437856"/>
            <a:ext cx="1973667" cy="1727448"/>
          </a:xfrm>
          <a:prstGeom prst="roundRect">
            <a:avLst>
              <a:gd name="adj" fmla="val 4443"/>
            </a:avLst>
          </a:prstGeom>
          <a:solidFill>
            <a:schemeClr val="bg1">
              <a:lumMod val="95000"/>
            </a:schemeClr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54000" tIns="46800" rIns="54000" bIns="46800" anchor="ctr">
            <a:noAutofit/>
          </a:bodyPr>
          <a:lstStyle/>
          <a:p>
            <a:pPr algn="ctr" latinLnBrk="0">
              <a:lnSpc>
                <a:spcPct val="130000"/>
              </a:lnSpc>
              <a:spcBef>
                <a:spcPts val="600"/>
              </a:spcBef>
              <a:spcAft>
                <a:spcPts val="300"/>
              </a:spcAft>
              <a:buClr>
                <a:schemeClr val="bg2"/>
              </a:buClr>
            </a:pPr>
            <a:r>
              <a:rPr kumimoji="1" lang="ko-KR" altLang="en-US" sz="1400" b="1" dirty="0">
                <a:latin typeface="+mn-ea"/>
              </a:rPr>
              <a:t>통계 기반의 </a:t>
            </a:r>
            <a:br>
              <a:rPr kumimoji="1" lang="ko-KR" altLang="en-US" sz="1400" b="1" dirty="0">
                <a:latin typeface="+mn-ea"/>
              </a:rPr>
            </a:br>
            <a:r>
              <a:rPr kumimoji="1" lang="ko-KR" altLang="en-US" sz="1400" b="1" dirty="0">
                <a:latin typeface="+mn-ea"/>
              </a:rPr>
              <a:t>분석 역량 내재화로 지속적인 </a:t>
            </a:r>
            <a:br>
              <a:rPr kumimoji="1" lang="ko-KR" altLang="en-US" sz="1400" b="1" dirty="0">
                <a:latin typeface="+mn-ea"/>
              </a:rPr>
            </a:br>
            <a:r>
              <a:rPr kumimoji="1" lang="ko-KR" altLang="en-US" sz="1400" b="1" dirty="0">
                <a:latin typeface="+mn-ea"/>
              </a:rPr>
              <a:t>모형 고도화 및 다양한 예측모형 개발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3210410" y="2098948"/>
            <a:ext cx="2965903" cy="36000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  <a:latin typeface="+mn-ea"/>
              </a:rPr>
              <a:t>분석과제 및 방향성 정의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3" name="Text Box 8"/>
          <p:cNvSpPr txBox="1">
            <a:spLocks noChangeArrowheads="1"/>
          </p:cNvSpPr>
          <p:nvPr/>
        </p:nvSpPr>
        <p:spPr bwMode="auto">
          <a:xfrm>
            <a:off x="4455605" y="2631579"/>
            <a:ext cx="2157773" cy="794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92075" indent="-92075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87313" lvl="0" indent="-87313" fontAlgn="base" latinLnBrk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분석 </a:t>
            </a: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과제 검토 및 </a:t>
            </a: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분석 </a:t>
            </a: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대상 </a:t>
            </a: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정의</a:t>
            </a:r>
            <a:endParaRPr kumimoji="1" lang="ko-KR" altLang="en-US" b="0" kern="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87313" lvl="0" indent="-87313" fontAlgn="base" latinLnBrk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과제 분석을 위한 </a:t>
            </a: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시나리오 </a:t>
            </a: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도출</a:t>
            </a:r>
          </a:p>
        </p:txBody>
      </p:sp>
      <p:sp>
        <p:nvSpPr>
          <p:cNvPr id="94" name="AutoShape 15"/>
          <p:cNvSpPr>
            <a:spLocks noChangeArrowheads="1"/>
          </p:cNvSpPr>
          <p:nvPr/>
        </p:nvSpPr>
        <p:spPr bwMode="auto">
          <a:xfrm>
            <a:off x="3514106" y="2634057"/>
            <a:ext cx="867992" cy="6953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과제 정의</a:t>
            </a:r>
            <a:endParaRPr kumimoji="1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5" name="Text Box 18"/>
          <p:cNvSpPr txBox="1">
            <a:spLocks noChangeArrowheads="1"/>
          </p:cNvSpPr>
          <p:nvPr/>
        </p:nvSpPr>
        <p:spPr bwMode="auto">
          <a:xfrm>
            <a:off x="4455605" y="5426232"/>
            <a:ext cx="2157773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92075" indent="-92075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87313" lvl="0" indent="-87313" fontAlgn="base" latinLnBrk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분석 </a:t>
            </a: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대상 </a:t>
            </a:r>
            <a:r>
              <a:rPr kumimoji="1" lang="en-US" altLang="ko-KR" b="0" kern="0" dirty="0">
                <a:solidFill>
                  <a:srgbClr val="000000"/>
                </a:solidFill>
                <a:latin typeface="+mn-ea"/>
                <a:ea typeface="+mn-ea"/>
              </a:rPr>
              <a:t>Data set </a:t>
            </a: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정의</a:t>
            </a:r>
          </a:p>
          <a:p>
            <a:pPr marL="87313" lvl="0" indent="-87313" fontAlgn="base" latinLnBrk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기술통계 분석을 통한 대상 </a:t>
            </a: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kumimoji="1" lang="en-US" altLang="ko-KR" b="0" kern="0" dirty="0" smtClean="0">
                <a:solidFill>
                  <a:srgbClr val="000000"/>
                </a:solidFill>
                <a:latin typeface="+mn-ea"/>
                <a:ea typeface="+mn-ea"/>
              </a:rPr>
              <a:t/>
            </a:r>
            <a:br>
              <a:rPr kumimoji="1" lang="en-US" altLang="ko-KR" b="0" kern="0" dirty="0" smtClean="0">
                <a:solidFill>
                  <a:srgbClr val="000000"/>
                </a:solidFill>
                <a:latin typeface="+mn-ea"/>
                <a:ea typeface="+mn-ea"/>
              </a:rPr>
            </a:br>
            <a:r>
              <a:rPr kumimoji="1" lang="en-US" altLang="ko-KR" b="0" kern="0" dirty="0" smtClean="0">
                <a:solidFill>
                  <a:srgbClr val="000000"/>
                </a:solidFill>
                <a:latin typeface="+mn-ea"/>
                <a:ea typeface="+mn-ea"/>
              </a:rPr>
              <a:t>Data </a:t>
            </a: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정의</a:t>
            </a:r>
          </a:p>
        </p:txBody>
      </p:sp>
      <p:sp>
        <p:nvSpPr>
          <p:cNvPr id="96" name="Text Box 22"/>
          <p:cNvSpPr txBox="1">
            <a:spLocks noChangeArrowheads="1"/>
          </p:cNvSpPr>
          <p:nvPr/>
        </p:nvSpPr>
        <p:spPr bwMode="auto">
          <a:xfrm>
            <a:off x="4455605" y="4667645"/>
            <a:ext cx="2157773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92075" indent="-92075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87313" lvl="0" indent="-87313" fontAlgn="base" latinLnBrk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모델 추정을 </a:t>
            </a: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위한 </a:t>
            </a: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데이터 수집</a:t>
            </a:r>
            <a:endParaRPr kumimoji="1" lang="en-US" altLang="ko-KR" b="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87313" lvl="0" indent="-87313" fontAlgn="base" latinLnBrk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데이터 수집 및 대상 정의</a:t>
            </a:r>
            <a:endParaRPr kumimoji="1" lang="ko-KR" altLang="en-US" b="0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97" name="AutoShape 39"/>
          <p:cNvSpPr>
            <a:spLocks noChangeArrowheads="1"/>
          </p:cNvSpPr>
          <p:nvPr/>
        </p:nvSpPr>
        <p:spPr bwMode="gray">
          <a:xfrm>
            <a:off x="2864768" y="2634056"/>
            <a:ext cx="610436" cy="1584000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 algn="ctr">
            <a:noFill/>
            <a:round/>
            <a:headEnd/>
            <a:tailEnd/>
          </a:ln>
        </p:spPr>
        <p:txBody>
          <a:bodyPr lIns="0" tIns="0" rIns="0" bIns="0" anchor="ctr"/>
          <a:lstStyle>
            <a:lvl1pPr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과제</a:t>
            </a:r>
            <a:r>
              <a:rPr lang="en-US" altLang="ko-KR" sz="1400" kern="0" dirty="0">
                <a:solidFill>
                  <a:srgbClr val="000000"/>
                </a:solidFill>
                <a:latin typeface="+mn-ea"/>
                <a:ea typeface="+mn-ea"/>
              </a:rPr>
              <a:t/>
            </a:r>
            <a:br>
              <a:rPr lang="en-US" altLang="ko-KR" sz="1400" kern="0" dirty="0">
                <a:solidFill>
                  <a:srgbClr val="000000"/>
                </a:solidFill>
                <a:latin typeface="+mn-ea"/>
                <a:ea typeface="+mn-ea"/>
              </a:rPr>
            </a:br>
            <a:r>
              <a:rPr lang="ko-KR" altLang="en-US" sz="1400" kern="0" dirty="0" smtClean="0">
                <a:solidFill>
                  <a:srgbClr val="000000"/>
                </a:solidFill>
                <a:latin typeface="+mn-ea"/>
                <a:ea typeface="+mn-ea"/>
              </a:rPr>
              <a:t>정의</a:t>
            </a:r>
            <a:endParaRPr kumimoji="0" lang="ko-KR" altLang="en-US" sz="1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98" name="AutoShape 15"/>
          <p:cNvSpPr>
            <a:spLocks noChangeArrowheads="1"/>
          </p:cNvSpPr>
          <p:nvPr/>
        </p:nvSpPr>
        <p:spPr bwMode="auto">
          <a:xfrm>
            <a:off x="3514106" y="3497657"/>
            <a:ext cx="867992" cy="6953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가설 설정</a:t>
            </a:r>
          </a:p>
        </p:txBody>
      </p:sp>
      <p:sp>
        <p:nvSpPr>
          <p:cNvPr id="99" name="AutoShape 15"/>
          <p:cNvSpPr>
            <a:spLocks noChangeArrowheads="1"/>
          </p:cNvSpPr>
          <p:nvPr/>
        </p:nvSpPr>
        <p:spPr bwMode="auto">
          <a:xfrm>
            <a:off x="3514106" y="4539057"/>
            <a:ext cx="867992" cy="6953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데이터 수집</a:t>
            </a:r>
            <a:endParaRPr kumimoji="1" lang="en-US" altLang="ko-KR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0" name="AutoShape 42"/>
          <p:cNvSpPr>
            <a:spLocks noChangeArrowheads="1"/>
          </p:cNvSpPr>
          <p:nvPr/>
        </p:nvSpPr>
        <p:spPr bwMode="gray">
          <a:xfrm>
            <a:off x="2864768" y="4529418"/>
            <a:ext cx="610436" cy="1584000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  <a:ln w="9525" algn="ctr">
            <a:noFill/>
            <a:round/>
            <a:headEnd/>
            <a:tailEnd/>
          </a:ln>
        </p:spPr>
        <p:txBody>
          <a:bodyPr lIns="0" tIns="0" rIns="0" bIns="0" anchor="ctr"/>
          <a:lstStyle>
            <a:lvl1pPr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00000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데이터 </a:t>
            </a:r>
            <a:r>
              <a:rPr lang="ko-KR" altLang="en-US" sz="1400" kern="0" dirty="0" smtClean="0">
                <a:solidFill>
                  <a:srgbClr val="000000"/>
                </a:solidFill>
                <a:latin typeface="+mn-ea"/>
                <a:ea typeface="+mn-ea"/>
              </a:rPr>
              <a:t>정</a:t>
            </a:r>
            <a:r>
              <a:rPr lang="ko-KR" altLang="en-US" sz="1400" kern="0" dirty="0">
                <a:solidFill>
                  <a:srgbClr val="000000"/>
                </a:solidFill>
                <a:latin typeface="+mn-ea"/>
                <a:ea typeface="+mn-ea"/>
              </a:rPr>
              <a:t>의</a:t>
            </a:r>
            <a:endParaRPr kumimoji="0" lang="ko-KR" altLang="en-US" sz="14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1" name="AutoShape 15"/>
          <p:cNvSpPr>
            <a:spLocks noChangeArrowheads="1"/>
          </p:cNvSpPr>
          <p:nvPr/>
        </p:nvSpPr>
        <p:spPr bwMode="auto">
          <a:xfrm>
            <a:off x="3514106" y="5385271"/>
            <a:ext cx="867992" cy="69532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DATA SET </a:t>
            </a: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정</a:t>
            </a: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의</a:t>
            </a:r>
            <a:endParaRPr kumimoji="1" lang="ko-KR" altLang="en-US" sz="12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102" name="Text Box 8"/>
          <p:cNvSpPr txBox="1">
            <a:spLocks noChangeArrowheads="1"/>
          </p:cNvSpPr>
          <p:nvPr/>
        </p:nvSpPr>
        <p:spPr bwMode="auto">
          <a:xfrm>
            <a:off x="4455605" y="3545458"/>
            <a:ext cx="2157773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92075" indent="-92075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87313" lvl="0" indent="-87313" fontAlgn="base" latinLnBrk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데이터 분석을 </a:t>
            </a: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위한 시나리오 정의 </a:t>
            </a:r>
          </a:p>
          <a:p>
            <a:pPr marL="87313" lvl="0" indent="-87313" fontAlgn="base" latinLnBrk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모델 별 </a:t>
            </a:r>
            <a:r>
              <a:rPr kumimoji="1" lang="ko-KR" altLang="en-US" b="0" kern="0" dirty="0">
                <a:solidFill>
                  <a:srgbClr val="000000"/>
                </a:solidFill>
                <a:latin typeface="+mn-ea"/>
                <a:ea typeface="+mn-ea"/>
              </a:rPr>
              <a:t>검정 대상 가설 설정</a:t>
            </a:r>
          </a:p>
        </p:txBody>
      </p:sp>
      <p:sp>
        <p:nvSpPr>
          <p:cNvPr id="105" name="모서리가 둥근 직사각형 104"/>
          <p:cNvSpPr/>
          <p:nvPr/>
        </p:nvSpPr>
        <p:spPr>
          <a:xfrm>
            <a:off x="7040933" y="2418223"/>
            <a:ext cx="2451159" cy="36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  <a:latin typeface="+mn-ea"/>
              </a:rPr>
              <a:t>모형 분석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6" name="모서리가 둥근 직사각형 105"/>
          <p:cNvSpPr/>
          <p:nvPr/>
        </p:nvSpPr>
        <p:spPr>
          <a:xfrm>
            <a:off x="7040933" y="4471211"/>
            <a:ext cx="2451159" cy="36000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/>
                </a:solidFill>
                <a:latin typeface="+mn-ea"/>
              </a:rPr>
              <a:t>활용 방안 도출</a:t>
            </a:r>
            <a:endParaRPr lang="ko-KR" altLang="en-US" sz="16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108" name="그룹 107"/>
          <p:cNvGrpSpPr/>
          <p:nvPr/>
        </p:nvGrpSpPr>
        <p:grpSpPr>
          <a:xfrm rot="5400000">
            <a:off x="8140512" y="4304747"/>
            <a:ext cx="252000" cy="252000"/>
            <a:chOff x="3538270" y="2114285"/>
            <a:chExt cx="288906" cy="267605"/>
          </a:xfrm>
        </p:grpSpPr>
        <p:sp>
          <p:nvSpPr>
            <p:cNvPr id="109" name="타원 108"/>
            <p:cNvSpPr/>
            <p:nvPr/>
          </p:nvSpPr>
          <p:spPr>
            <a:xfrm>
              <a:off x="3538270" y="2114285"/>
              <a:ext cx="288906" cy="267605"/>
            </a:xfrm>
            <a:prstGeom prst="ellipse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defTabSz="893186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8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10" name="이등변 삼각형 109"/>
            <p:cNvSpPr/>
            <p:nvPr/>
          </p:nvSpPr>
          <p:spPr>
            <a:xfrm rot="5400000">
              <a:off x="3632924" y="2181816"/>
              <a:ext cx="137783" cy="128231"/>
            </a:xfrm>
            <a:prstGeom prst="triangle">
              <a:avLst/>
            </a:prstGeom>
            <a:solidFill>
              <a:schemeClr val="accent1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893186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758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112" name="오각형 111"/>
          <p:cNvSpPr/>
          <p:nvPr/>
        </p:nvSpPr>
        <p:spPr bwMode="auto">
          <a:xfrm>
            <a:off x="7224542" y="2837883"/>
            <a:ext cx="900000" cy="510385"/>
          </a:xfrm>
          <a:prstGeom prst="homePlate">
            <a:avLst>
              <a:gd name="adj" fmla="val 18007"/>
            </a:avLst>
          </a:prstGeom>
          <a:solidFill>
            <a:schemeClr val="bg1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  <a:extLst/>
        </p:spPr>
        <p:txBody>
          <a:bodyPr wrap="none" anchor="ctr"/>
          <a:lstStyle/>
          <a:p>
            <a:pPr lvl="0" algn="ctr" fontAlgn="base" latinLnBrk="0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ko-KR" altLang="en-US" sz="1200" kern="0" dirty="0" smtClean="0">
                <a:solidFill>
                  <a:srgbClr val="000000"/>
                </a:solidFill>
                <a:latin typeface="+mn-ea"/>
              </a:rPr>
              <a:t>방법론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/>
            </a:r>
            <a:b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</a:br>
            <a:r>
              <a:rPr kumimoji="1" lang="ko-KR" altLang="en-US" sz="1200" kern="0" dirty="0" smtClean="0">
                <a:solidFill>
                  <a:srgbClr val="000000"/>
                </a:solidFill>
                <a:latin typeface="+mn-ea"/>
              </a:rPr>
              <a:t>정의</a:t>
            </a:r>
            <a:endParaRPr kumimoji="1" lang="ko-KR" altLang="en-US" sz="1200" kern="0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113" name="Picture 16" descr="Untitled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4614" y="2988720"/>
            <a:ext cx="213555" cy="208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AutoShape 20"/>
          <p:cNvSpPr>
            <a:spLocks noChangeArrowheads="1"/>
          </p:cNvSpPr>
          <p:nvPr/>
        </p:nvSpPr>
        <p:spPr bwMode="auto">
          <a:xfrm>
            <a:off x="8286576" y="2827536"/>
            <a:ext cx="1008112" cy="493012"/>
          </a:xfrm>
          <a:prstGeom prst="roundRect">
            <a:avLst>
              <a:gd name="adj" fmla="val 16667"/>
            </a:avLst>
          </a:prstGeom>
          <a:solidFill>
            <a:srgbClr val="EAEAEA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b="1" kern="0" dirty="0">
                <a:solidFill>
                  <a:srgbClr val="000000"/>
                </a:solidFill>
                <a:latin typeface="+mn-ea"/>
              </a:rPr>
              <a:t>데이터 분석</a:t>
            </a:r>
            <a:r>
              <a:rPr kumimoji="1" lang="en-US" altLang="ko-KR" sz="1200" b="1" kern="0" dirty="0">
                <a:solidFill>
                  <a:srgbClr val="000000"/>
                </a:solidFill>
                <a:latin typeface="+mn-ea"/>
              </a:rPr>
              <a:t/>
            </a:r>
            <a:br>
              <a:rPr kumimoji="1" lang="en-US" altLang="ko-KR" sz="1200" b="1" kern="0" dirty="0">
                <a:solidFill>
                  <a:srgbClr val="000000"/>
                </a:solidFill>
                <a:latin typeface="+mn-ea"/>
              </a:rPr>
            </a:br>
            <a:r>
              <a:rPr kumimoji="1" lang="ko-KR" altLang="en-US" sz="1200" b="1" kern="0" dirty="0">
                <a:solidFill>
                  <a:srgbClr val="000000"/>
                </a:solidFill>
                <a:latin typeface="+mn-ea"/>
              </a:rPr>
              <a:t>및 </a:t>
            </a:r>
            <a:r>
              <a:rPr kumimoji="1" lang="ko-KR" altLang="en-US" sz="1200" b="1" kern="0" dirty="0" smtClean="0">
                <a:solidFill>
                  <a:srgbClr val="000000"/>
                </a:solidFill>
                <a:latin typeface="+mn-ea"/>
              </a:rPr>
              <a:t>모델 진단</a:t>
            </a:r>
            <a:endParaRPr kumimoji="1" lang="en-US" altLang="ko-KR" sz="1200" b="1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5" name="Text Box 22"/>
          <p:cNvSpPr txBox="1">
            <a:spLocks noChangeArrowheads="1"/>
          </p:cNvSpPr>
          <p:nvPr/>
        </p:nvSpPr>
        <p:spPr bwMode="auto">
          <a:xfrm>
            <a:off x="7236028" y="3418233"/>
            <a:ext cx="2156068" cy="84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92075" indent="-92075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87313" lvl="0" indent="-87313" fontAlgn="base" latinLnBrk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세부 분석 방법론에 따라 모형 추정</a:t>
            </a:r>
            <a:endParaRPr kumimoji="1" lang="en-US" altLang="ko-KR" b="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87313" lvl="0" indent="-87313" fontAlgn="base" latinLnBrk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모형 적합도 판별</a:t>
            </a:r>
            <a:endParaRPr kumimoji="1" lang="en-US" altLang="ko-KR" b="0" kern="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marL="87313" lvl="0" indent="-87313" fontAlgn="base" latinLnBrk="0">
              <a:spcBef>
                <a:spcPct val="3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b="0" kern="0" dirty="0" smtClean="0">
                <a:solidFill>
                  <a:srgbClr val="000000"/>
                </a:solidFill>
                <a:latin typeface="+mn-ea"/>
                <a:ea typeface="+mn-ea"/>
              </a:rPr>
              <a:t>활용 방향성 고려한 모형 정의</a:t>
            </a:r>
            <a:endParaRPr kumimoji="1" lang="ko-KR" altLang="en-US" b="0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16" name="오각형 115"/>
          <p:cNvSpPr/>
          <p:nvPr/>
        </p:nvSpPr>
        <p:spPr bwMode="auto">
          <a:xfrm>
            <a:off x="7224542" y="5409433"/>
            <a:ext cx="900000" cy="559089"/>
          </a:xfrm>
          <a:prstGeom prst="homePlate">
            <a:avLst>
              <a:gd name="adj" fmla="val 18007"/>
            </a:avLst>
          </a:prstGeom>
          <a:solidFill>
            <a:schemeClr val="bg1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  <a:extLst/>
        </p:spPr>
        <p:txBody>
          <a:bodyPr wrap="none" anchor="ctr"/>
          <a:lstStyle/>
          <a:p>
            <a:pPr lvl="0" algn="ctr" fontAlgn="base" latinLnBrk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ko-KR" sz="1200" kern="0" dirty="0" smtClean="0">
                <a:solidFill>
                  <a:srgbClr val="000000"/>
                </a:solidFill>
                <a:latin typeface="+mn-ea"/>
              </a:rPr>
              <a:t>Risk Factor</a:t>
            </a:r>
            <a:br>
              <a:rPr kumimoji="1" lang="en-US" altLang="ko-KR" sz="1200" kern="0" dirty="0" smtClean="0">
                <a:solidFill>
                  <a:srgbClr val="000000"/>
                </a:solidFill>
                <a:latin typeface="+mn-ea"/>
              </a:rPr>
            </a:br>
            <a:r>
              <a:rPr kumimoji="1" lang="en-US" altLang="ko-KR" sz="1200" kern="0" dirty="0" smtClean="0">
                <a:solidFill>
                  <a:srgbClr val="000000"/>
                </a:solidFill>
                <a:latin typeface="+mn-ea"/>
              </a:rPr>
              <a:t>Pool</a:t>
            </a:r>
            <a:endParaRPr kumimoji="1" lang="ko-KR" altLang="en-US" sz="10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1" name="AutoShape 24"/>
          <p:cNvSpPr>
            <a:spLocks noChangeArrowheads="1"/>
          </p:cNvSpPr>
          <p:nvPr/>
        </p:nvSpPr>
        <p:spPr bwMode="auto">
          <a:xfrm>
            <a:off x="8286576" y="4907426"/>
            <a:ext cx="1008112" cy="807096"/>
          </a:xfrm>
          <a:prstGeom prst="roundRect">
            <a:avLst>
              <a:gd name="adj" fmla="val 9022"/>
            </a:avLst>
          </a:prstGeom>
          <a:solidFill>
            <a:srgbClr val="EAEAEA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모델</a:t>
            </a:r>
            <a:r>
              <a:rPr kumimoji="1" lang="en-US" altLang="ko-KR" sz="1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 </a:t>
            </a:r>
            <a:r>
              <a:rPr kumimoji="1" lang="ko-KR" altLang="en-US" sz="1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추정 결과</a:t>
            </a:r>
            <a:r>
              <a:rPr kumimoji="1" lang="en-US" altLang="ko-KR" kern="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kumimoji="1" lang="ko-KR" altLang="en-US" sz="1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검토 및 활용 방안 도출</a:t>
            </a:r>
          </a:p>
        </p:txBody>
      </p:sp>
      <p:pic>
        <p:nvPicPr>
          <p:cNvPr id="120" name="Picture 16" descr="Untitled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364" y="5584620"/>
            <a:ext cx="213555" cy="208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AutoShape 24"/>
          <p:cNvSpPr>
            <a:spLocks noChangeArrowheads="1"/>
          </p:cNvSpPr>
          <p:nvPr/>
        </p:nvSpPr>
        <p:spPr bwMode="auto">
          <a:xfrm>
            <a:off x="8296249" y="5841044"/>
            <a:ext cx="1008112" cy="467681"/>
          </a:xfrm>
          <a:prstGeom prst="roundRect">
            <a:avLst>
              <a:gd name="adj" fmla="val 9022"/>
            </a:avLst>
          </a:prstGeom>
          <a:solidFill>
            <a:srgbClr val="EAEAEA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lIns="0" tIns="0" rIns="0" bIns="0" anchor="ctr"/>
          <a:lstStyle>
            <a:lvl1pPr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1pPr>
            <a:lvl2pPr marL="742950" indent="-28575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2pPr>
            <a:lvl3pPr marL="11430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3pPr>
            <a:lvl4pPr marL="16002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4pPr>
            <a:lvl5pPr marL="2057400" indent="-228600"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200" b="1">
                <a:solidFill>
                  <a:schemeClr val="tx1"/>
                </a:solidFill>
                <a:latin typeface="Univers 45 Light" pitchFamily="2" charset="0"/>
                <a:ea typeface="가는각진제목체" pitchFamily="18" charset="-127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ML </a:t>
            </a:r>
            <a:r>
              <a:rPr kumimoji="1" lang="ko-KR" altLang="en-US" sz="120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적용</a:t>
            </a:r>
          </a:p>
        </p:txBody>
      </p:sp>
      <p:pic>
        <p:nvPicPr>
          <p:cNvPr id="45" name="Picture 16" descr="Untitled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8674764" y="5604915"/>
            <a:ext cx="291921" cy="285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2794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Ⅰ. </a:t>
            </a:r>
            <a:r>
              <a:rPr lang="ko-KR" altLang="en-US" dirty="0">
                <a:latin typeface="+mn-ea"/>
                <a:ea typeface="+mn-ea"/>
              </a:rPr>
              <a:t>분석 </a:t>
            </a:r>
            <a:r>
              <a:rPr lang="ko-KR" altLang="en-US" dirty="0" smtClean="0">
                <a:latin typeface="+mn-ea"/>
                <a:ea typeface="+mn-ea"/>
              </a:rPr>
              <a:t>목적 및 대상 정의 </a:t>
            </a:r>
            <a:r>
              <a:rPr lang="en-US" altLang="ko-KR" dirty="0" smtClean="0">
                <a:latin typeface="+mn-ea"/>
                <a:ea typeface="+mn-ea"/>
              </a:rPr>
              <a:t>(1/2)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>
                <a:latin typeface="+mn-ea"/>
              </a:rPr>
              <a:pPr/>
              <a:t>3</a:t>
            </a:fld>
            <a:endParaRPr lang="ko-KR" altLang="en-US">
              <a:latin typeface="+mn-ea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ko-KR" altLang="en-US" dirty="0" smtClean="0">
                <a:latin typeface="+mn-ea"/>
              </a:rPr>
              <a:t>분석 대상 환자는 </a:t>
            </a:r>
            <a:r>
              <a:rPr lang="en-US" altLang="ko-KR" dirty="0" smtClean="0">
                <a:latin typeface="+mn-ea"/>
              </a:rPr>
              <a:t>2008</a:t>
            </a:r>
            <a:r>
              <a:rPr lang="ko-KR" altLang="en-US" dirty="0" smtClean="0">
                <a:latin typeface="+mn-ea"/>
              </a:rPr>
              <a:t>년 에서 </a:t>
            </a:r>
            <a:r>
              <a:rPr lang="en-US" altLang="ko-KR" dirty="0" smtClean="0">
                <a:latin typeface="+mn-ea"/>
              </a:rPr>
              <a:t>2018</a:t>
            </a:r>
            <a:r>
              <a:rPr lang="ko-KR" altLang="en-US" dirty="0" smtClean="0">
                <a:latin typeface="+mn-ea"/>
              </a:rPr>
              <a:t>년 </a:t>
            </a:r>
            <a:r>
              <a:rPr lang="en-US" altLang="ko-KR" dirty="0" smtClean="0">
                <a:latin typeface="+mn-ea"/>
              </a:rPr>
              <a:t>6</a:t>
            </a:r>
            <a:r>
              <a:rPr lang="ko-KR" altLang="en-US" dirty="0" smtClean="0">
                <a:latin typeface="+mn-ea"/>
              </a:rPr>
              <a:t>월 </a:t>
            </a:r>
            <a:r>
              <a:rPr lang="en-US" altLang="ko-KR" dirty="0" smtClean="0">
                <a:latin typeface="+mn-ea"/>
              </a:rPr>
              <a:t>24</a:t>
            </a:r>
            <a:r>
              <a:rPr lang="ko-KR" altLang="en-US" dirty="0" smtClean="0">
                <a:latin typeface="+mn-ea"/>
              </a:rPr>
              <a:t>일 까지 기준으로 </a:t>
            </a:r>
            <a:r>
              <a:rPr lang="en-US" altLang="ko-KR" dirty="0" smtClean="0">
                <a:latin typeface="+mn-ea"/>
              </a:rPr>
              <a:t>MDR </a:t>
            </a:r>
            <a:r>
              <a:rPr lang="ko-KR" altLang="en-US" dirty="0" smtClean="0">
                <a:latin typeface="+mn-ea"/>
              </a:rPr>
              <a:t>환자 대상 연령 및 외래환자 등의 제외조건을 반영하여 분석대상을 정의합니다</a:t>
            </a:r>
            <a:r>
              <a:rPr lang="en-US" altLang="ko-KR" dirty="0" smtClean="0">
                <a:latin typeface="+mn-ea"/>
              </a:rPr>
              <a:t>. </a:t>
            </a:r>
            <a:endParaRPr lang="ko-KR" altLang="en-US" dirty="0">
              <a:latin typeface="+mn-ea"/>
            </a:endParaRPr>
          </a:p>
        </p:txBody>
      </p:sp>
      <p:sp>
        <p:nvSpPr>
          <p:cNvPr id="5" name="직사각형 21">
            <a:extLst>
              <a:ext uri="{FF2B5EF4-FFF2-40B4-BE49-F238E27FC236}">
                <a16:creationId xmlns="" xmlns:a16="http://schemas.microsoft.com/office/drawing/2014/main" id="{6905EF3B-2963-4EF5-BAB7-B7D07E32C8B4}"/>
              </a:ext>
            </a:extLst>
          </p:cNvPr>
          <p:cNvSpPr/>
          <p:nvPr/>
        </p:nvSpPr>
        <p:spPr>
          <a:xfrm>
            <a:off x="273438" y="2201067"/>
            <a:ext cx="4607554" cy="37085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ko-KR" altLang="en-US" sz="1401" b="1" dirty="0">
                <a:solidFill>
                  <a:schemeClr val="tx1"/>
                </a:solidFill>
                <a:latin typeface="+mn-ea"/>
              </a:rPr>
              <a:t>분석 </a:t>
            </a:r>
            <a:r>
              <a:rPr lang="ko-KR" altLang="en-US" sz="1401" b="1" dirty="0" smtClean="0">
                <a:solidFill>
                  <a:schemeClr val="tx1"/>
                </a:solidFill>
                <a:latin typeface="+mn-ea"/>
              </a:rPr>
              <a:t>데이터 </a:t>
            </a:r>
            <a:r>
              <a:rPr lang="ko-KR" altLang="en-US" sz="1401" b="1" dirty="0">
                <a:solidFill>
                  <a:schemeClr val="tx1"/>
                </a:solidFill>
                <a:latin typeface="+mn-ea"/>
              </a:rPr>
              <a:t>정의</a:t>
            </a:r>
            <a:endParaRPr lang="en-US" altLang="ko-KR" sz="1401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모서리가 둥근 직사각형 8">
            <a:extLst>
              <a:ext uri="{FF2B5EF4-FFF2-40B4-BE49-F238E27FC236}">
                <a16:creationId xmlns="" xmlns:a16="http://schemas.microsoft.com/office/drawing/2014/main" id="{511A31FF-458F-4A29-8268-528ABCDFCCAF}"/>
              </a:ext>
            </a:extLst>
          </p:cNvPr>
          <p:cNvSpPr/>
          <p:nvPr/>
        </p:nvSpPr>
        <p:spPr bwMode="auto">
          <a:xfrm>
            <a:off x="263262" y="2630866"/>
            <a:ext cx="1488320" cy="396190"/>
          </a:xfrm>
          <a:prstGeom prst="roundRect">
            <a:avLst>
              <a:gd name="adj" fmla="val 6966"/>
            </a:avLst>
          </a:prstGeom>
          <a:solidFill>
            <a:schemeClr val="bg1">
              <a:lumMod val="50000"/>
            </a:schemeClr>
          </a:solidFill>
          <a:ln w="12700" algn="ctr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 latinLnBrk="0">
              <a:spcBef>
                <a:spcPct val="50000"/>
              </a:spcBef>
              <a:buClr>
                <a:srgbClr val="EEECE1"/>
              </a:buClr>
            </a:pPr>
            <a:r>
              <a:rPr kumimoji="1" lang="ko-KR" altLang="en-US" sz="1401" b="1" dirty="0">
                <a:solidFill>
                  <a:prstClr val="white"/>
                </a:solidFill>
                <a:latin typeface="+mn-ea"/>
              </a:rPr>
              <a:t>분석 대상</a:t>
            </a:r>
            <a:endParaRPr kumimoji="1" lang="en-US" altLang="ko-KR" sz="1401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" name="모서리가 둥근 직사각형 9">
            <a:extLst>
              <a:ext uri="{FF2B5EF4-FFF2-40B4-BE49-F238E27FC236}">
                <a16:creationId xmlns="" xmlns:a16="http://schemas.microsoft.com/office/drawing/2014/main" id="{EF2DBDAB-FB03-43E4-B0FC-C15D75531973}"/>
              </a:ext>
            </a:extLst>
          </p:cNvPr>
          <p:cNvSpPr/>
          <p:nvPr/>
        </p:nvSpPr>
        <p:spPr bwMode="auto">
          <a:xfrm>
            <a:off x="263262" y="3104059"/>
            <a:ext cx="1488320" cy="396190"/>
          </a:xfrm>
          <a:prstGeom prst="roundRect">
            <a:avLst>
              <a:gd name="adj" fmla="val 6966"/>
            </a:avLst>
          </a:prstGeom>
          <a:solidFill>
            <a:schemeClr val="bg1">
              <a:lumMod val="50000"/>
            </a:schemeClr>
          </a:solidFill>
          <a:ln w="12700" algn="ctr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 latinLnBrk="0">
              <a:spcBef>
                <a:spcPct val="50000"/>
              </a:spcBef>
              <a:buClr>
                <a:srgbClr val="EEECE1"/>
              </a:buClr>
            </a:pPr>
            <a:r>
              <a:rPr kumimoji="1" lang="ko-KR" altLang="en-US" sz="1401" b="1" dirty="0">
                <a:solidFill>
                  <a:prstClr val="white"/>
                </a:solidFill>
                <a:latin typeface="+mn-ea"/>
              </a:rPr>
              <a:t>분석 기준 시점</a:t>
            </a:r>
            <a:endParaRPr kumimoji="1" lang="en-US" altLang="ko-KR" sz="1401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" name="모서리가 둥근 직사각형 10">
            <a:extLst>
              <a:ext uri="{FF2B5EF4-FFF2-40B4-BE49-F238E27FC236}">
                <a16:creationId xmlns="" xmlns:a16="http://schemas.microsoft.com/office/drawing/2014/main" id="{51EDA02A-E35E-446D-A293-B292D4B6895B}"/>
              </a:ext>
            </a:extLst>
          </p:cNvPr>
          <p:cNvSpPr/>
          <p:nvPr/>
        </p:nvSpPr>
        <p:spPr bwMode="auto">
          <a:xfrm>
            <a:off x="263262" y="3577252"/>
            <a:ext cx="1488320" cy="551785"/>
          </a:xfrm>
          <a:prstGeom prst="roundRect">
            <a:avLst>
              <a:gd name="adj" fmla="val 6966"/>
            </a:avLst>
          </a:prstGeom>
          <a:solidFill>
            <a:schemeClr val="bg1">
              <a:lumMod val="50000"/>
            </a:schemeClr>
          </a:solidFill>
          <a:ln w="12700" algn="ctr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 latinLnBrk="0">
              <a:spcBef>
                <a:spcPct val="50000"/>
              </a:spcBef>
              <a:buClr>
                <a:srgbClr val="EEECE1"/>
              </a:buClr>
            </a:pPr>
            <a:r>
              <a:rPr kumimoji="1" lang="ko-KR" altLang="en-US" sz="1401" b="1" dirty="0">
                <a:solidFill>
                  <a:prstClr val="white"/>
                </a:solidFill>
                <a:latin typeface="+mn-ea"/>
              </a:rPr>
              <a:t>분석 데이터</a:t>
            </a:r>
            <a:endParaRPr kumimoji="1" lang="en-US" altLang="ko-KR" sz="1401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" name="모서리가 둥근 직사각형 11">
            <a:extLst>
              <a:ext uri="{FF2B5EF4-FFF2-40B4-BE49-F238E27FC236}">
                <a16:creationId xmlns="" xmlns:a16="http://schemas.microsoft.com/office/drawing/2014/main" id="{7898287B-F546-4259-AD04-B631B773344E}"/>
              </a:ext>
            </a:extLst>
          </p:cNvPr>
          <p:cNvSpPr/>
          <p:nvPr/>
        </p:nvSpPr>
        <p:spPr bwMode="auto">
          <a:xfrm>
            <a:off x="263262" y="4206039"/>
            <a:ext cx="1488320" cy="571823"/>
          </a:xfrm>
          <a:prstGeom prst="roundRect">
            <a:avLst>
              <a:gd name="adj" fmla="val 6966"/>
            </a:avLst>
          </a:prstGeom>
          <a:solidFill>
            <a:schemeClr val="bg1">
              <a:lumMod val="50000"/>
            </a:schemeClr>
          </a:solidFill>
          <a:ln w="12700" algn="ctr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 latinLnBrk="0">
              <a:spcBef>
                <a:spcPct val="50000"/>
              </a:spcBef>
              <a:buClr>
                <a:srgbClr val="EEECE1"/>
              </a:buClr>
            </a:pPr>
            <a:r>
              <a:rPr kumimoji="1" lang="ko-KR" altLang="en-US" sz="1401" b="1" dirty="0">
                <a:solidFill>
                  <a:prstClr val="white"/>
                </a:solidFill>
                <a:latin typeface="+mn-ea"/>
              </a:rPr>
              <a:t>제외 조건</a:t>
            </a:r>
            <a:endParaRPr kumimoji="1" lang="en-US" altLang="ko-KR" sz="1401" b="1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0" name="모서리가 둥근 직사각형 8">
            <a:extLst>
              <a:ext uri="{FF2B5EF4-FFF2-40B4-BE49-F238E27FC236}">
                <a16:creationId xmlns="" xmlns:a16="http://schemas.microsoft.com/office/drawing/2014/main" id="{95A9DBBA-E196-4274-A4A3-153A9C9C0B50}"/>
              </a:ext>
            </a:extLst>
          </p:cNvPr>
          <p:cNvSpPr/>
          <p:nvPr/>
        </p:nvSpPr>
        <p:spPr bwMode="auto">
          <a:xfrm>
            <a:off x="1815257" y="2630866"/>
            <a:ext cx="3065733" cy="396190"/>
          </a:xfrm>
          <a:prstGeom prst="roundRect">
            <a:avLst>
              <a:gd name="adj" fmla="val 6966"/>
            </a:avLst>
          </a:pr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MDR 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환자 </a:t>
            </a:r>
            <a:endParaRPr kumimoji="1" lang="en-US" altLang="ko-KR" sz="12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1" name="모서리가 둥근 직사각형 8">
            <a:extLst>
              <a:ext uri="{FF2B5EF4-FFF2-40B4-BE49-F238E27FC236}">
                <a16:creationId xmlns="" xmlns:a16="http://schemas.microsoft.com/office/drawing/2014/main" id="{F6F5397A-277E-4731-BCEF-7E29C263E956}"/>
              </a:ext>
            </a:extLst>
          </p:cNvPr>
          <p:cNvSpPr/>
          <p:nvPr/>
        </p:nvSpPr>
        <p:spPr bwMode="auto">
          <a:xfrm>
            <a:off x="1815257" y="3104775"/>
            <a:ext cx="3065733" cy="396190"/>
          </a:xfrm>
          <a:prstGeom prst="roundRect">
            <a:avLst>
              <a:gd name="adj" fmla="val 6966"/>
            </a:avLst>
          </a:pr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2008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년 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월 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일 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~ 2018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년 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월 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24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일</a:t>
            </a:r>
            <a:endParaRPr kumimoji="1" lang="en-US" altLang="ko-KR" sz="12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2" name="모서리가 둥근 직사각형 8">
            <a:extLst>
              <a:ext uri="{FF2B5EF4-FFF2-40B4-BE49-F238E27FC236}">
                <a16:creationId xmlns="" xmlns:a16="http://schemas.microsoft.com/office/drawing/2014/main" id="{88BA6EA2-3927-4C47-991C-B4C249C094A6}"/>
              </a:ext>
            </a:extLst>
          </p:cNvPr>
          <p:cNvSpPr/>
          <p:nvPr/>
        </p:nvSpPr>
        <p:spPr bwMode="auto">
          <a:xfrm>
            <a:off x="1815256" y="3578684"/>
            <a:ext cx="3065733" cy="551785"/>
          </a:xfrm>
          <a:prstGeom prst="roundRect">
            <a:avLst>
              <a:gd name="adj" fmla="val 6966"/>
            </a:avLst>
          </a:pr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AI 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데이터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, ST 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데이터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b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</a:b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AI MDR 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데이터</a:t>
            </a:r>
            <a:endParaRPr kumimoji="1" lang="en-US" altLang="ko-KR" sz="12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13" name="모서리가 둥근 직사각형 8">
            <a:extLst>
              <a:ext uri="{FF2B5EF4-FFF2-40B4-BE49-F238E27FC236}">
                <a16:creationId xmlns="" xmlns:a16="http://schemas.microsoft.com/office/drawing/2014/main" id="{A742518C-CE06-4D6D-B456-EF5FC45C695F}"/>
              </a:ext>
            </a:extLst>
          </p:cNvPr>
          <p:cNvSpPr/>
          <p:nvPr/>
        </p:nvSpPr>
        <p:spPr bwMode="auto">
          <a:xfrm>
            <a:off x="1815255" y="4208189"/>
            <a:ext cx="3065733" cy="571823"/>
          </a:xfrm>
          <a:prstGeom prst="roundRect">
            <a:avLst>
              <a:gd name="adj" fmla="val 6966"/>
            </a:avLst>
          </a:pr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연령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음수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, 0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개월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b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</a:b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외래환자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, VRSA</a:t>
            </a:r>
            <a:r>
              <a:rPr kumimoji="1" lang="ko-KR" altLang="en-US" sz="1200" kern="0" dirty="0">
                <a:solidFill>
                  <a:srgbClr val="000000"/>
                </a:solidFill>
                <a:latin typeface="+mn-ea"/>
              </a:rPr>
              <a:t>환자</a:t>
            </a:r>
            <a:r>
              <a:rPr kumimoji="1" lang="en-US" altLang="ko-KR" sz="1200" kern="0" dirty="0">
                <a:solidFill>
                  <a:srgbClr val="000000"/>
                </a:solidFill>
                <a:latin typeface="+mn-ea"/>
              </a:rPr>
              <a:t>  </a:t>
            </a:r>
          </a:p>
        </p:txBody>
      </p:sp>
      <p:sp>
        <p:nvSpPr>
          <p:cNvPr id="14" name="직사각형 14">
            <a:extLst>
              <a:ext uri="{FF2B5EF4-FFF2-40B4-BE49-F238E27FC236}">
                <a16:creationId xmlns="" xmlns:a16="http://schemas.microsoft.com/office/drawing/2014/main" id="{1733D386-DE91-462B-A310-19CF9432D5EA}"/>
              </a:ext>
            </a:extLst>
          </p:cNvPr>
          <p:cNvSpPr/>
          <p:nvPr/>
        </p:nvSpPr>
        <p:spPr bwMode="auto">
          <a:xfrm>
            <a:off x="5093935" y="2209914"/>
            <a:ext cx="4617729" cy="256794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635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lIns="36017" tIns="36017" rIns="36017" bIns="36017" anchor="t"/>
          <a:lstStyle/>
          <a:p>
            <a:pPr algn="ctr">
              <a:buClr>
                <a:srgbClr val="000000"/>
              </a:buClr>
            </a:pPr>
            <a:r>
              <a:rPr lang="en-US" altLang="ko-KR" sz="1401" b="1" dirty="0">
                <a:latin typeface="+mn-ea"/>
              </a:rPr>
              <a:t>2008</a:t>
            </a:r>
            <a:r>
              <a:rPr lang="ko-KR" altLang="en-US" sz="1401" b="1" dirty="0">
                <a:latin typeface="+mn-ea"/>
              </a:rPr>
              <a:t>년 </a:t>
            </a:r>
            <a:r>
              <a:rPr lang="en-US" altLang="ko-KR" sz="1401" b="1" dirty="0">
                <a:latin typeface="+mn-ea"/>
              </a:rPr>
              <a:t>1</a:t>
            </a:r>
            <a:r>
              <a:rPr lang="ko-KR" altLang="en-US" sz="1401" b="1" dirty="0">
                <a:latin typeface="+mn-ea"/>
              </a:rPr>
              <a:t>월 </a:t>
            </a:r>
            <a:r>
              <a:rPr lang="en-US" altLang="ko-KR" sz="1401" b="1" dirty="0">
                <a:latin typeface="+mn-ea"/>
              </a:rPr>
              <a:t>1</a:t>
            </a:r>
            <a:r>
              <a:rPr lang="ko-KR" altLang="en-US" sz="1401" b="1" dirty="0">
                <a:latin typeface="+mn-ea"/>
              </a:rPr>
              <a:t>일 </a:t>
            </a:r>
            <a:r>
              <a:rPr lang="en-US" altLang="ko-KR" sz="1401" b="1" dirty="0" smtClean="0">
                <a:latin typeface="+mn-ea"/>
              </a:rPr>
              <a:t>~ </a:t>
            </a:r>
            <a:r>
              <a:rPr lang="en-US" altLang="ko-KR" sz="1401" b="1" dirty="0">
                <a:latin typeface="+mn-ea"/>
              </a:rPr>
              <a:t>2018</a:t>
            </a:r>
            <a:r>
              <a:rPr lang="ko-KR" altLang="en-US" sz="1401" b="1" dirty="0">
                <a:latin typeface="+mn-ea"/>
              </a:rPr>
              <a:t>년 </a:t>
            </a:r>
            <a:r>
              <a:rPr lang="en-US" altLang="ko-KR" sz="1401" b="1" dirty="0">
                <a:latin typeface="+mn-ea"/>
              </a:rPr>
              <a:t>6</a:t>
            </a:r>
            <a:r>
              <a:rPr lang="ko-KR" altLang="en-US" sz="1401" b="1" dirty="0">
                <a:latin typeface="+mn-ea"/>
              </a:rPr>
              <a:t>월 </a:t>
            </a:r>
            <a:r>
              <a:rPr lang="en-US" altLang="ko-KR" sz="1401" b="1" dirty="0">
                <a:latin typeface="+mn-ea"/>
              </a:rPr>
              <a:t>24</a:t>
            </a:r>
            <a:r>
              <a:rPr lang="ko-KR" altLang="en-US" sz="1401" b="1" dirty="0" smtClean="0">
                <a:latin typeface="+mn-ea"/>
              </a:rPr>
              <a:t>일 </a:t>
            </a:r>
            <a:r>
              <a:rPr lang="en-US" altLang="ko-KR" sz="1401" b="1" dirty="0" smtClean="0">
                <a:latin typeface="+mn-ea"/>
              </a:rPr>
              <a:t/>
            </a:r>
            <a:br>
              <a:rPr lang="en-US" altLang="ko-KR" sz="1401" b="1" dirty="0" smtClean="0">
                <a:latin typeface="+mn-ea"/>
              </a:rPr>
            </a:br>
            <a:r>
              <a:rPr lang="en-US" altLang="ko-KR" sz="1401" b="1" dirty="0" smtClean="0">
                <a:latin typeface="+mn-ea"/>
              </a:rPr>
              <a:t>MDR </a:t>
            </a:r>
            <a:r>
              <a:rPr lang="ko-KR" altLang="en-US" sz="1401" b="1" dirty="0" smtClean="0">
                <a:latin typeface="+mn-ea"/>
              </a:rPr>
              <a:t>환자</a:t>
            </a:r>
            <a:endParaRPr lang="ko-KR" altLang="en-US" sz="1401" b="1" dirty="0">
              <a:latin typeface="+mn-ea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="" xmlns:a16="http://schemas.microsoft.com/office/drawing/2014/main" id="{929404AA-DEC3-4FD7-9FAB-1DB336D397D2}"/>
              </a:ext>
            </a:extLst>
          </p:cNvPr>
          <p:cNvSpPr/>
          <p:nvPr/>
        </p:nvSpPr>
        <p:spPr>
          <a:xfrm>
            <a:off x="5225314" y="2714560"/>
            <a:ext cx="1311862" cy="2031544"/>
          </a:xfrm>
          <a:prstGeom prst="rect">
            <a:avLst/>
          </a:prstGeom>
          <a:pattFill prst="lt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90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lIns="36017" tIns="36017" rIns="36017" bIns="36017" rtlCol="0" anchor="ctr"/>
          <a:lstStyle/>
          <a:p>
            <a:pPr algn="ctr" latinLnBrk="0"/>
            <a:r>
              <a:rPr lang="ko-KR" altLang="en-US" sz="120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외래환자</a:t>
            </a:r>
            <a:endParaRPr lang="en-US" altLang="ko-KR" sz="1201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6" name="Rectangle 4">
            <a:extLst>
              <a:ext uri="{FF2B5EF4-FFF2-40B4-BE49-F238E27FC236}">
                <a16:creationId xmlns="" xmlns:a16="http://schemas.microsoft.com/office/drawing/2014/main" id="{803CAFF2-A9FA-405A-BE17-E06C7D165ECC}"/>
              </a:ext>
            </a:extLst>
          </p:cNvPr>
          <p:cNvSpPr/>
          <p:nvPr/>
        </p:nvSpPr>
        <p:spPr>
          <a:xfrm>
            <a:off x="5225314" y="2286114"/>
            <a:ext cx="496259" cy="279734"/>
          </a:xfrm>
          <a:prstGeom prst="rect">
            <a:avLst/>
          </a:prstGeom>
          <a:pattFill prst="lt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90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lIns="36017" tIns="36017" rIns="36017" bIns="36017" rtlCol="0" anchor="ctr"/>
          <a:lstStyle/>
          <a:p>
            <a:pPr algn="ctr" latinLnBrk="0"/>
            <a:r>
              <a:rPr lang="ko-KR" altLang="en-US" sz="120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제외</a:t>
            </a:r>
            <a:endParaRPr lang="en-US" altLang="ko-KR" sz="1201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7" name="Rectangle 4">
            <a:extLst>
              <a:ext uri="{FF2B5EF4-FFF2-40B4-BE49-F238E27FC236}">
                <a16:creationId xmlns="" xmlns:a16="http://schemas.microsoft.com/office/drawing/2014/main" id="{152ECC11-624A-4C41-9794-00CAA8909767}"/>
              </a:ext>
            </a:extLst>
          </p:cNvPr>
          <p:cNvSpPr/>
          <p:nvPr/>
        </p:nvSpPr>
        <p:spPr>
          <a:xfrm>
            <a:off x="6633066" y="2714560"/>
            <a:ext cx="2983569" cy="260711"/>
          </a:xfrm>
          <a:prstGeom prst="rect">
            <a:avLst/>
          </a:prstGeom>
          <a:pattFill prst="lt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90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lIns="36017" tIns="36017" rIns="36017" bIns="36017" rtlCol="0" anchor="ctr"/>
          <a:lstStyle/>
          <a:p>
            <a:pPr algn="ctr" latinLnBrk="0"/>
            <a:r>
              <a:rPr lang="ko-KR" altLang="en-US" sz="120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연령 음수</a:t>
            </a:r>
            <a:r>
              <a:rPr lang="en-US" altLang="ko-KR" sz="120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0</a:t>
            </a:r>
            <a:r>
              <a:rPr lang="ko-KR" altLang="en-US" sz="120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개월 환자 </a:t>
            </a:r>
            <a:endParaRPr lang="en-US" altLang="ko-KR" sz="1201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="" xmlns:a16="http://schemas.microsoft.com/office/drawing/2014/main" id="{A140ACE8-477E-44EF-A78B-1AB99BDC662E}"/>
              </a:ext>
            </a:extLst>
          </p:cNvPr>
          <p:cNvSpPr/>
          <p:nvPr/>
        </p:nvSpPr>
        <p:spPr>
          <a:xfrm>
            <a:off x="7402799" y="4530050"/>
            <a:ext cx="1574383" cy="211514"/>
          </a:xfrm>
          <a:prstGeom prst="rect">
            <a:avLst/>
          </a:prstGeom>
          <a:pattFill prst="lt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9050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lIns="36017" tIns="36017" rIns="36017" bIns="36017" rtlCol="0" anchor="ctr"/>
          <a:lstStyle/>
          <a:p>
            <a:pPr algn="ctr" latinLnBrk="0"/>
            <a:r>
              <a:rPr lang="en-US" altLang="ko-KR" sz="120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VRSA </a:t>
            </a:r>
            <a:r>
              <a:rPr lang="ko-KR" altLang="en-US" sz="120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환자</a:t>
            </a:r>
            <a:endParaRPr lang="en-US" altLang="ko-KR" sz="1201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0" name="Rectangle 4">
            <a:extLst>
              <a:ext uri="{FF2B5EF4-FFF2-40B4-BE49-F238E27FC236}">
                <a16:creationId xmlns="" xmlns:a16="http://schemas.microsoft.com/office/drawing/2014/main" id="{814040C0-6118-4DF6-94B2-FC3CC0786FA7}"/>
              </a:ext>
            </a:extLst>
          </p:cNvPr>
          <p:cNvSpPr/>
          <p:nvPr/>
        </p:nvSpPr>
        <p:spPr>
          <a:xfrm>
            <a:off x="6617414" y="3028547"/>
            <a:ext cx="2999221" cy="1449445"/>
          </a:xfrm>
          <a:prstGeom prst="rect">
            <a:avLst/>
          </a:prstGeom>
          <a:noFill/>
          <a:ln w="19050" cap="flat" cmpd="sng" algn="ctr">
            <a:solidFill>
              <a:schemeClr val="tx2"/>
            </a:solidFill>
            <a:prstDash val="solid"/>
          </a:ln>
          <a:effectLst/>
        </p:spPr>
        <p:txBody>
          <a:bodyPr lIns="36017" tIns="36017" rIns="36017" bIns="36017" rtlCol="0" anchor="ctr"/>
          <a:lstStyle/>
          <a:p>
            <a:pPr algn="ctr" latinLnBrk="0"/>
            <a:r>
              <a:rPr lang="ko-KR" altLang="en-US" sz="1201" b="1" i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분석 대상 </a:t>
            </a:r>
            <a:r>
              <a:rPr lang="ko-KR" altLang="en-US" sz="1201" b="1" i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환자 </a:t>
            </a:r>
            <a:endParaRPr lang="en-US" altLang="ko-KR" sz="1201" b="1" i="1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endParaRPr lang="en-US" altLang="ko-KR" sz="1201" b="1" i="1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algn="ctr" latinLnBrk="0"/>
            <a:r>
              <a:rPr lang="en-US" altLang="ko-KR" sz="1201" b="1" i="1" kern="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39,072 / 87%</a:t>
            </a:r>
            <a:endParaRPr lang="en-US" altLang="ko-KR" sz="1201" b="1" i="1" kern="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aphicFrame>
        <p:nvGraphicFramePr>
          <p:cNvPr id="22" name="표 3">
            <a:extLst>
              <a:ext uri="{FF2B5EF4-FFF2-40B4-BE49-F238E27FC236}">
                <a16:creationId xmlns="" xmlns:a16="http://schemas.microsoft.com/office/drawing/2014/main" id="{DB0E93C9-6441-4AD8-A8D6-3F0A4C0519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5897"/>
              </p:ext>
            </p:extLst>
          </p:nvPr>
        </p:nvGraphicFramePr>
        <p:xfrm>
          <a:off x="273686" y="4868871"/>
          <a:ext cx="9437981" cy="1450029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4408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="" xmlns:a16="http://schemas.microsoft.com/office/drawing/2014/main" val="3163961379"/>
                    </a:ext>
                  </a:extLst>
                </a:gridCol>
                <a:gridCol w="1362075">
                  <a:extLst>
                    <a:ext uri="{9D8B030D-6E8A-4147-A177-3AD203B41FA5}">
                      <a16:colId xmlns="" xmlns:a16="http://schemas.microsoft.com/office/drawing/2014/main" val="2804959411"/>
                    </a:ext>
                  </a:extLst>
                </a:gridCol>
                <a:gridCol w="981075">
                  <a:extLst>
                    <a:ext uri="{9D8B030D-6E8A-4147-A177-3AD203B41FA5}">
                      <a16:colId xmlns="" xmlns:a16="http://schemas.microsoft.com/office/drawing/2014/main" val="1599465364"/>
                    </a:ext>
                  </a:extLst>
                </a:gridCol>
                <a:gridCol w="871906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127730">
                  <a:extLst>
                    <a:ext uri="{9D8B030D-6E8A-4147-A177-3AD203B41FA5}">
                      <a16:colId xmlns="" xmlns:a16="http://schemas.microsoft.com/office/drawing/2014/main" val="2010851084"/>
                    </a:ext>
                  </a:extLst>
                </a:gridCol>
                <a:gridCol w="913327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913327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913327"/>
              </a:tblGrid>
              <a:tr h="247174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“</a:t>
                      </a:r>
                      <a:r>
                        <a:rPr lang="en-US" altLang="ko-KR" sz="1200" b="1" dirty="0" smtClean="0"/>
                        <a:t>2008.</a:t>
                      </a:r>
                      <a:r>
                        <a:rPr lang="en-US" altLang="ko-KR" sz="1200" b="1" baseline="0" dirty="0" smtClean="0"/>
                        <a:t> 01. 01  ~ 2018. 06. 24</a:t>
                      </a:r>
                      <a:r>
                        <a:rPr lang="en-US" altLang="ko-KR" sz="1200" b="1" dirty="0" smtClean="0"/>
                        <a:t>” </a:t>
                      </a:r>
                      <a:endParaRPr lang="en-US" altLang="ko-KR" sz="1200" b="1" dirty="0"/>
                    </a:p>
                    <a:p>
                      <a:pPr algn="ctr" latinLnBrk="1"/>
                      <a:r>
                        <a:rPr lang="ko-KR" altLang="en-US" sz="1200" b="1" dirty="0"/>
                        <a:t>기준 </a:t>
                      </a:r>
                      <a:r>
                        <a:rPr lang="ko-KR" altLang="en-US" sz="1200" b="1" dirty="0" smtClean="0"/>
                        <a:t>총 환자 수</a:t>
                      </a:r>
                      <a:endParaRPr lang="ko-KR" altLang="en-US" sz="1200" b="1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제외조건</a:t>
                      </a:r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0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/>
                        <a:t>분석대상환자</a:t>
                      </a:r>
                      <a:endParaRPr lang="en-US" altLang="ko-KR" sz="1200" b="1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/>
                        <a:t>MDR</a:t>
                      </a:r>
                      <a:r>
                        <a:rPr lang="en-US" altLang="ko-KR" sz="1200" b="1" baseline="0" dirty="0" smtClean="0"/>
                        <a:t> Type </a:t>
                      </a:r>
                      <a:r>
                        <a:rPr lang="ko-KR" altLang="en-US" sz="1200" b="1" baseline="0" dirty="0" smtClean="0"/>
                        <a:t>별 환자</a:t>
                      </a:r>
                      <a:endParaRPr lang="ko-KR" altLang="en-US" sz="1200" b="1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26937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연령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ko-KR" altLang="en-US" sz="1200" b="1" dirty="0" smtClean="0"/>
                        <a:t>음수</a:t>
                      </a:r>
                      <a:endParaRPr lang="en-US" altLang="ko-KR" sz="1200" b="1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/>
                        <a:t>외래</a:t>
                      </a:r>
                      <a:r>
                        <a:rPr lang="en-US" altLang="ko-KR" sz="1200" b="1" baseline="0" dirty="0" smtClean="0"/>
                        <a:t>/ </a:t>
                      </a:r>
                      <a:r>
                        <a:rPr lang="ko-KR" altLang="en-US" sz="1200" b="1" baseline="0" dirty="0" smtClean="0"/>
                        <a:t>입원 경로 </a:t>
                      </a:r>
                      <a:r>
                        <a:rPr lang="ko-KR" altLang="en-US" sz="1200" b="1" baseline="0" dirty="0" err="1" smtClean="0"/>
                        <a:t>미기록</a:t>
                      </a:r>
                      <a:r>
                        <a:rPr lang="ko-KR" altLang="en-US" sz="1200" b="1" baseline="0" dirty="0" smtClean="0"/>
                        <a:t> </a:t>
                      </a:r>
                      <a:r>
                        <a:rPr lang="ko-KR" altLang="en-US" sz="1200" b="1" dirty="0" smtClean="0"/>
                        <a:t>환자</a:t>
                      </a:r>
                      <a:endParaRPr lang="en-US" altLang="ko-KR" sz="1200" b="1" dirty="0" smtClean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VRSA</a:t>
                      </a:r>
                      <a:r>
                        <a:rPr lang="en-US" altLang="ko-KR" sz="1200" b="1" baseline="0" dirty="0" smtClean="0"/>
                        <a:t> </a:t>
                      </a:r>
                      <a:r>
                        <a:rPr lang="ko-KR" altLang="en-US" sz="1200" b="1" dirty="0" smtClean="0"/>
                        <a:t>환자</a:t>
                      </a:r>
                      <a:endParaRPr lang="en-US" altLang="ko-KR" sz="1200" b="1" dirty="0" smtClean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/>
                        <a:t>합계</a:t>
                      </a:r>
                      <a:endParaRPr lang="en-US" altLang="ko-KR" sz="1200" b="1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/>
                        <a:t>MRSA</a:t>
                      </a:r>
                      <a:endParaRPr lang="en-US" altLang="ko-KR" sz="1200" b="1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VRE</a:t>
                      </a:r>
                      <a:endParaRPr lang="ko-KR" altLang="en-US" sz="1200" b="1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/>
                        <a:t>ETC </a:t>
                      </a:r>
                      <a:endParaRPr lang="ko-KR" altLang="en-US" sz="1200" b="1" dirty="0"/>
                    </a:p>
                  </a:txBody>
                  <a:tcPr marL="91484" marR="91484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8422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44,544</a:t>
                      </a:r>
                      <a:endParaRPr lang="ko-KR" altLang="en-US" sz="1200" dirty="0"/>
                    </a:p>
                  </a:txBody>
                  <a:tcPr marL="91484" marR="108000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1,447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84" marR="108000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4,023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84" marR="108000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/>
                        <a:t>2</a:t>
                      </a:r>
                      <a:endParaRPr lang="en-US" altLang="ko-KR" sz="1200" dirty="0"/>
                    </a:p>
                  </a:txBody>
                  <a:tcPr marL="91484" marR="108000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5,472</a:t>
                      </a:r>
                      <a:endParaRPr lang="en-US" altLang="ko-KR" sz="1200" dirty="0"/>
                    </a:p>
                  </a:txBody>
                  <a:tcPr marL="91484" marR="108000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39,072</a:t>
                      </a:r>
                      <a:endParaRPr lang="ko-KR" altLang="en-US" sz="1200" dirty="0"/>
                    </a:p>
                  </a:txBody>
                  <a:tcPr marL="91484" marR="108000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ysClr val="windowText" lastClr="000000"/>
                          </a:solidFill>
                          <a:effectLst/>
                          <a:latin typeface="Arial"/>
                        </a:rPr>
                        <a:t>6,108</a:t>
                      </a:r>
                      <a:endParaRPr lang="en-US" altLang="ko-KR" sz="12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/>
                      </a:endParaRPr>
                    </a:p>
                  </a:txBody>
                  <a:tcPr marL="2023" marR="108000" marT="202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ysClr val="windowText" lastClr="000000"/>
                          </a:solidFill>
                          <a:effectLst/>
                          <a:latin typeface="Arial"/>
                        </a:rPr>
                        <a:t>3,035</a:t>
                      </a:r>
                      <a:endParaRPr lang="en-US" altLang="ko-KR" sz="12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/>
                      </a:endParaRPr>
                    </a:p>
                  </a:txBody>
                  <a:tcPr marL="2023" marR="108000" marT="202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ysClr val="windowText" lastClr="000000"/>
                          </a:solidFill>
                          <a:effectLst/>
                          <a:latin typeface="Arial"/>
                        </a:rPr>
                        <a:t>29,929</a:t>
                      </a:r>
                      <a:endParaRPr lang="en-US" altLang="ko-KR" sz="1200" b="0" i="0" u="none" strike="noStrike" dirty="0">
                        <a:solidFill>
                          <a:sysClr val="windowText" lastClr="000000"/>
                        </a:solidFill>
                        <a:effectLst/>
                        <a:latin typeface="Arial"/>
                      </a:endParaRPr>
                    </a:p>
                  </a:txBody>
                  <a:tcPr marL="2023" marR="108000" marT="2023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207728172"/>
                  </a:ext>
                </a:extLst>
              </a:tr>
              <a:tr h="238422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/>
                        <a:t>100%</a:t>
                      </a:r>
                      <a:endParaRPr lang="ko-KR" altLang="en-US" sz="1200" dirty="0"/>
                    </a:p>
                  </a:txBody>
                  <a:tcPr marL="91484" marR="108000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9%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12%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1200" dirty="0" smtClean="0"/>
                        <a:t>87%</a:t>
                      </a:r>
                      <a:endParaRPr lang="ko-KR" altLang="en-US" sz="1200" dirty="0"/>
                    </a:p>
                  </a:txBody>
                  <a:tcPr marL="91484" marR="108000" marT="45742" marB="4574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15%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78%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9525" marR="108000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직사각형 21">
            <a:extLst>
              <a:ext uri="{FF2B5EF4-FFF2-40B4-BE49-F238E27FC236}">
                <a16:creationId xmlns="" xmlns:a16="http://schemas.microsoft.com/office/drawing/2014/main" id="{6905EF3B-2963-4EF5-BAB7-B7D07E32C8B4}"/>
              </a:ext>
            </a:extLst>
          </p:cNvPr>
          <p:cNvSpPr/>
          <p:nvPr/>
        </p:nvSpPr>
        <p:spPr>
          <a:xfrm>
            <a:off x="278532" y="1341442"/>
            <a:ext cx="1388343" cy="37085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</a:pPr>
            <a:r>
              <a:rPr lang="ko-KR" altLang="en-US" sz="1401" b="1" dirty="0" smtClean="0">
                <a:solidFill>
                  <a:schemeClr val="tx1"/>
                </a:solidFill>
                <a:latin typeface="+mn-ea"/>
              </a:rPr>
              <a:t>분석 목적 </a:t>
            </a:r>
            <a:endParaRPr lang="en-US" altLang="ko-KR" sz="1401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모서리가 둥근 직사각형 8">
            <a:extLst>
              <a:ext uri="{FF2B5EF4-FFF2-40B4-BE49-F238E27FC236}">
                <a16:creationId xmlns="" xmlns:a16="http://schemas.microsoft.com/office/drawing/2014/main" id="{95A9DBBA-E196-4274-A4A3-153A9C9C0B50}"/>
              </a:ext>
            </a:extLst>
          </p:cNvPr>
          <p:cNvSpPr/>
          <p:nvPr/>
        </p:nvSpPr>
        <p:spPr bwMode="auto">
          <a:xfrm>
            <a:off x="272863" y="1740870"/>
            <a:ext cx="9429845" cy="396190"/>
          </a:xfrm>
          <a:prstGeom prst="roundRect">
            <a:avLst>
              <a:gd name="adj" fmla="val 6966"/>
            </a:avLst>
          </a:prstGeom>
          <a:solidFill>
            <a:srgbClr val="FFFFFF"/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indent="85725"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400" kern="0" dirty="0">
                <a:solidFill>
                  <a:srgbClr val="000000"/>
                </a:solidFill>
                <a:latin typeface="+mn-ea"/>
              </a:rPr>
              <a:t>MDR </a:t>
            </a:r>
            <a:r>
              <a:rPr kumimoji="1" lang="ko-KR" altLang="en-US" sz="1400" kern="0" dirty="0">
                <a:solidFill>
                  <a:srgbClr val="000000"/>
                </a:solidFill>
                <a:latin typeface="+mn-ea"/>
              </a:rPr>
              <a:t>환자에게 선택적 항생제 처방 단계에서 제공 가능한 처방을 경험적 항생제 처방 단계에서 제공</a:t>
            </a:r>
          </a:p>
        </p:txBody>
      </p:sp>
    </p:spTree>
    <p:extLst>
      <p:ext uri="{BB962C8B-B14F-4D97-AF65-F5344CB8AC3E}">
        <p14:creationId xmlns:p14="http://schemas.microsoft.com/office/powerpoint/2010/main" val="3197506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분석 목적 및 대상 </a:t>
            </a:r>
            <a:r>
              <a:rPr lang="ko-KR" altLang="en-US" dirty="0" smtClean="0"/>
              <a:t>정의 </a:t>
            </a:r>
            <a:r>
              <a:rPr lang="en-US" altLang="ko-KR" dirty="0" smtClean="0"/>
              <a:t>(2/2)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3777700" y="6486355"/>
            <a:ext cx="2311400" cy="365125"/>
          </a:xfrm>
        </p:spPr>
        <p:txBody>
          <a:bodyPr/>
          <a:lstStyle/>
          <a:p>
            <a:fld id="{B6DFE47B-94CE-4970-B9E9-D8C3683B0CF5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grpSp>
        <p:nvGrpSpPr>
          <p:cNvPr id="11" name="그룹 10"/>
          <p:cNvGrpSpPr/>
          <p:nvPr/>
        </p:nvGrpSpPr>
        <p:grpSpPr>
          <a:xfrm>
            <a:off x="6290451" y="1681351"/>
            <a:ext cx="3325405" cy="3716500"/>
            <a:chOff x="2214283" y="1864658"/>
            <a:chExt cx="2330824" cy="4332626"/>
          </a:xfrm>
        </p:grpSpPr>
        <p:sp>
          <p:nvSpPr>
            <p:cNvPr id="9" name="직사각형 8"/>
            <p:cNvSpPr/>
            <p:nvPr/>
          </p:nvSpPr>
          <p:spPr>
            <a:xfrm>
              <a:off x="2214283" y="2211504"/>
              <a:ext cx="2330824" cy="398578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1100" b="1" dirty="0" smtClean="0">
                  <a:solidFill>
                    <a:schemeClr val="tx1"/>
                  </a:solidFill>
                </a:rPr>
                <a:t>1</a:t>
              </a:r>
              <a:r>
                <a:rPr lang="ko-KR" altLang="en-US" sz="1100" b="1" dirty="0" smtClean="0">
                  <a:solidFill>
                    <a:schemeClr val="tx1"/>
                  </a:solidFill>
                </a:rPr>
                <a:t>차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1588">
                <a:buFont typeface="Wingdings" panose="05000000000000000000" pitchFamily="2" charset="2"/>
                <a:buChar char="§"/>
              </a:pPr>
              <a:r>
                <a:rPr lang="en-US" altLang="ko-KR" sz="1100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의료진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의견 및 선행연구 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1588">
                <a:buFont typeface="Wingdings" panose="05000000000000000000" pitchFamily="2" charset="2"/>
                <a:buChar char="§"/>
              </a:pPr>
              <a:r>
                <a:rPr lang="en-US" altLang="ko-KR" sz="1100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빈도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기초통계 분석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, </a:t>
              </a:r>
              <a:r>
                <a:rPr lang="ko-KR" altLang="en-US" sz="1100" dirty="0" err="1" smtClean="0">
                  <a:solidFill>
                    <a:schemeClr val="tx1"/>
                  </a:solidFill>
                </a:rPr>
                <a:t>카이스퀘어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, G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테스트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1588">
                <a:buFont typeface="Wingdings" panose="05000000000000000000" pitchFamily="2" charset="2"/>
                <a:buChar char="§"/>
              </a:pPr>
              <a:r>
                <a:rPr lang="en-US" altLang="ko-KR" sz="1100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상관관계 분석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/>
              </a:r>
              <a:br>
                <a:rPr lang="en-US" altLang="ko-KR" sz="1100" dirty="0" smtClean="0">
                  <a:solidFill>
                    <a:schemeClr val="tx1"/>
                  </a:solidFill>
                </a:rPr>
              </a:br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en-US" altLang="ko-KR" sz="1100" b="1" dirty="0" smtClean="0">
                  <a:solidFill>
                    <a:schemeClr val="tx1"/>
                  </a:solidFill>
                </a:rPr>
                <a:t>2</a:t>
              </a:r>
              <a:r>
                <a:rPr lang="ko-KR" altLang="en-US" sz="1100" b="1" dirty="0" smtClean="0">
                  <a:solidFill>
                    <a:schemeClr val="tx1"/>
                  </a:solidFill>
                </a:rPr>
                <a:t>차</a:t>
              </a:r>
              <a:endParaRPr lang="en-US" altLang="ko-KR" sz="1100" b="1" dirty="0" smtClean="0">
                <a:solidFill>
                  <a:schemeClr val="tx1"/>
                </a:solidFill>
              </a:endParaRPr>
            </a:p>
            <a:p>
              <a:pPr marL="85725" indent="1588">
                <a:buFont typeface="Wingdings" panose="05000000000000000000" pitchFamily="2" charset="2"/>
                <a:buChar char="§"/>
              </a:pPr>
              <a:r>
                <a:rPr lang="en-US" altLang="ko-KR" sz="1100" dirty="0" smtClean="0">
                  <a:solidFill>
                    <a:schemeClr val="tx1"/>
                  </a:solidFill>
                </a:rPr>
                <a:t> Logistic Regression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pPr marL="85725" indent="1588">
                <a:buFont typeface="Wingdings" panose="05000000000000000000" pitchFamily="2" charset="2"/>
                <a:buChar char="§"/>
              </a:pPr>
              <a:r>
                <a:rPr lang="ko-KR" altLang="en-US" sz="1100" dirty="0">
                  <a:solidFill>
                    <a:schemeClr val="tx1"/>
                  </a:solidFill>
                </a:rPr>
                <a:t> 의료진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의견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/>
              </a:r>
              <a:br>
                <a:rPr lang="en-US" altLang="ko-KR" sz="1100" dirty="0" smtClean="0">
                  <a:solidFill>
                    <a:schemeClr val="tx1"/>
                  </a:solidFill>
                </a:rPr>
              </a:br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-85725"/>
              <a:r>
                <a:rPr lang="en-US" altLang="ko-KR" sz="1100" b="1" dirty="0" smtClean="0">
                  <a:solidFill>
                    <a:schemeClr val="tx1"/>
                  </a:solidFill>
                </a:rPr>
                <a:t>3</a:t>
              </a:r>
              <a:r>
                <a:rPr lang="ko-KR" altLang="en-US" sz="1100" b="1" dirty="0" smtClean="0">
                  <a:solidFill>
                    <a:schemeClr val="tx1"/>
                  </a:solidFill>
                </a:rPr>
                <a:t>차</a:t>
              </a:r>
              <a:endParaRPr lang="en-US" altLang="ko-KR" sz="1100" b="1" dirty="0" smtClean="0">
                <a:solidFill>
                  <a:schemeClr val="tx1"/>
                </a:solidFill>
              </a:endParaRPr>
            </a:p>
            <a:p>
              <a:pPr marL="85725" indent="1588">
                <a:buFont typeface="Wingdings" panose="05000000000000000000" pitchFamily="2" charset="2"/>
                <a:buChar char="§"/>
              </a:pPr>
              <a:r>
                <a:rPr lang="en-US" altLang="ko-KR" sz="1100" dirty="0">
                  <a:solidFill>
                    <a:schemeClr val="tx1"/>
                  </a:solidFill>
                </a:rPr>
                <a:t> Logistic Regression</a:t>
              </a:r>
            </a:p>
            <a:p>
              <a:pPr marL="85725" indent="1588">
                <a:buFont typeface="Wingdings" panose="05000000000000000000" pitchFamily="2" charset="2"/>
                <a:buChar char="§"/>
              </a:pPr>
              <a:r>
                <a:rPr lang="ko-KR" altLang="en-US" sz="1100" dirty="0">
                  <a:solidFill>
                    <a:schemeClr val="tx1"/>
                  </a:solidFill>
                </a:rPr>
                <a:t> 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TF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의견 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: RF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항목 확대 추출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(10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개 → 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15~20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개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)</a:t>
              </a:r>
              <a:br>
                <a:rPr lang="en-US" altLang="ko-KR" sz="1100" dirty="0" smtClean="0">
                  <a:solidFill>
                    <a:schemeClr val="tx1"/>
                  </a:solidFill>
                </a:rPr>
              </a:br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-85725"/>
              <a:r>
                <a:rPr lang="en-US" altLang="ko-KR" sz="1100" b="1" dirty="0" smtClean="0">
                  <a:solidFill>
                    <a:schemeClr val="tx1"/>
                  </a:solidFill>
                </a:rPr>
                <a:t>4</a:t>
              </a:r>
              <a:r>
                <a:rPr lang="ko-KR" altLang="en-US" sz="1100" b="1" dirty="0" smtClean="0">
                  <a:solidFill>
                    <a:schemeClr val="tx1"/>
                  </a:solidFill>
                </a:rPr>
                <a:t>차</a:t>
              </a:r>
              <a:endParaRPr lang="en-US" altLang="ko-KR" sz="1100" b="1" dirty="0">
                <a:solidFill>
                  <a:schemeClr val="tx1"/>
                </a:solidFill>
              </a:endParaRPr>
            </a:p>
            <a:p>
              <a:pPr marL="85725" indent="1588">
                <a:buFont typeface="Wingdings" panose="05000000000000000000" pitchFamily="2" charset="2"/>
                <a:buChar char="§"/>
              </a:pPr>
              <a:r>
                <a:rPr lang="en-US" altLang="ko-KR" sz="1100" dirty="0" smtClean="0">
                  <a:solidFill>
                    <a:schemeClr val="tx1"/>
                  </a:solidFill>
                </a:rPr>
                <a:t> TF </a:t>
              </a:r>
              <a:r>
                <a:rPr lang="ko-KR" altLang="en-US" sz="1100" dirty="0">
                  <a:solidFill>
                    <a:schemeClr val="tx1"/>
                  </a:solidFill>
                </a:rPr>
                <a:t>의견 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: Training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사용 데이터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 </a:t>
              </a:r>
              <a:r>
                <a:rPr lang="en-US" altLang="ko-KR" sz="1100" dirty="0">
                  <a:solidFill>
                    <a:schemeClr val="tx1"/>
                  </a:solidFill>
                </a:rPr>
                <a:t>Test </a:t>
              </a:r>
              <a:r>
                <a:rPr lang="ko-KR" altLang="en-US" sz="1100" dirty="0">
                  <a:solidFill>
                    <a:schemeClr val="tx1"/>
                  </a:solidFill>
                </a:rPr>
                <a:t>데이터에서 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/>
              </a:r>
              <a:br>
                <a:rPr lang="en-US" altLang="ko-KR" sz="1100" dirty="0" smtClean="0">
                  <a:solidFill>
                    <a:schemeClr val="tx1"/>
                  </a:solidFill>
                </a:rPr>
              </a:br>
              <a:r>
                <a:rPr lang="en-US" altLang="ko-KR" sz="1100" dirty="0" smtClean="0">
                  <a:solidFill>
                    <a:schemeClr val="tx1"/>
                  </a:solidFill>
                </a:rPr>
                <a:t>             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재 사용 </a:t>
              </a:r>
              <a:r>
                <a:rPr lang="ko-KR" altLang="en-US" sz="1100" dirty="0">
                  <a:solidFill>
                    <a:schemeClr val="tx1"/>
                  </a:solidFill>
                </a:rPr>
                <a:t>되지 않도록</a:t>
              </a:r>
              <a:r>
                <a:rPr lang="en-US" altLang="ko-KR" sz="1100" dirty="0">
                  <a:solidFill>
                    <a:schemeClr val="tx1"/>
                  </a:solidFill>
                </a:rPr>
                <a:t> </a:t>
              </a:r>
              <a:r>
                <a:rPr lang="ko-KR" altLang="en-US" sz="1100" dirty="0">
                  <a:solidFill>
                    <a:schemeClr val="tx1"/>
                  </a:solidFill>
                </a:rPr>
                <a:t>조절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반영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1588">
                <a:buFont typeface="Wingdings" panose="05000000000000000000" pitchFamily="2" charset="2"/>
                <a:buChar char="§"/>
              </a:pPr>
              <a:r>
                <a:rPr lang="en-US" altLang="ko-KR" sz="1100" dirty="0" smtClean="0">
                  <a:solidFill>
                    <a:schemeClr val="tx1"/>
                  </a:solidFill>
                </a:rPr>
                <a:t> Logistic </a:t>
              </a:r>
              <a:r>
                <a:rPr lang="en-US" altLang="ko-KR" sz="1100" dirty="0">
                  <a:solidFill>
                    <a:schemeClr val="tx1"/>
                  </a:solidFill>
                </a:rPr>
                <a:t>Regression </a:t>
              </a:r>
              <a:r>
                <a:rPr lang="ko-KR" altLang="en-US" sz="1100" dirty="0">
                  <a:solidFill>
                    <a:schemeClr val="tx1"/>
                  </a:solidFill>
                </a:rPr>
                <a:t>모델 성능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향상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/>
              </a:r>
              <a:br>
                <a:rPr lang="en-US" altLang="ko-KR" sz="1100" dirty="0" smtClean="0">
                  <a:solidFill>
                    <a:schemeClr val="tx1"/>
                  </a:solidFill>
                </a:rPr>
              </a:br>
              <a:endParaRPr lang="en-US" altLang="ko-KR" sz="1100" b="1" dirty="0" smtClean="0">
                <a:solidFill>
                  <a:schemeClr val="tx1"/>
                </a:solidFill>
              </a:endParaRPr>
            </a:p>
            <a:p>
              <a:pPr marL="85725" indent="-85725"/>
              <a:r>
                <a:rPr lang="en-US" altLang="ko-KR" sz="1100" b="1" dirty="0" smtClean="0">
                  <a:solidFill>
                    <a:schemeClr val="tx1"/>
                  </a:solidFill>
                </a:rPr>
                <a:t>5</a:t>
              </a:r>
              <a:r>
                <a:rPr lang="ko-KR" altLang="en-US" sz="1100" b="1" dirty="0" smtClean="0">
                  <a:solidFill>
                    <a:schemeClr val="tx1"/>
                  </a:solidFill>
                </a:rPr>
                <a:t>차</a:t>
              </a:r>
              <a:endParaRPr lang="en-US" altLang="ko-KR" sz="1100" b="1" dirty="0" smtClean="0">
                <a:solidFill>
                  <a:schemeClr val="tx1"/>
                </a:solidFill>
              </a:endParaRPr>
            </a:p>
            <a:p>
              <a:pPr marL="85725" indent="3175">
                <a:buFont typeface="Wingdings" panose="05000000000000000000" pitchFamily="2" charset="2"/>
                <a:buChar char="§"/>
              </a:pPr>
              <a:r>
                <a:rPr lang="en-US" altLang="ko-KR" sz="1100" dirty="0" smtClean="0">
                  <a:solidFill>
                    <a:schemeClr val="tx1"/>
                  </a:solidFill>
                </a:rPr>
                <a:t> RF </a:t>
              </a:r>
              <a:r>
                <a:rPr lang="en-US" altLang="ko-KR" sz="1100" dirty="0">
                  <a:solidFill>
                    <a:schemeClr val="tx1"/>
                  </a:solidFill>
                </a:rPr>
                <a:t>Pool </a:t>
              </a:r>
              <a:r>
                <a:rPr lang="ko-KR" altLang="en-US" sz="1100" dirty="0">
                  <a:solidFill>
                    <a:schemeClr val="tx1"/>
                  </a:solidFill>
                </a:rPr>
                <a:t>중 </a:t>
              </a:r>
              <a:r>
                <a:rPr lang="en-US" altLang="ko-KR" sz="1100" dirty="0">
                  <a:solidFill>
                    <a:schemeClr val="tx1"/>
                  </a:solidFill>
                </a:rPr>
                <a:t>DIAG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항목 축소 </a:t>
              </a:r>
              <a:r>
                <a:rPr lang="ko-KR" altLang="en-US" sz="1100" dirty="0">
                  <a:solidFill>
                    <a:schemeClr val="tx1"/>
                  </a:solidFill>
                </a:rPr>
                <a:t>기준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변경</a:t>
              </a:r>
              <a:endParaRPr lang="en-US" altLang="ko-KR" sz="11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214283" y="1864658"/>
              <a:ext cx="2330824" cy="34432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1100" b="1" dirty="0" smtClean="0">
                  <a:solidFill>
                    <a:schemeClr val="tx1"/>
                  </a:solidFill>
                </a:rPr>
                <a:t>RF </a:t>
              </a:r>
              <a:r>
                <a:rPr lang="ko-KR" altLang="en-US" sz="1100" b="1" dirty="0" smtClean="0">
                  <a:solidFill>
                    <a:schemeClr val="tx1"/>
                  </a:solidFill>
                </a:rPr>
                <a:t>축소 기</a:t>
              </a:r>
              <a:r>
                <a:rPr lang="ko-KR" altLang="en-US" sz="1100" b="1" dirty="0">
                  <a:solidFill>
                    <a:schemeClr val="tx1"/>
                  </a:solidFill>
                </a:rPr>
                <a:t>준</a:t>
              </a: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3047999" y="1681353"/>
            <a:ext cx="2743201" cy="3716497"/>
            <a:chOff x="2214283" y="597208"/>
            <a:chExt cx="2330824" cy="2955943"/>
          </a:xfrm>
        </p:grpSpPr>
        <p:sp>
          <p:nvSpPr>
            <p:cNvPr id="40" name="직사각형 39"/>
            <p:cNvSpPr/>
            <p:nvPr/>
          </p:nvSpPr>
          <p:spPr>
            <a:xfrm>
              <a:off x="2214283" y="824965"/>
              <a:ext cx="2330824" cy="2728186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-85725">
                <a:buFont typeface="Wingdings" panose="05000000000000000000" pitchFamily="2" charset="2"/>
                <a:buChar char="§"/>
              </a:pPr>
              <a:r>
                <a:rPr lang="en-US" altLang="ko-KR" sz="1100" dirty="0" smtClean="0">
                  <a:solidFill>
                    <a:schemeClr val="tx1"/>
                  </a:solidFill>
                </a:rPr>
                <a:t> AI </a:t>
              </a:r>
              <a:r>
                <a:rPr lang="en-US" altLang="ko-KR" sz="1100" dirty="0">
                  <a:solidFill>
                    <a:schemeClr val="tx1"/>
                  </a:solidFill>
                </a:rPr>
                <a:t>Data : 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2008. 01. 01~2018.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 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06.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 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24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ko-KR" altLang="en-US" sz="1100" dirty="0">
                  <a:solidFill>
                    <a:schemeClr val="tx1"/>
                  </a:solidFill>
                </a:rPr>
                <a:t> 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pPr marL="85725" indent="-85725">
                <a:buFont typeface="Wingdings" panose="05000000000000000000" pitchFamily="2" charset="2"/>
                <a:buChar char="§"/>
              </a:pPr>
              <a:r>
                <a:rPr lang="en-US" altLang="ko-KR" sz="1100" dirty="0">
                  <a:solidFill>
                    <a:schemeClr val="tx1"/>
                  </a:solidFill>
                </a:rPr>
                <a:t> ST</a:t>
              </a:r>
              <a:r>
                <a:rPr lang="ko-KR" altLang="en-US" sz="1100" dirty="0">
                  <a:solidFill>
                    <a:schemeClr val="tx1"/>
                  </a:solidFill>
                </a:rPr>
                <a:t> </a:t>
              </a:r>
              <a:r>
                <a:rPr lang="en-US" altLang="ko-KR" sz="1100" dirty="0">
                  <a:solidFill>
                    <a:schemeClr val="tx1"/>
                  </a:solidFill>
                </a:rPr>
                <a:t>Data : 2008. 01. 01~2018.</a:t>
              </a:r>
              <a:r>
                <a:rPr lang="ko-KR" altLang="en-US" sz="1100" dirty="0">
                  <a:solidFill>
                    <a:schemeClr val="tx1"/>
                  </a:solidFill>
                </a:rPr>
                <a:t> </a:t>
              </a:r>
              <a:r>
                <a:rPr lang="en-US" altLang="ko-KR" sz="1100" dirty="0">
                  <a:solidFill>
                    <a:schemeClr val="tx1"/>
                  </a:solidFill>
                </a:rPr>
                <a:t>06.</a:t>
              </a:r>
              <a:r>
                <a:rPr lang="ko-KR" altLang="en-US" sz="1100" dirty="0">
                  <a:solidFill>
                    <a:schemeClr val="tx1"/>
                  </a:solidFill>
                </a:rPr>
                <a:t> </a:t>
              </a:r>
              <a:r>
                <a:rPr lang="en-US" altLang="ko-KR" sz="1100" dirty="0">
                  <a:solidFill>
                    <a:schemeClr val="tx1"/>
                  </a:solidFill>
                </a:rPr>
                <a:t>24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 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en-US" altLang="ko-KR" sz="1100" dirty="0" smtClean="0">
                  <a:solidFill>
                    <a:schemeClr val="tx1"/>
                  </a:solidFill>
                </a:rPr>
                <a:t> </a:t>
              </a:r>
            </a:p>
            <a:p>
              <a:pPr marL="85725" indent="-85725">
                <a:buFont typeface="Wingdings" panose="05000000000000000000" pitchFamily="2" charset="2"/>
                <a:buChar char="§"/>
              </a:pPr>
              <a:r>
                <a:rPr lang="en-US" altLang="ko-KR" sz="1100" dirty="0" smtClean="0">
                  <a:solidFill>
                    <a:schemeClr val="tx1"/>
                  </a:solidFill>
                </a:rPr>
                <a:t> Merge Key: </a:t>
              </a:r>
              <a:r>
                <a:rPr lang="en-US" altLang="ko-KR" sz="1100" dirty="0">
                  <a:solidFill>
                    <a:schemeClr val="tx1"/>
                  </a:solidFill>
                </a:rPr>
                <a:t>PTNT_UUID , MED_DATE</a:t>
              </a:r>
            </a:p>
            <a:p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-85725">
                <a:buFont typeface="Wingdings" panose="05000000000000000000" pitchFamily="2" charset="2"/>
                <a:buChar char="§"/>
              </a:pPr>
              <a:r>
                <a:rPr lang="en-US" altLang="ko-KR" sz="1100" dirty="0" smtClean="0">
                  <a:solidFill>
                    <a:schemeClr val="tx1"/>
                  </a:solidFill>
                </a:rPr>
                <a:t>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연령 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: 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음수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, 0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개월 제외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-85725">
                <a:buFont typeface="Wingdings" panose="05000000000000000000" pitchFamily="2" charset="2"/>
                <a:buChar char="§"/>
              </a:pPr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-85725">
                <a:buFont typeface="Wingdings" panose="05000000000000000000" pitchFamily="2" charset="2"/>
                <a:buChar char="§"/>
              </a:pPr>
              <a:r>
                <a:rPr lang="en-US" altLang="ko-KR" sz="1100" dirty="0" smtClean="0">
                  <a:solidFill>
                    <a:schemeClr val="tx1"/>
                  </a:solidFill>
                </a:rPr>
                <a:t> MED_DATE : 2008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년 이전 기록 삭제</a:t>
              </a:r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-85725">
                <a:buFont typeface="Wingdings" panose="05000000000000000000" pitchFamily="2" charset="2"/>
                <a:buChar char="§"/>
              </a:pPr>
              <a:endParaRPr lang="en-US" altLang="ko-KR" sz="1100" dirty="0" smtClean="0">
                <a:solidFill>
                  <a:schemeClr val="tx1"/>
                </a:solidFill>
              </a:endParaRPr>
            </a:p>
            <a:p>
              <a:pPr marL="85725" indent="-85725">
                <a:buFont typeface="Wingdings" panose="05000000000000000000" pitchFamily="2" charset="2"/>
                <a:buChar char="§"/>
              </a:pPr>
              <a:r>
                <a:rPr lang="ko-KR" altLang="en-US" sz="1100" dirty="0" smtClean="0">
                  <a:solidFill>
                    <a:schemeClr val="tx1"/>
                  </a:solidFill>
                </a:rPr>
                <a:t> 외래</a:t>
              </a:r>
              <a:r>
                <a:rPr lang="en-US" altLang="ko-KR" sz="1100" dirty="0" smtClean="0">
                  <a:solidFill>
                    <a:schemeClr val="tx1"/>
                  </a:solidFill>
                </a:rPr>
                <a:t>/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입</a:t>
              </a:r>
              <a:r>
                <a:rPr lang="ko-KR" altLang="en-US" sz="1100" dirty="0">
                  <a:solidFill>
                    <a:schemeClr val="tx1"/>
                  </a:solidFill>
                </a:rPr>
                <a:t>원</a:t>
              </a:r>
              <a:r>
                <a:rPr lang="ko-KR" altLang="en-US" sz="1100" dirty="0" smtClean="0">
                  <a:solidFill>
                    <a:schemeClr val="tx1"/>
                  </a:solidFill>
                </a:rPr>
                <a:t> 구분 하여 외래 환자 삭제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pPr marL="85725" indent="-85725">
                <a:buFont typeface="Wingdings" panose="05000000000000000000" pitchFamily="2" charset="2"/>
                <a:buChar char="§"/>
              </a:pPr>
              <a:endParaRPr lang="en-US" altLang="ko-KR" sz="1100" dirty="0" smtClean="0">
                <a:solidFill>
                  <a:schemeClr val="tx1"/>
                </a:solidFill>
              </a:endParaRPr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2214283" y="597208"/>
              <a:ext cx="2330824" cy="22928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 smtClean="0">
                  <a:solidFill>
                    <a:schemeClr val="tx1"/>
                  </a:solidFill>
                </a:rPr>
                <a:t>Data Merge &amp; Cleansing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6" name="Chevron 51"/>
          <p:cNvSpPr/>
          <p:nvPr/>
        </p:nvSpPr>
        <p:spPr>
          <a:xfrm>
            <a:off x="344488" y="1709928"/>
            <a:ext cx="2335958" cy="459919"/>
          </a:xfrm>
          <a:prstGeom prst="chevron">
            <a:avLst>
              <a:gd name="adj" fmla="val 33750"/>
            </a:avLst>
          </a:prstGeom>
          <a:solidFill>
            <a:schemeClr val="bg1"/>
          </a:solidFill>
          <a:ln w="12700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lnSpc>
                <a:spcPct val="95000"/>
              </a:lnSpc>
              <a:spcBef>
                <a:spcPct val="10000"/>
              </a:spcBef>
            </a:pPr>
            <a:r>
              <a:rPr lang="ko-KR" altLang="en-US" sz="14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설명 변수 정의</a:t>
            </a:r>
            <a:endParaRPr lang="en-US" sz="14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57" name="모서리가 둥근 직사각형 56"/>
          <p:cNvSpPr/>
          <p:nvPr/>
        </p:nvSpPr>
        <p:spPr bwMode="auto">
          <a:xfrm>
            <a:off x="344488" y="2273927"/>
            <a:ext cx="2203735" cy="396000"/>
          </a:xfrm>
          <a:prstGeom prst="roundRect">
            <a:avLst>
              <a:gd name="adj" fmla="val 6966"/>
            </a:avLst>
          </a:prstGeom>
          <a:solidFill>
            <a:schemeClr val="bg1">
              <a:lumMod val="50000"/>
            </a:schemeClr>
          </a:solidFill>
          <a:ln w="12700" algn="ctr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 latinLnBrk="0">
              <a:spcBef>
                <a:spcPct val="50000"/>
              </a:spcBef>
              <a:buClr>
                <a:srgbClr val="EEECE1"/>
              </a:buClr>
            </a:pPr>
            <a:r>
              <a:rPr kumimoji="1" lang="ko-KR" altLang="en-US" sz="12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분석 항목 검토</a:t>
            </a:r>
            <a:endParaRPr kumimoji="1" lang="en-US" altLang="ko-KR" sz="12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 bwMode="auto">
          <a:xfrm>
            <a:off x="344488" y="2784570"/>
            <a:ext cx="2203200" cy="396000"/>
          </a:xfrm>
          <a:prstGeom prst="roundRect">
            <a:avLst>
              <a:gd name="adj" fmla="val 6966"/>
            </a:avLst>
          </a:prstGeom>
          <a:solidFill>
            <a:schemeClr val="bg1">
              <a:lumMod val="50000"/>
            </a:schemeClr>
          </a:solidFill>
          <a:ln w="12700" algn="ctr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 latinLnBrk="0">
              <a:spcBef>
                <a:spcPct val="50000"/>
              </a:spcBef>
              <a:buClr>
                <a:srgbClr val="EEECE1"/>
              </a:buClr>
            </a:pPr>
            <a:r>
              <a:rPr kumimoji="1" lang="ko-KR" altLang="en-US" sz="120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설명 변수 정의</a:t>
            </a:r>
            <a:endParaRPr kumimoji="1" lang="en-US" altLang="ko-KR" sz="120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9" name="직선 화살표 연결선 58"/>
          <p:cNvCxnSpPr>
            <a:stCxn id="57" idx="2"/>
            <a:endCxn id="58" idx="0"/>
          </p:cNvCxnSpPr>
          <p:nvPr/>
        </p:nvCxnSpPr>
        <p:spPr>
          <a:xfrm flipH="1">
            <a:off x="1446088" y="2669927"/>
            <a:ext cx="268" cy="1146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="" xmlns:a16="http://schemas.microsoft.com/office/drawing/2014/main" id="{3CA06AA4-0D95-479A-BF4A-5B5CC297303B}"/>
              </a:ext>
            </a:extLst>
          </p:cNvPr>
          <p:cNvSpPr txBox="1"/>
          <p:nvPr/>
        </p:nvSpPr>
        <p:spPr>
          <a:xfrm>
            <a:off x="344488" y="3262627"/>
            <a:ext cx="2145642" cy="211670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36000" tIns="0" rIns="36000" rtlCol="0" anchor="ctr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100" dirty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00" dirty="0" smtClean="0"/>
              <a:t>AI, ST </a:t>
            </a:r>
            <a:r>
              <a:rPr lang="ko-KR" altLang="en-US" sz="1100" dirty="0" smtClean="0"/>
              <a:t>데이터 항목 검토</a:t>
            </a:r>
            <a:endParaRPr lang="en-US" altLang="ko-KR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100" dirty="0" smtClean="0"/>
              <a:t>ST </a:t>
            </a:r>
            <a:r>
              <a:rPr lang="ko-KR" altLang="en-US" sz="1100" dirty="0" smtClean="0"/>
              <a:t>검사 결과가 있는 </a:t>
            </a:r>
            <a:r>
              <a:rPr lang="en-US" altLang="ko-KR" sz="1100" dirty="0" smtClean="0"/>
              <a:t>MDR</a:t>
            </a:r>
            <a:r>
              <a:rPr lang="ko-KR" altLang="en-US" sz="1100" dirty="0"/>
              <a:t> </a:t>
            </a:r>
            <a:r>
              <a:rPr lang="ko-KR" altLang="en-US" sz="1100" dirty="0" smtClean="0"/>
              <a:t>환자만 분석대상으로 정의</a:t>
            </a:r>
            <a:endParaRPr lang="en-US" altLang="ko-KR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 smtClean="0"/>
              <a:t>의료진 의견 반영하여</a:t>
            </a:r>
            <a:r>
              <a:rPr lang="en-US" altLang="ko-KR" sz="1100" dirty="0" smtClean="0"/>
              <a:t>, DIAG </a:t>
            </a:r>
            <a:r>
              <a:rPr lang="ko-KR" altLang="en-US" sz="1100" dirty="0" smtClean="0"/>
              <a:t>항목 내 대표 값으로 나타낼 수 있는 질환의 하위 질환 항목 삭제 </a:t>
            </a:r>
            <a:endParaRPr lang="en-US" altLang="ko-KR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100" dirty="0" smtClean="0"/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100" dirty="0"/>
          </a:p>
        </p:txBody>
      </p:sp>
      <p:sp>
        <p:nvSpPr>
          <p:cNvPr id="61" name="이등변 삼각형 60"/>
          <p:cNvSpPr/>
          <p:nvPr/>
        </p:nvSpPr>
        <p:spPr>
          <a:xfrm rot="5400000">
            <a:off x="1336468" y="3530769"/>
            <a:ext cx="3013115" cy="288551"/>
          </a:xfrm>
          <a:prstGeom prst="triangle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DA6A18DF-4B37-44A2-B7C6-C1AED7DE731F}"/>
              </a:ext>
            </a:extLst>
          </p:cNvPr>
          <p:cNvSpPr txBox="1"/>
          <p:nvPr/>
        </p:nvSpPr>
        <p:spPr>
          <a:xfrm>
            <a:off x="474339" y="1321842"/>
            <a:ext cx="1958381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600" b="1" dirty="0"/>
              <a:t>분석 단계</a:t>
            </a:r>
            <a:endParaRPr lang="en-US" sz="1600" b="1" dirty="0"/>
          </a:p>
        </p:txBody>
      </p: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DA6A18DF-4B37-44A2-B7C6-C1AED7DE731F}"/>
              </a:ext>
            </a:extLst>
          </p:cNvPr>
          <p:cNvSpPr txBox="1"/>
          <p:nvPr/>
        </p:nvSpPr>
        <p:spPr>
          <a:xfrm>
            <a:off x="4470188" y="1321842"/>
            <a:ext cx="331236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600" b="1" dirty="0"/>
              <a:t>세부 단계별 주요 내용</a:t>
            </a:r>
            <a:endParaRPr lang="en-US" sz="1600" b="1" dirty="0"/>
          </a:p>
        </p:txBody>
      </p:sp>
      <p:sp>
        <p:nvSpPr>
          <p:cNvPr id="22" name="텍스트 개체 틀 3"/>
          <p:cNvSpPr txBox="1">
            <a:spLocks/>
          </p:cNvSpPr>
          <p:nvPr/>
        </p:nvSpPr>
        <p:spPr>
          <a:xfrm>
            <a:off x="193769" y="620691"/>
            <a:ext cx="9518464" cy="72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dirty="0"/>
              <a:t>분석 대상과 항목을 </a:t>
            </a:r>
            <a:r>
              <a:rPr lang="ko-KR" altLang="en-US" dirty="0" smtClean="0"/>
              <a:t>검토하고 설명변수를 정의 </a:t>
            </a:r>
            <a:r>
              <a:rPr lang="ko-KR" altLang="en-US" dirty="0"/>
              <a:t>후 </a:t>
            </a:r>
            <a:r>
              <a:rPr lang="en-US" altLang="ko-KR" dirty="0" smtClean="0"/>
              <a:t>Risk Factor Pool</a:t>
            </a:r>
            <a:r>
              <a:rPr lang="ko-KR" altLang="en-US" dirty="0" smtClean="0"/>
              <a:t>에 대한 분석을 진행 합니다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26" name="직사각형 25"/>
          <p:cNvSpPr/>
          <p:nvPr/>
        </p:nvSpPr>
        <p:spPr>
          <a:xfrm>
            <a:off x="3047999" y="5457824"/>
            <a:ext cx="6567857" cy="92375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arenR"/>
            </a:pP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Sample Size : 1,000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명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Random Sampling (Training, Test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반복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)</a:t>
            </a:r>
            <a:br>
              <a:rPr lang="en-US" altLang="ko-KR" sz="1100" dirty="0" smtClean="0">
                <a:solidFill>
                  <a:schemeClr val="tx1"/>
                </a:solidFill>
                <a:latin typeface="+mn-ea"/>
              </a:rPr>
            </a:b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→ 2,000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명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Random Sampling (Training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Test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비 반복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)</a:t>
            </a:r>
          </a:p>
          <a:p>
            <a:pPr marL="228600" indent="-228600">
              <a:buAutoNum type="arabicParenR"/>
            </a:pP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Case Control : NOT MRSA(0)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와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MRSA(1)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 비율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0.1:0.9 ~ 0.9:0.1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조절 후 성능 재확인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→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0.4:0.6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선택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 </a:t>
            </a:r>
          </a:p>
          <a:p>
            <a:pPr marL="228600" indent="-228600">
              <a:buAutoNum type="arabicParenR"/>
            </a:pP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Cut-Off : Cut-Off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기준을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0.1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~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0.9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조절 후 성능 재확인 →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0.5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 선택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1~3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까지의 설정 후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40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번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반복된 모델 중 최적 모델 선택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  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이등변 삼각형 26"/>
          <p:cNvSpPr/>
          <p:nvPr/>
        </p:nvSpPr>
        <p:spPr>
          <a:xfrm rot="5400000">
            <a:off x="4544368" y="3529162"/>
            <a:ext cx="3013115" cy="288551"/>
          </a:xfrm>
          <a:prstGeom prst="triangle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Chevron 51"/>
          <p:cNvSpPr/>
          <p:nvPr/>
        </p:nvSpPr>
        <p:spPr>
          <a:xfrm>
            <a:off x="344488" y="5702968"/>
            <a:ext cx="2593788" cy="459919"/>
          </a:xfrm>
          <a:prstGeom prst="chevron">
            <a:avLst>
              <a:gd name="adj" fmla="val 33750"/>
            </a:avLst>
          </a:prstGeom>
          <a:solidFill>
            <a:schemeClr val="bg1"/>
          </a:solidFill>
          <a:ln w="12700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  <a:headEnd/>
            <a:tailEnd/>
          </a:ln>
        </p:spPr>
        <p:txBody>
          <a:bodyPr wrap="none" anchor="ctr"/>
          <a:lstStyle/>
          <a:p>
            <a:r>
              <a:rPr lang="ko-KR" altLang="en-US" sz="1400" b="1" dirty="0"/>
              <a:t>모델 성능 최적화 </a:t>
            </a:r>
            <a:r>
              <a:rPr lang="en-US" altLang="ko-KR" sz="1400" b="1" dirty="0"/>
              <a:t>Process </a:t>
            </a:r>
          </a:p>
        </p:txBody>
      </p:sp>
    </p:spTree>
    <p:extLst>
      <p:ext uri="{BB962C8B-B14F-4D97-AF65-F5344CB8AC3E}">
        <p14:creationId xmlns:p14="http://schemas.microsoft.com/office/powerpoint/2010/main" val="369182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D90CF802-A03D-0248-AF04-474208C0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>
                <a:latin typeface="+mn-ea"/>
              </a:rPr>
              <a:pPr/>
              <a:t>5</a:t>
            </a:fld>
            <a:endParaRPr lang="ko-KR" altLang="en-US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76238" y="4327450"/>
            <a:ext cx="4200433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logit(P(Y = MRSA)) = -</a:t>
            </a:r>
            <a:r>
              <a:rPr lang="en-US" altLang="ko-KR" sz="1100" dirty="0" smtClean="0"/>
              <a:t>0.82386 </a:t>
            </a:r>
            <a:r>
              <a:rPr lang="en-US" altLang="ko-KR" sz="1100" dirty="0"/>
              <a:t>+ 1.37782*ICU_STAYY + 0.84407*VANCO_DRUG_YNY + 0.63845*LUNG_PNEU_DIAG_YNY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+ </a:t>
            </a:r>
            <a:r>
              <a:rPr lang="en-US" altLang="ko-KR" sz="1100" dirty="0"/>
              <a:t>1.36588*TRACH_SRGY_YNY + 0.51252*SRGY_YNY + 1.00052*IV_CATH_ORDR_YNY + 0.26602*SEXM + 0.67182*LTCF_YNY + 0.26623*POLYTRAUMA_DIAG_YNY +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-</a:t>
            </a:r>
            <a:r>
              <a:rPr lang="en-US" altLang="ko-KR" sz="1100" dirty="0"/>
              <a:t>0.71447*TRACH_TUBE_ORDR_YNY + 0.12272*NEURO_DIAG_YNY + 0.47792*IMIPE_MEROPE_DRUG_YNY + 14.18986*TIGE_DRUG_YNY + 0.5474*CLINDA_DRUG_YNY + 0.00405*AGE_YR</a:t>
            </a:r>
            <a:endParaRPr lang="ko-KR" altLang="en-US" sz="1100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176100"/>
              </p:ext>
            </p:extLst>
          </p:nvPr>
        </p:nvGraphicFramePr>
        <p:xfrm>
          <a:off x="200025" y="1363217"/>
          <a:ext cx="4935393" cy="503123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92623"/>
                <a:gridCol w="1847352"/>
                <a:gridCol w="1311564"/>
                <a:gridCol w="1283854"/>
              </a:tblGrid>
              <a:tr h="201755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00" dirty="0" smtClean="0">
                          <a:effectLst/>
                          <a:latin typeface="+mn-lt"/>
                          <a:ea typeface="+mn-ea"/>
                        </a:rPr>
                        <a:t>Risk Factor </a:t>
                      </a:r>
                      <a:r>
                        <a:rPr lang="en-US" altLang="ko-KR" sz="1100" b="1" kern="100" baseline="0" dirty="0" smtClean="0">
                          <a:effectLst/>
                          <a:latin typeface="+mn-lt"/>
                          <a:ea typeface="+mn-ea"/>
                        </a:rPr>
                        <a:t>Pool  Count 15</a:t>
                      </a:r>
                      <a:endParaRPr lang="ko-KR" altLang="ko-KR" sz="1100" b="1" kern="100" dirty="0" smtClean="0">
                        <a:effectLst/>
                        <a:latin typeface="+mn-lt"/>
                        <a:ea typeface="+mn-ea"/>
                      </a:endParaRPr>
                    </a:p>
                  </a:txBody>
                  <a:tcPr marL="6597" marR="659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sz="1000" kern="100" dirty="0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597" marR="6597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28513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DEMO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AGE_YR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연령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 smtClean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0.004 (0.003)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SEXM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성별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0.266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 (0.122)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HOSP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ICU_STAYY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ICU</a:t>
                      </a: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재원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1.378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 (0.211)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LTCF_YNY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요양병원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0.672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 (0.298)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CATH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IV_CATH_ORDR_YNY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정맥 </a:t>
                      </a:r>
                      <a:r>
                        <a:rPr lang="ko-KR" altLang="en-US" sz="1100" kern="100" baseline="0" dirty="0" err="1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카테터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1.001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 (0.227)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TUBE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TRACH_TUBE_ORDR_YNY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err="1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기관내</a:t>
                      </a: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altLang="en-US" sz="1100" kern="100" dirty="0" err="1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삽관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-0.714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 (0.206)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row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DIAG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LUNG_PNEU_DIAG_YNY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폐렴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0.638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 (0.142)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NEURO_DIAG_YNY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신경질환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0.123 (0.240)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POLYTRAUMA_DIAG_YNY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다발성외상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0.266 (0.357)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SRGY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TRACH_SRGY_YNY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기관절제술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1.366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 (0.468)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SRGY_YNY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수술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0.513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 (0.135)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DRUG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effectLst/>
                          <a:latin typeface="+mn-lt"/>
                          <a:ea typeface="+mn-ea"/>
                          <a:cs typeface="굴림"/>
                        </a:rPr>
                        <a:t>VANCO_DRUG_YNY</a:t>
                      </a:r>
                      <a:endParaRPr lang="ko-KR" altLang="ko-KR" sz="1100" kern="100" dirty="0" smtClean="0"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VANCO </a:t>
                      </a: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effectLst/>
                          <a:latin typeface="+mn-lt"/>
                          <a:ea typeface="+mn-ea"/>
                          <a:cs typeface="굴림"/>
                        </a:rPr>
                        <a:t>0.844</a:t>
                      </a:r>
                      <a:r>
                        <a:rPr lang="en-US" altLang="ko-KR" sz="1100" kern="0" baseline="30000" dirty="0" smtClean="0">
                          <a:effectLst/>
                          <a:latin typeface="+mn-lt"/>
                          <a:ea typeface="+mn-ea"/>
                          <a:cs typeface="굴림"/>
                        </a:rPr>
                        <a:t>***</a:t>
                      </a:r>
                      <a:r>
                        <a:rPr lang="en-US" altLang="ko-KR" sz="1100" kern="0" dirty="0" smtClean="0">
                          <a:effectLst/>
                          <a:latin typeface="+mn-lt"/>
                          <a:ea typeface="+mn-ea"/>
                          <a:cs typeface="굴림"/>
                        </a:rPr>
                        <a:t> (0.220)</a:t>
                      </a:r>
                      <a:endParaRPr lang="ko-KR" altLang="ko-KR" sz="1100" kern="100" dirty="0" smtClean="0"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IMIPE_MEROPE_DRUG_YNY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0" dirty="0" smtClean="0">
                          <a:effectLst/>
                          <a:latin typeface="+mn-lt"/>
                          <a:ea typeface="+mn-ea"/>
                          <a:cs typeface="굴림"/>
                        </a:rPr>
                        <a:t>IMIPE_MEROPE </a:t>
                      </a:r>
                      <a:r>
                        <a:rPr lang="ko-KR" altLang="en-US" sz="1100" kern="0" dirty="0" smtClean="0">
                          <a:effectLst/>
                          <a:latin typeface="+mn-lt"/>
                          <a:ea typeface="+mn-ea"/>
                          <a:cs typeface="굴림"/>
                        </a:rPr>
                        <a:t>처방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0.478 (0.321)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TIGE_DRUG_YNY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TIGE</a:t>
                      </a:r>
                      <a:r>
                        <a:rPr lang="en-US" altLang="ko-KR" sz="1100" kern="100" baseline="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altLang="en-US" sz="1100" kern="100" baseline="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14.190 (348.224)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CLINDA_DRUG_YNY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CLINDA </a:t>
                      </a: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0.547 (0.465)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Constant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-0.824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 (0.223)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Observations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1,400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Log Likelihood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-810.007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effectLst/>
                          <a:latin typeface="맑은 고딕"/>
                          <a:ea typeface="맑은 고딕"/>
                          <a:cs typeface="굴림"/>
                        </a:rPr>
                        <a:t>Akaike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 Inf. Crit.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1,652.015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2156">
                <a:tc gridSpan="4"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935538" algn="l"/>
                        </a:tabLst>
                      </a:pPr>
                      <a:r>
                        <a:rPr lang="en-US" sz="1100" i="1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Note</a:t>
                      </a:r>
                      <a:r>
                        <a:rPr lang="en-US" sz="1100" i="1" kern="0" dirty="0" smtClean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: </a:t>
                      </a:r>
                      <a:r>
                        <a:rPr lang="en-US" sz="1100" kern="0" baseline="30000" dirty="0" smtClean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p&lt;0.1; 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p&lt;0.05; 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p&lt;0.01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</a:tr>
            </a:tbl>
          </a:graphicData>
        </a:graphic>
      </p:graphicFrame>
      <p:sp>
        <p:nvSpPr>
          <p:cNvPr id="10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193769" y="620691"/>
            <a:ext cx="9518464" cy="720751"/>
          </a:xfrm>
        </p:spPr>
        <p:txBody>
          <a:bodyPr/>
          <a:lstStyle/>
          <a:p>
            <a:pPr algn="just"/>
            <a:r>
              <a:rPr lang="en-US" altLang="ko-KR" dirty="0"/>
              <a:t>Random Sampling</a:t>
            </a:r>
            <a:r>
              <a:rPr lang="ko-KR" altLang="en-US" dirty="0"/>
              <a:t>과</a:t>
            </a:r>
            <a:r>
              <a:rPr lang="en-US" altLang="ko-KR" dirty="0"/>
              <a:t> </a:t>
            </a:r>
            <a:r>
              <a:rPr lang="en-US" altLang="ko-KR" dirty="0" smtClean="0"/>
              <a:t>Case-Control</a:t>
            </a:r>
            <a:r>
              <a:rPr lang="ko-KR" altLang="en-US" dirty="0"/>
              <a:t> </a:t>
            </a:r>
            <a:r>
              <a:rPr lang="ko-KR" altLang="en-US" dirty="0" smtClean="0"/>
              <a:t>후 </a:t>
            </a:r>
            <a:r>
              <a:rPr lang="en-US" altLang="ko-KR" dirty="0"/>
              <a:t>MRSA Risk Factor </a:t>
            </a:r>
            <a:r>
              <a:rPr lang="en-US" altLang="ko-KR" dirty="0" smtClean="0"/>
              <a:t>Pool 15</a:t>
            </a:r>
            <a:r>
              <a:rPr lang="ko-KR" altLang="en-US" dirty="0" smtClean="0"/>
              <a:t>개를 추출하기 위하여</a:t>
            </a:r>
            <a:r>
              <a:rPr lang="en-US" altLang="ko-KR" dirty="0" smtClean="0"/>
              <a:t>,</a:t>
            </a:r>
            <a:r>
              <a:rPr lang="ko-KR" altLang="en-US" dirty="0"/>
              <a:t> 모델 성능을 반복 측정하고</a:t>
            </a:r>
            <a:r>
              <a:rPr lang="en-US" altLang="ko-KR" dirty="0"/>
              <a:t>, </a:t>
            </a:r>
            <a:r>
              <a:rPr lang="ko-KR" altLang="en-US" dirty="0"/>
              <a:t>최종 모델을 결정합니다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320146" y="1363222"/>
            <a:ext cx="4356526" cy="5031217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en-US" altLang="ko-KR" sz="1200" b="1" dirty="0" smtClean="0">
                <a:solidFill>
                  <a:schemeClr val="tx1"/>
                </a:solidFill>
              </a:rPr>
              <a:t>MRSA Risk Factor Pool Performance </a:t>
            </a: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200" b="1" dirty="0" err="1" smtClean="0">
                <a:solidFill>
                  <a:schemeClr val="tx1"/>
                </a:solidFill>
              </a:rPr>
              <a:t>회귀식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 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 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="" xmlns:a16="http://schemas.microsoft.com/office/drawing/2014/main" id="{D278AA56-C863-324D-969E-96201D4B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38" y="-13394"/>
            <a:ext cx="9517327" cy="562074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Ⅱ. </a:t>
            </a:r>
            <a:r>
              <a:rPr lang="en-US" altLang="ko-KR" dirty="0" smtClean="0">
                <a:latin typeface="+mn-ea"/>
              </a:rPr>
              <a:t>Logistic </a:t>
            </a:r>
            <a:r>
              <a:rPr lang="en-US" altLang="ko-KR" dirty="0">
                <a:latin typeface="+mn-ea"/>
              </a:rPr>
              <a:t>Regression </a:t>
            </a:r>
            <a:r>
              <a:rPr lang="en-US" altLang="ko-KR" dirty="0" smtClean="0">
                <a:latin typeface="+mn-ea"/>
              </a:rPr>
              <a:t>Model </a:t>
            </a:r>
            <a:r>
              <a:rPr lang="ko-KR" altLang="en-US" dirty="0" smtClean="0">
                <a:latin typeface="+mn-ea"/>
              </a:rPr>
              <a:t>결과 </a:t>
            </a:r>
            <a:r>
              <a:rPr lang="en-US" altLang="ko-KR" dirty="0" smtClean="0">
                <a:latin typeface="+mn-ea"/>
              </a:rPr>
              <a:t>: MRSA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(1/2)</a:t>
            </a:r>
            <a:endParaRPr lang="en-US" dirty="0">
              <a:latin typeface="+mn-ea"/>
              <a:ea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12722" y="3455446"/>
            <a:ext cx="3986882" cy="43088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/>
              <a:t>iteration 40</a:t>
            </a:r>
            <a:r>
              <a:rPr lang="ko-KR" altLang="en-US" sz="1100" dirty="0" smtClean="0"/>
              <a:t>번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중 </a:t>
            </a:r>
            <a:r>
              <a:rPr lang="en-US" altLang="ko-KR" sz="1100" dirty="0" smtClean="0"/>
              <a:t>model performance Comparing </a:t>
            </a:r>
            <a:r>
              <a:rPr lang="ko-KR" altLang="en-US" sz="1100" dirty="0" smtClean="0"/>
              <a:t>하여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16, 17, 20, 37</a:t>
            </a:r>
            <a:r>
              <a:rPr lang="ko-KR" altLang="en-US" sz="1100" dirty="0" smtClean="0"/>
              <a:t>번째 모델 비교하여</a:t>
            </a:r>
            <a:r>
              <a:rPr lang="en-US" altLang="ko-KR" sz="1100" dirty="0" smtClean="0"/>
              <a:t> -&gt; 16</a:t>
            </a:r>
            <a:r>
              <a:rPr lang="ko-KR" altLang="en-US" sz="1100" dirty="0" smtClean="0"/>
              <a:t>번째 모델 선택 </a:t>
            </a:r>
            <a:endParaRPr lang="en-US" altLang="ko-KR" sz="11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5512723" y="3195431"/>
            <a:ext cx="1645460" cy="26161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smtClean="0"/>
              <a:t>모델 선택 </a:t>
            </a:r>
            <a:r>
              <a:rPr lang="en-US" altLang="ko-KR" sz="1100" b="1" dirty="0" smtClean="0"/>
              <a:t>Process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5191922"/>
              </p:ext>
            </p:extLst>
          </p:nvPr>
        </p:nvGraphicFramePr>
        <p:xfrm>
          <a:off x="5512721" y="1645741"/>
          <a:ext cx="3986883" cy="14218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21547"/>
                <a:gridCol w="741334"/>
                <a:gridCol w="741334"/>
                <a:gridCol w="741334"/>
                <a:gridCol w="741334"/>
              </a:tblGrid>
              <a:tr h="284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Zero 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prop</a:t>
                      </a:r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.= 0.4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effectLst/>
                          <a:latin typeface="+mn-ea"/>
                          <a:ea typeface="+mn-ea"/>
                        </a:rPr>
                        <a:t>16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Accuracy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0.720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0.712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Sensitivity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0.800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0.822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0.814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0.763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Specificity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0.600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0.517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0.558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0.604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Precision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0.750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0.718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0.734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F1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0.774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0.767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2985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D90CF802-A03D-0248-AF04-474208C0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>
                <a:latin typeface="+mn-ea"/>
              </a:rPr>
              <a:pPr/>
              <a:t>6</a:t>
            </a:fld>
            <a:endParaRPr lang="ko-KR" altLang="en-US"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95637" y="4147618"/>
            <a:ext cx="4277888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logit(P(Y = MRSA)) </a:t>
            </a:r>
            <a:endParaRPr lang="en-US" altLang="ko-KR" sz="1100" dirty="0" smtClean="0"/>
          </a:p>
          <a:p>
            <a:r>
              <a:rPr lang="en-US" altLang="ko-KR" sz="1100" dirty="0" smtClean="0"/>
              <a:t>= </a:t>
            </a:r>
            <a:r>
              <a:rPr lang="en-US" altLang="ko-KR" sz="1100" dirty="0"/>
              <a:t>-</a:t>
            </a:r>
            <a:r>
              <a:rPr lang="en-US" altLang="ko-KR" sz="1100" dirty="0" smtClean="0"/>
              <a:t>0.75724 </a:t>
            </a:r>
            <a:r>
              <a:rPr lang="en-US" altLang="ko-KR" sz="1100" dirty="0"/>
              <a:t>+ 1.36561*ICU_STAYY </a:t>
            </a:r>
            <a:r>
              <a:rPr lang="en-US" altLang="ko-KR" sz="1100" dirty="0" smtClean="0"/>
              <a:t>+ 0.80438*VANCO_DRUG_YNY + 0.65669*LUNG_PNEU_DIAG_YNY </a:t>
            </a:r>
            <a:r>
              <a:rPr lang="en-US" altLang="ko-KR" sz="1100" dirty="0"/>
              <a:t>+ 1.43275*TRACH_SRGY_YNY + 0.49963*SRGY_YNY + 0.93714*IV_CATH_ORDR_YNY + 0.23984*SEXM + 0.75181*LTCF_YNY + 0.25082*POLYTRAUMA_DIAG_YNY +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-</a:t>
            </a:r>
            <a:r>
              <a:rPr lang="en-US" altLang="ko-KR" sz="1100" dirty="0"/>
              <a:t>0.72113*TRACH_TUBE_ORDR_YNY + 0.08363*NEURO_DIAG_YNY + 0.46073*IMIPE_MEROPE_DRUG_YNY + 14.01049*TIGE_DRUG_YNY + 0.53666*CLINDA_DRUG_YNY +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-</a:t>
            </a:r>
            <a:r>
              <a:rPr lang="en-US" altLang="ko-KR" sz="1100" dirty="0"/>
              <a:t>0.39109*UTI_DIAG_YNY + -1.26748*HYPRGLY_DIAG_YNY + 0.17792*MTRONIDA_DRUG_YNY + 1.01963*SHOCK_DIAG_YNY + 0.24858*DIABET_DIAG_YNY + 0.00258*AGE_YR</a:t>
            </a:r>
            <a:endParaRPr lang="ko-KR" altLang="en-US" sz="1100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033387"/>
              </p:ext>
            </p:extLst>
          </p:nvPr>
        </p:nvGraphicFramePr>
        <p:xfrm>
          <a:off x="200025" y="1341440"/>
          <a:ext cx="4972050" cy="505558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14350"/>
                <a:gridCol w="2024980"/>
                <a:gridCol w="1311149"/>
                <a:gridCol w="1121571"/>
              </a:tblGrid>
              <a:tr h="196435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ko-KR" sz="1100" b="1" kern="100" dirty="0" smtClean="0">
                          <a:effectLst/>
                          <a:latin typeface="+mn-ea"/>
                          <a:ea typeface="+mn-ea"/>
                        </a:rPr>
                        <a:t>Risk Factor </a:t>
                      </a:r>
                      <a:r>
                        <a:rPr lang="en-US" altLang="ko-KR" sz="1100" b="1" kern="100" baseline="0" dirty="0" smtClean="0">
                          <a:effectLst/>
                          <a:latin typeface="+mn-ea"/>
                          <a:ea typeface="+mn-ea"/>
                        </a:rPr>
                        <a:t>Pool  Count 20</a:t>
                      </a:r>
                      <a:endParaRPr lang="ko-KR" sz="11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597" marR="659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sz="1000" kern="100" dirty="0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597" marR="6597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4366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DEMO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AGE_YR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연령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0.003 (0.003)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SEXM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성별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0.240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(0.123)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HOSP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ICU_STAYY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ICU</a:t>
                      </a: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재원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1.366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(0.212)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LTCF_YNY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요양병원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0.752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(0.304)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CATH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IV_CATH_ORDR_YNY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정맥 </a:t>
                      </a:r>
                      <a:r>
                        <a:rPr lang="ko-KR" altLang="en-US" sz="1100" kern="100" dirty="0" err="1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카테터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0.937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(0.230)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TUBE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TRACH_TUBE_ORDR_YNY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err="1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기관내</a:t>
                      </a: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ko-KR" altLang="en-US" sz="1100" kern="100" dirty="0" err="1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삽관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-0.721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(0.209)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rowSpan="7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DIAG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LUNG_PNEU_DIAG_YNY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폐렴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0.657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(0.143)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NEURO_DIAG_YNY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신경질환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0.084 (0.243)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UTI_DIAG_YNY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요로감염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-0.391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(0.224)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SHOCK_DIAG_YNY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패혈증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1.020 (0.790)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DIABET_DIAG_YNY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당뇨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0.249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(0.140)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POLYTRAUMA_DIAG_YNY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다발성외상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0.251 (0.360)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HYPRGLY_DIAG_YNY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err="1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저알부민증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-1.267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(0.721)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SRGY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TRACH_SRGY_YNY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기관절제술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1.433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(0.474)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SRGY_YNY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수술 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0.500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(0.136)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rowSpan="5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DRUG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VANCO_DRUG_YNY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VANCO</a:t>
                      </a:r>
                      <a:r>
                        <a:rPr lang="en-US" altLang="ko-KR" sz="1100" kern="100" baseline="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ko-KR" altLang="en-US" sz="1100" kern="100" baseline="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0.804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(0.221)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IMIPE_MEROPE_DRUG_YNY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0" dirty="0" smtClean="0">
                          <a:effectLst/>
                          <a:latin typeface="+mn-ea"/>
                          <a:ea typeface="+mn-ea"/>
                        </a:rPr>
                        <a:t>IMIPE_MEROPE </a:t>
                      </a:r>
                      <a:r>
                        <a:rPr lang="ko-KR" altLang="en-US" sz="1100" kern="0" dirty="0" smtClean="0">
                          <a:effectLst/>
                          <a:latin typeface="+mn-ea"/>
                          <a:ea typeface="+mn-ea"/>
                        </a:rPr>
                        <a:t>처방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0.461 (0.325)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TIGE_DRUG_YNY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TIGE</a:t>
                      </a:r>
                      <a:r>
                        <a:rPr lang="en-US" altLang="ko-KR" sz="1100" kern="100" baseline="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ko-KR" altLang="en-US" sz="1100" kern="100" baseline="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14.010 (348.072)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CLINDA_DRUG_YNY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CLINDA</a:t>
                      </a:r>
                      <a:r>
                        <a:rPr lang="en-US" altLang="ko-KR" sz="1100" kern="100" baseline="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ko-KR" altLang="en-US" sz="1100" kern="100" baseline="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0.537 (0.471)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MTRONIDA_DRUG_YNY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MTRONIDA </a:t>
                      </a: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0.178 (0.221)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Constant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-0.757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 (0.228)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Observations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1,400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Log Likelihood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-804.458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effectLst/>
                          <a:latin typeface="+mn-ea"/>
                          <a:ea typeface="+mn-ea"/>
                        </a:rPr>
                        <a:t>Akaike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 Inf. Crit.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1,650.916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4366">
                <a:tc gridSpan="4"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Note</a:t>
                      </a:r>
                      <a:r>
                        <a:rPr lang="en-US" sz="1100" kern="0" dirty="0" smtClean="0"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sz="1100" kern="0" baseline="30000" dirty="0" smtClean="0">
                          <a:effectLst/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p&lt;0.1; 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p&lt;0.05; 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p&lt;0.01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직사각형 8"/>
          <p:cNvSpPr/>
          <p:nvPr/>
        </p:nvSpPr>
        <p:spPr>
          <a:xfrm>
            <a:off x="5343525" y="1341439"/>
            <a:ext cx="4348266" cy="505558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en-US" altLang="ko-KR" sz="1200" b="1" dirty="0" smtClean="0">
                <a:solidFill>
                  <a:schemeClr val="tx1"/>
                </a:solidFill>
              </a:rPr>
              <a:t>MRSA Risk Factor Pool Performance  </a:t>
            </a: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200" b="1" dirty="0" err="1" smtClean="0">
                <a:solidFill>
                  <a:schemeClr val="tx1"/>
                </a:solidFill>
              </a:rPr>
              <a:t>회귀</a:t>
            </a:r>
            <a:r>
              <a:rPr lang="ko-KR" altLang="en-US" sz="1200" b="1" dirty="0" err="1">
                <a:solidFill>
                  <a:schemeClr val="tx1"/>
                </a:solidFill>
              </a:rPr>
              <a:t>식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D278AA56-C863-324D-969E-96201D4B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38" y="-13394"/>
            <a:ext cx="9517327" cy="562074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Ⅱ. </a:t>
            </a:r>
            <a:r>
              <a:rPr lang="en-US" altLang="ko-KR" dirty="0" smtClean="0">
                <a:latin typeface="+mn-ea"/>
              </a:rPr>
              <a:t>Logistic </a:t>
            </a:r>
            <a:r>
              <a:rPr lang="en-US" altLang="ko-KR" dirty="0">
                <a:latin typeface="+mn-ea"/>
              </a:rPr>
              <a:t>Regression </a:t>
            </a:r>
            <a:r>
              <a:rPr lang="en-US" altLang="ko-KR" dirty="0" smtClean="0">
                <a:latin typeface="+mn-ea"/>
              </a:rPr>
              <a:t>Model</a:t>
            </a:r>
            <a:r>
              <a:rPr lang="ko-KR" altLang="en-US" dirty="0">
                <a:latin typeface="+mn-ea"/>
              </a:rPr>
              <a:t> </a:t>
            </a:r>
            <a:r>
              <a:rPr lang="ko-KR" altLang="en-US" dirty="0" smtClean="0">
                <a:latin typeface="+mn-ea"/>
              </a:rPr>
              <a:t>결과 </a:t>
            </a:r>
            <a:r>
              <a:rPr lang="en-US" altLang="ko-KR" dirty="0" smtClean="0">
                <a:latin typeface="+mn-ea"/>
              </a:rPr>
              <a:t>: </a:t>
            </a:r>
            <a:r>
              <a:rPr lang="en-US" altLang="ko-KR" dirty="0">
                <a:latin typeface="+mn-ea"/>
              </a:rPr>
              <a:t>MRSA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(2/2)</a:t>
            </a:r>
            <a:endParaRPr lang="en-US" dirty="0">
              <a:latin typeface="+mn-ea"/>
              <a:ea typeface="+mn-ea"/>
            </a:endParaRPr>
          </a:p>
        </p:txBody>
      </p:sp>
      <p:sp>
        <p:nvSpPr>
          <p:cNvPr id="13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193769" y="620691"/>
            <a:ext cx="9518464" cy="720751"/>
          </a:xfrm>
        </p:spPr>
        <p:txBody>
          <a:bodyPr/>
          <a:lstStyle/>
          <a:p>
            <a:pPr algn="just"/>
            <a:r>
              <a:rPr lang="en-US" altLang="ko-KR" dirty="0"/>
              <a:t>Random Sampling</a:t>
            </a:r>
            <a:r>
              <a:rPr lang="ko-KR" altLang="en-US" dirty="0"/>
              <a:t>과</a:t>
            </a:r>
            <a:r>
              <a:rPr lang="en-US" altLang="ko-KR" dirty="0"/>
              <a:t> Case-Control</a:t>
            </a:r>
            <a:r>
              <a:rPr lang="ko-KR" altLang="en-US" dirty="0"/>
              <a:t> 후 </a:t>
            </a:r>
            <a:r>
              <a:rPr lang="en-US" altLang="ko-KR" dirty="0"/>
              <a:t>MRSA Risk Factor Pool </a:t>
            </a:r>
            <a:r>
              <a:rPr lang="en-US" altLang="ko-KR" dirty="0" smtClean="0"/>
              <a:t>20</a:t>
            </a:r>
            <a:r>
              <a:rPr lang="ko-KR" altLang="en-US" dirty="0" smtClean="0"/>
              <a:t>개를 </a:t>
            </a:r>
            <a:r>
              <a:rPr lang="ko-KR" altLang="en-US" dirty="0"/>
              <a:t>추출하기 </a:t>
            </a:r>
            <a:r>
              <a:rPr lang="ko-KR" altLang="en-US" dirty="0" smtClean="0"/>
              <a:t>위하여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모델 성능을 반복 측정하고</a:t>
            </a:r>
            <a:r>
              <a:rPr lang="en-US" altLang="ko-KR" dirty="0"/>
              <a:t>, </a:t>
            </a:r>
            <a:r>
              <a:rPr lang="ko-KR" altLang="en-US" dirty="0"/>
              <a:t>최종 모델을 결정합니다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576537"/>
              </p:ext>
            </p:extLst>
          </p:nvPr>
        </p:nvGraphicFramePr>
        <p:xfrm>
          <a:off x="5512721" y="1645741"/>
          <a:ext cx="3986883" cy="14218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21547"/>
                <a:gridCol w="741334"/>
                <a:gridCol w="741334"/>
                <a:gridCol w="741334"/>
                <a:gridCol w="741334"/>
              </a:tblGrid>
              <a:tr h="284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effectLst/>
                        </a:rPr>
                        <a:t>Zero </a:t>
                      </a:r>
                      <a:r>
                        <a:rPr lang="en-US" sz="1000" u="none" strike="noStrike" dirty="0">
                          <a:effectLst/>
                        </a:rPr>
                        <a:t>prop</a:t>
                      </a:r>
                      <a:r>
                        <a:rPr lang="en-US" sz="1000" u="none" strike="noStrike" dirty="0" smtClean="0">
                          <a:effectLst/>
                        </a:rPr>
                        <a:t>.= 0.4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u="none" strike="noStrike" dirty="0" smtClean="0">
                          <a:effectLst/>
                        </a:rPr>
                        <a:t>16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ucida Console"/>
                        </a:rPr>
                        <a:t>20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ucida Console"/>
                        </a:rPr>
                        <a:t>22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Lucida Console"/>
                        </a:rPr>
                        <a:t>37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</a:rPr>
                        <a:t>Accuracy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0.718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0.703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0.702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</a:rPr>
                        <a:t>Sensitivity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0.802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0.803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0.761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</a:rPr>
                        <a:t>Specificity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0.592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0.554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0.617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0.608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</a:rPr>
                        <a:t>Precision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0.747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0.730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</a:rPr>
                        <a:t>F1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Lucida Console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0.774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0.765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512722" y="3455446"/>
            <a:ext cx="3986882" cy="43088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/>
              <a:t>iteration 40</a:t>
            </a:r>
            <a:r>
              <a:rPr lang="ko-KR" altLang="en-US" sz="1100" dirty="0" smtClean="0"/>
              <a:t>번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중 </a:t>
            </a:r>
            <a:r>
              <a:rPr lang="en-US" altLang="ko-KR" sz="1100" dirty="0" smtClean="0"/>
              <a:t>model performance Comparing </a:t>
            </a:r>
            <a:r>
              <a:rPr lang="ko-KR" altLang="en-US" sz="1100" dirty="0" smtClean="0"/>
              <a:t>하여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16, 20, 22, 37</a:t>
            </a:r>
            <a:r>
              <a:rPr lang="ko-KR" altLang="en-US" sz="1100" dirty="0" smtClean="0"/>
              <a:t>번째 모델 비교하여</a:t>
            </a:r>
            <a:r>
              <a:rPr lang="en-US" altLang="ko-KR" sz="1100" dirty="0" smtClean="0"/>
              <a:t> -&gt; 16</a:t>
            </a:r>
            <a:r>
              <a:rPr lang="ko-KR" altLang="en-US" sz="1100" dirty="0" smtClean="0"/>
              <a:t>번째 모델 선택 </a:t>
            </a:r>
            <a:endParaRPr lang="en-US" altLang="ko-KR" sz="1100" dirty="0" smtClean="0"/>
          </a:p>
        </p:txBody>
      </p:sp>
      <p:sp>
        <p:nvSpPr>
          <p:cNvPr id="15" name="TextBox 14"/>
          <p:cNvSpPr txBox="1"/>
          <p:nvPr/>
        </p:nvSpPr>
        <p:spPr>
          <a:xfrm>
            <a:off x="5512723" y="3195431"/>
            <a:ext cx="1645460" cy="26161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smtClean="0"/>
              <a:t>모델 선택 </a:t>
            </a:r>
            <a:r>
              <a:rPr lang="en-US" altLang="ko-KR" sz="1100" b="1" dirty="0" smtClean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1710333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D90CF802-A03D-0248-AF04-474208C0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>
                <a:latin typeface="+mn-ea"/>
              </a:rPr>
              <a:pPr/>
              <a:t>7</a:t>
            </a:fld>
            <a:endParaRPr lang="ko-KR" altLang="en-US">
              <a:latin typeface="+mn-ea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4403725" y="56515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334940"/>
              </p:ext>
            </p:extLst>
          </p:nvPr>
        </p:nvGraphicFramePr>
        <p:xfrm>
          <a:off x="190500" y="1337833"/>
          <a:ext cx="4943474" cy="506931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02025"/>
                <a:gridCol w="1669675"/>
                <a:gridCol w="1335083"/>
                <a:gridCol w="1436691"/>
              </a:tblGrid>
              <a:tr h="202396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kern="100" dirty="0" smtClean="0">
                          <a:effectLst/>
                          <a:latin typeface="+mn-lt"/>
                          <a:ea typeface="+mn-ea"/>
                        </a:rPr>
                        <a:t>Risk Factor </a:t>
                      </a:r>
                      <a:r>
                        <a:rPr lang="en-US" altLang="ko-KR" sz="1100" b="1" kern="100" baseline="0" dirty="0" smtClean="0">
                          <a:effectLst/>
                          <a:latin typeface="+mn-lt"/>
                          <a:ea typeface="+mn-ea"/>
                        </a:rPr>
                        <a:t>Pool  Count 15</a:t>
                      </a:r>
                      <a:endParaRPr lang="ko-KR" altLang="ko-KR" sz="1100" b="1" kern="100" dirty="0" smtClean="0">
                        <a:effectLst/>
                        <a:latin typeface="+mn-lt"/>
                        <a:ea typeface="+mn-ea"/>
                      </a:endParaRPr>
                    </a:p>
                  </a:txBody>
                  <a:tcPr marL="6597" marR="659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sz="1000" kern="100" dirty="0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597" marR="6597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334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DEMO</a:t>
                      </a:r>
                      <a:endParaRPr lang="ko-KR" altLang="ko-KR" sz="1100" kern="100" dirty="0" smtClean="0"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AGE_YR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나이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0.012</a:t>
                      </a:r>
                      <a:r>
                        <a:rPr lang="ko-KR" altLang="en-US" sz="1100" baseline="30000" dirty="0"/>
                        <a:t>***</a:t>
                      </a:r>
                      <a:r>
                        <a:rPr lang="ko-KR" altLang="en-US" sz="1100" dirty="0"/>
                        <a:t> </a:t>
                      </a:r>
                      <a:r>
                        <a:rPr lang="en-US" altLang="ko-KR" sz="1100" dirty="0"/>
                        <a:t>(0.004)</a:t>
                      </a:r>
                    </a:p>
                  </a:txBody>
                  <a:tcPr marL="6597" marR="6597" marT="0" marB="0" anchor="ctr"/>
                </a:tc>
              </a:tr>
              <a:tr h="243346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HOSP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ICU_STAYY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ICU</a:t>
                      </a:r>
                      <a:r>
                        <a:rPr lang="ko-KR" altLang="en-US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재원</a:t>
                      </a:r>
                      <a:endParaRPr lang="ko-KR" altLang="ko-KR" sz="1100" kern="100" dirty="0" smtClean="0"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1.280</a:t>
                      </a:r>
                      <a:r>
                        <a:rPr lang="ko-KR" altLang="en-US" sz="1100" baseline="30000" dirty="0"/>
                        <a:t>***</a:t>
                      </a:r>
                      <a:r>
                        <a:rPr lang="ko-KR" altLang="en-US" sz="1100" dirty="0"/>
                        <a:t> </a:t>
                      </a:r>
                      <a:r>
                        <a:rPr lang="en-US" altLang="ko-KR" sz="1100" dirty="0"/>
                        <a:t>(0.189)</a:t>
                      </a:r>
                    </a:p>
                  </a:txBody>
                  <a:tcPr marL="6597" marR="6597" marT="0" marB="0" anchor="ctr"/>
                </a:tc>
              </a:tr>
              <a:tr h="24334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PRIOR_LOS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이전입원기간</a:t>
                      </a: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(90</a:t>
                      </a: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일</a:t>
                      </a: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)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0.004 (0.006)</a:t>
                      </a:r>
                    </a:p>
                  </a:txBody>
                  <a:tcPr marL="6597" marR="6597" marT="0" marB="0" anchor="ctr"/>
                </a:tc>
              </a:tr>
              <a:tr h="243346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DIAG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SHOCK_DIAG_YNY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패혈증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0.951</a:t>
                      </a:r>
                      <a:r>
                        <a:rPr lang="ko-KR" altLang="en-US" sz="1100" baseline="30000" dirty="0"/>
                        <a:t>*</a:t>
                      </a:r>
                      <a:r>
                        <a:rPr lang="ko-KR" altLang="en-US" sz="1100" dirty="0"/>
                        <a:t> </a:t>
                      </a:r>
                      <a:r>
                        <a:rPr lang="en-US" altLang="ko-KR" sz="1100" dirty="0"/>
                        <a:t>(0.525)</a:t>
                      </a:r>
                    </a:p>
                  </a:txBody>
                  <a:tcPr marL="6597" marR="6597" marT="0" marB="0" anchor="ctr"/>
                </a:tc>
              </a:tr>
              <a:tr h="24334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DIABET_DIAG_YNY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당뇨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0.436</a:t>
                      </a:r>
                      <a:r>
                        <a:rPr lang="ko-KR" altLang="en-US" sz="1100" baseline="30000" dirty="0"/>
                        <a:t>***</a:t>
                      </a:r>
                      <a:r>
                        <a:rPr lang="ko-KR" altLang="en-US" sz="1100" dirty="0"/>
                        <a:t> </a:t>
                      </a:r>
                      <a:r>
                        <a:rPr lang="en-US" altLang="ko-KR" sz="1100" dirty="0"/>
                        <a:t>(0.134)</a:t>
                      </a:r>
                    </a:p>
                  </a:txBody>
                  <a:tcPr marL="6597" marR="6597" marT="0" marB="0" anchor="ctr"/>
                </a:tc>
              </a:tr>
              <a:tr h="24334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SRGY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SRGY_YNY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수술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0.004 (0.129)</a:t>
                      </a:r>
                    </a:p>
                  </a:txBody>
                  <a:tcPr marL="6597" marR="6597" marT="0" marB="0" anchor="ctr"/>
                </a:tc>
              </a:tr>
              <a:tr h="243346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TUBE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DRAIN_TUBE_ORDR_YNY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err="1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드레인</a:t>
                      </a:r>
                      <a:r>
                        <a:rPr lang="ko-KR" altLang="en-US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 튜브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0.562</a:t>
                      </a:r>
                      <a:r>
                        <a:rPr lang="ko-KR" altLang="en-US" sz="1100" baseline="30000" dirty="0"/>
                        <a:t>**</a:t>
                      </a:r>
                      <a:r>
                        <a:rPr lang="ko-KR" altLang="en-US" sz="1100" dirty="0"/>
                        <a:t> </a:t>
                      </a:r>
                      <a:r>
                        <a:rPr lang="en-US" altLang="ko-KR" sz="1100" dirty="0"/>
                        <a:t>(0.230)</a:t>
                      </a:r>
                    </a:p>
                  </a:txBody>
                  <a:tcPr marL="6597" marR="6597" marT="0" marB="0" anchor="ctr"/>
                </a:tc>
              </a:tr>
              <a:tr h="24334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NASO_TUBE_ORDR_YNY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비강 </a:t>
                      </a:r>
                      <a:r>
                        <a:rPr lang="ko-KR" altLang="en-US" sz="1100" kern="100" dirty="0" err="1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삽관</a:t>
                      </a:r>
                      <a:r>
                        <a:rPr lang="ko-KR" altLang="en-US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 여부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0.889</a:t>
                      </a:r>
                      <a:r>
                        <a:rPr lang="ko-KR" altLang="en-US" sz="1100" baseline="30000" dirty="0"/>
                        <a:t>***</a:t>
                      </a:r>
                      <a:r>
                        <a:rPr lang="ko-KR" altLang="en-US" sz="1100" dirty="0"/>
                        <a:t> </a:t>
                      </a:r>
                      <a:r>
                        <a:rPr lang="en-US" altLang="ko-KR" sz="1100" dirty="0"/>
                        <a:t>(0.201)</a:t>
                      </a:r>
                    </a:p>
                  </a:txBody>
                  <a:tcPr marL="6597" marR="6597" marT="0" marB="0" anchor="ctr"/>
                </a:tc>
              </a:tr>
              <a:tr h="24334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ORDR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ANGIO_ORDR_YNY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err="1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혈관조영촬영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0.171 (0.239)</a:t>
                      </a:r>
                    </a:p>
                  </a:txBody>
                  <a:tcPr marL="6597" marR="6597" marT="0" marB="0" anchor="ctr"/>
                </a:tc>
              </a:tr>
              <a:tr h="24334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SRGY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TRACH_SRGY_YNY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기관절제술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0.508 (0.390)</a:t>
                      </a:r>
                    </a:p>
                  </a:txBody>
                  <a:tcPr marL="6597" marR="6597" marT="0" marB="0" anchor="ctr"/>
                </a:tc>
              </a:tr>
              <a:tr h="243346">
                <a:tc rowSpan="5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DRUG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SULFAM_DRUG_YNY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SULFAM</a:t>
                      </a:r>
                      <a:r>
                        <a:rPr lang="en-US" altLang="ko-KR" sz="1100" kern="100" baseline="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altLang="en-US" sz="1100" kern="100" baseline="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0.287 (0.304)</a:t>
                      </a:r>
                    </a:p>
                  </a:txBody>
                  <a:tcPr marL="6597" marR="6597" marT="0" marB="0" anchor="ctr"/>
                </a:tc>
              </a:tr>
              <a:tr h="24334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TIGE_DRUG_YNY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TIGE</a:t>
                      </a:r>
                      <a:r>
                        <a:rPr lang="en-US" altLang="ko-KR" sz="1100" kern="100" baseline="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ko-KR" altLang="en-US" sz="1100" kern="100" baseline="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처방</a:t>
                      </a:r>
                      <a:endParaRPr lang="ko-KR" altLang="ko-KR" sz="1100" kern="100" dirty="0" smtClean="0"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0.858 (0.564)</a:t>
                      </a:r>
                    </a:p>
                  </a:txBody>
                  <a:tcPr marL="6597" marR="6597" marT="0" marB="0" anchor="ctr"/>
                </a:tc>
              </a:tr>
              <a:tr h="24334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VANCO_DRUG_YNY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VANCO </a:t>
                      </a:r>
                      <a:r>
                        <a:rPr lang="ko-KR" altLang="en-US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처방</a:t>
                      </a:r>
                      <a:endParaRPr lang="ko-KR" altLang="ko-KR" sz="1100" kern="100" dirty="0" smtClean="0"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0.403</a:t>
                      </a:r>
                      <a:r>
                        <a:rPr lang="ko-KR" altLang="en-US" sz="1100" baseline="30000" dirty="0"/>
                        <a:t>*</a:t>
                      </a:r>
                      <a:r>
                        <a:rPr lang="ko-KR" altLang="en-US" sz="1100" dirty="0"/>
                        <a:t> </a:t>
                      </a:r>
                      <a:r>
                        <a:rPr lang="en-US" altLang="ko-KR" sz="1100" dirty="0"/>
                        <a:t>(0.209)</a:t>
                      </a:r>
                    </a:p>
                  </a:txBody>
                  <a:tcPr marL="6597" marR="6597" marT="0" marB="0" anchor="ctr"/>
                </a:tc>
              </a:tr>
              <a:tr h="24334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MTRONIDA_DRUG_YNY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effectLst/>
                        </a:rPr>
                        <a:t>MTRONIDA</a:t>
                      </a:r>
                      <a:r>
                        <a:rPr lang="en-US" altLang="ko-KR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ko-KR" altLang="en-US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0.436</a:t>
                      </a:r>
                      <a:r>
                        <a:rPr lang="ko-KR" altLang="en-US" sz="1100" baseline="30000" dirty="0"/>
                        <a:t>**</a:t>
                      </a:r>
                      <a:r>
                        <a:rPr lang="ko-KR" altLang="en-US" sz="1100" dirty="0"/>
                        <a:t> </a:t>
                      </a:r>
                      <a:r>
                        <a:rPr lang="en-US" altLang="ko-KR" sz="1100" dirty="0"/>
                        <a:t>(0.174)</a:t>
                      </a:r>
                    </a:p>
                  </a:txBody>
                  <a:tcPr marL="6597" marR="6597" marT="0" marB="0" anchor="ctr"/>
                </a:tc>
              </a:tr>
              <a:tr h="24334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effectLst/>
                        </a:rPr>
                        <a:t>LINE_DRUG_YNY</a:t>
                      </a:r>
                    </a:p>
                  </a:txBody>
                  <a:tcPr marL="5816" marR="5816" marT="2908" marB="2908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LINE</a:t>
                      </a:r>
                      <a:r>
                        <a:rPr lang="en-US" altLang="ko-KR" sz="1100" kern="100" baseline="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 </a:t>
                      </a:r>
                      <a:r>
                        <a:rPr lang="ko-KR" altLang="en-US" sz="1100" kern="100" baseline="0" dirty="0" smtClean="0"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/>
                        <a:t>15.179 (333.420)</a:t>
                      </a:r>
                    </a:p>
                  </a:txBody>
                  <a:tcPr marL="6597" marR="6597" marT="0" marB="0" anchor="ctr"/>
                </a:tc>
              </a:tr>
              <a:tr h="24334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Constant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 smtClean="0"/>
                        <a:t>-1.268</a:t>
                      </a:r>
                      <a:r>
                        <a:rPr lang="ko-KR" altLang="en-US" sz="1100" baseline="30000" dirty="0" smtClean="0"/>
                        <a:t>***</a:t>
                      </a:r>
                      <a:r>
                        <a:rPr lang="ko-KR" altLang="en-US" sz="1100" dirty="0" smtClean="0"/>
                        <a:t> </a:t>
                      </a:r>
                      <a:r>
                        <a:rPr lang="en-US" altLang="ko-KR" sz="1100" dirty="0" smtClean="0"/>
                        <a:t>(0.245)</a:t>
                      </a:r>
                      <a:endParaRPr lang="en-US" altLang="ko-KR" sz="1100" dirty="0"/>
                    </a:p>
                  </a:txBody>
                  <a:tcPr marL="6597" marR="6597" marT="0" marB="0" anchor="ctr"/>
                </a:tc>
              </a:tr>
              <a:tr h="24334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Observations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1,400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24334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Log Likelihood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 smtClean="0"/>
                        <a:t>-781.101</a:t>
                      </a:r>
                      <a:endParaRPr lang="en-US" altLang="ko-KR" sz="1100" dirty="0"/>
                    </a:p>
                  </a:txBody>
                  <a:tcPr marL="6597" marR="6597" marT="0" marB="0" anchor="ctr"/>
                </a:tc>
              </a:tr>
              <a:tr h="243346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effectLst/>
                          <a:latin typeface="맑은 고딕"/>
                          <a:ea typeface="맑은 고딕"/>
                          <a:cs typeface="굴림"/>
                        </a:rPr>
                        <a:t>Akaike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 Inf. Crit.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/>
                        <a:t>1,594.203</a:t>
                      </a:r>
                    </a:p>
                  </a:txBody>
                  <a:tcPr marL="6597" marR="6597" marT="0" marB="0" anchor="ctr"/>
                </a:tc>
              </a:tr>
              <a:tr h="243346">
                <a:tc gridSpan="4"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4927600" algn="l"/>
                        </a:tabLst>
                      </a:pPr>
                      <a:r>
                        <a:rPr lang="en-US" sz="1100" i="1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Note</a:t>
                      </a:r>
                      <a:r>
                        <a:rPr lang="en-US" sz="1100" i="1" kern="0" dirty="0" smtClean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: </a:t>
                      </a:r>
                      <a:r>
                        <a:rPr lang="en-US" sz="1100" kern="0" baseline="30000" dirty="0" smtClean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p&lt;0.1; 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p&lt;0.05; </a:t>
                      </a:r>
                      <a:r>
                        <a:rPr lang="en-US" sz="1100" kern="0" baseline="3000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맑은 고딕"/>
                          <a:ea typeface="맑은 고딕"/>
                          <a:cs typeface="굴림"/>
                        </a:rPr>
                        <a:t>p&lt;0.01</a:t>
                      </a: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7697" marR="76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534025" y="4379413"/>
            <a:ext cx="392583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logit(P(Y = VRE)) </a:t>
            </a:r>
            <a:r>
              <a:rPr lang="en-US" altLang="ko-KR" sz="1100" dirty="0" smtClean="0"/>
              <a:t>= </a:t>
            </a:r>
            <a:r>
              <a:rPr lang="en-US" altLang="ko-KR" sz="1100" dirty="0"/>
              <a:t>-</a:t>
            </a:r>
            <a:r>
              <a:rPr lang="en-US" altLang="ko-KR" sz="1100" dirty="0" smtClean="0"/>
              <a:t>1.26827+ </a:t>
            </a:r>
            <a:r>
              <a:rPr lang="en-US" altLang="ko-KR" sz="1100" dirty="0"/>
              <a:t>1.27961*ICU_STAYY + 0.88879*NASO_TUBE_ORDR_YNY + 0.85778*TIGE_DRUG_YNY + 0.40251*VANCO_DRUG_YNY </a:t>
            </a:r>
            <a:r>
              <a:rPr lang="en-US" altLang="ko-KR" sz="1100" dirty="0" smtClean="0"/>
              <a:t>+ 0.43585*MTRONIDA_DRUG_YNY </a:t>
            </a:r>
            <a:r>
              <a:rPr lang="en-US" altLang="ko-KR" sz="1100" dirty="0"/>
              <a:t>+ 0.43555*DIABET_DIAG_YNY + 15.17924*LINE_DRUG_YNY + 0.2867*SULFAM_DRUG_YNY + 0.56185*DRAIN_TUBE_ORDR_YNY + 0.00399*SRGY_YNY + 0.17118*ANGIO_ORDR_YNY + 0.95125*SHOCK_DIAG_YNY + 0.50808*TRACH_SRGY_YNY + 0.01212*AGE_YR + 0.00382*PRIOR_LOS</a:t>
            </a:r>
            <a:endParaRPr lang="ko-KR" altLang="en-US" sz="1100" dirty="0"/>
          </a:p>
        </p:txBody>
      </p:sp>
      <p:sp>
        <p:nvSpPr>
          <p:cNvPr id="10" name="직사각형 9"/>
          <p:cNvSpPr/>
          <p:nvPr/>
        </p:nvSpPr>
        <p:spPr>
          <a:xfrm>
            <a:off x="5286376" y="1337836"/>
            <a:ext cx="4405416" cy="506931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en-US" altLang="ko-KR" sz="1200" b="1" dirty="0" smtClean="0">
                <a:solidFill>
                  <a:schemeClr val="tx1"/>
                </a:solidFill>
              </a:rPr>
              <a:t>VRE Risk Factor Pool Performance</a:t>
            </a: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200" b="1" dirty="0" err="1" smtClean="0">
                <a:solidFill>
                  <a:schemeClr val="tx1"/>
                </a:solidFill>
              </a:rPr>
              <a:t>회귀</a:t>
            </a:r>
            <a:r>
              <a:rPr lang="ko-KR" altLang="en-US" sz="1200" b="1" dirty="0" err="1">
                <a:solidFill>
                  <a:schemeClr val="tx1"/>
                </a:solidFill>
              </a:rPr>
              <a:t>식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  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D278AA56-C863-324D-969E-96201D4B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38" y="-13394"/>
            <a:ext cx="9517327" cy="562074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Ⅱ. </a:t>
            </a:r>
            <a:r>
              <a:rPr lang="en-US" altLang="ko-KR" dirty="0" smtClean="0">
                <a:latin typeface="+mn-ea"/>
              </a:rPr>
              <a:t>Logistic </a:t>
            </a:r>
            <a:r>
              <a:rPr lang="en-US" altLang="ko-KR" dirty="0">
                <a:latin typeface="+mn-ea"/>
              </a:rPr>
              <a:t>Regression </a:t>
            </a:r>
            <a:r>
              <a:rPr lang="en-US" altLang="ko-KR" dirty="0" smtClean="0">
                <a:latin typeface="+mn-ea"/>
              </a:rPr>
              <a:t>Model </a:t>
            </a:r>
            <a:r>
              <a:rPr lang="ko-KR" altLang="en-US" dirty="0" smtClean="0">
                <a:latin typeface="+mn-ea"/>
              </a:rPr>
              <a:t>결과 </a:t>
            </a:r>
            <a:r>
              <a:rPr lang="en-US" altLang="ko-KR" dirty="0" smtClean="0">
                <a:latin typeface="+mn-ea"/>
              </a:rPr>
              <a:t>: VRE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(1/2)</a:t>
            </a:r>
            <a:endParaRPr lang="en-US" dirty="0">
              <a:latin typeface="+mn-ea"/>
              <a:ea typeface="+mn-ea"/>
            </a:endParaRPr>
          </a:p>
        </p:txBody>
      </p:sp>
      <p:sp>
        <p:nvSpPr>
          <p:cNvPr id="13" name="텍스트 개체 틀 3"/>
          <p:cNvSpPr txBox="1">
            <a:spLocks/>
          </p:cNvSpPr>
          <p:nvPr/>
        </p:nvSpPr>
        <p:spPr>
          <a:xfrm>
            <a:off x="193769" y="620691"/>
            <a:ext cx="9518464" cy="72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ko-KR" dirty="0"/>
              <a:t>Random Sampling</a:t>
            </a:r>
            <a:r>
              <a:rPr lang="ko-KR" altLang="en-US" dirty="0"/>
              <a:t>과</a:t>
            </a:r>
            <a:r>
              <a:rPr lang="en-US" altLang="ko-KR" dirty="0"/>
              <a:t> Case-Control</a:t>
            </a:r>
            <a:r>
              <a:rPr lang="ko-KR" altLang="en-US" dirty="0"/>
              <a:t> 후 </a:t>
            </a:r>
            <a:r>
              <a:rPr lang="en-US" altLang="ko-KR" dirty="0" smtClean="0"/>
              <a:t>VRE </a:t>
            </a:r>
            <a:r>
              <a:rPr lang="en-US" altLang="ko-KR" dirty="0"/>
              <a:t>Risk Factor Pool 15</a:t>
            </a:r>
            <a:r>
              <a:rPr lang="ko-KR" altLang="en-US" dirty="0"/>
              <a:t>개를 추출하기 </a:t>
            </a:r>
            <a:r>
              <a:rPr lang="ko-KR" altLang="en-US" dirty="0" smtClean="0"/>
              <a:t>위하</a:t>
            </a:r>
            <a:r>
              <a:rPr lang="ko-KR" altLang="en-US" dirty="0"/>
              <a:t>여</a:t>
            </a:r>
            <a:r>
              <a:rPr lang="en-US" altLang="ko-KR" dirty="0" smtClean="0"/>
              <a:t>,</a:t>
            </a:r>
            <a:r>
              <a:rPr lang="ko-KR" altLang="en-US" dirty="0" smtClean="0"/>
              <a:t> </a:t>
            </a:r>
            <a:r>
              <a:rPr lang="ko-KR" altLang="en-US" dirty="0"/>
              <a:t>모델 성능을 반복 측정하고</a:t>
            </a:r>
            <a:r>
              <a:rPr lang="en-US" altLang="ko-KR" dirty="0"/>
              <a:t>, </a:t>
            </a:r>
            <a:r>
              <a:rPr lang="ko-KR" altLang="en-US" dirty="0"/>
              <a:t>최종 모델을 결정합니다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753717"/>
              </p:ext>
            </p:extLst>
          </p:nvPr>
        </p:nvGraphicFramePr>
        <p:xfrm>
          <a:off x="5512721" y="1645741"/>
          <a:ext cx="3986883" cy="14218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21547"/>
                <a:gridCol w="741334"/>
                <a:gridCol w="741334"/>
                <a:gridCol w="741334"/>
                <a:gridCol w="741334"/>
              </a:tblGrid>
              <a:tr h="284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Zero 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prop</a:t>
                      </a:r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.= 0.4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Accuracy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0.738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0.738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0.733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Sensitivity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0.775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0.761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Specificity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0.683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0.704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0.671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0.721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Precision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0.786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0.794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0.803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F1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0.780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512722" y="3484021"/>
            <a:ext cx="3986882" cy="43088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/>
              <a:t>iteration 40</a:t>
            </a:r>
            <a:r>
              <a:rPr lang="ko-KR" altLang="en-US" sz="1100" dirty="0" smtClean="0"/>
              <a:t>번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중 </a:t>
            </a:r>
            <a:r>
              <a:rPr lang="en-US" altLang="ko-KR" sz="1100" dirty="0" smtClean="0"/>
              <a:t>model performance Comparing </a:t>
            </a:r>
            <a:r>
              <a:rPr lang="ko-KR" altLang="en-US" sz="1100" dirty="0" smtClean="0"/>
              <a:t>하여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15, 16, 23, 31</a:t>
            </a:r>
            <a:r>
              <a:rPr lang="ko-KR" altLang="en-US" sz="1100" dirty="0" smtClean="0"/>
              <a:t>번째 모델 비교하여</a:t>
            </a:r>
            <a:r>
              <a:rPr lang="en-US" altLang="ko-KR" sz="1100" dirty="0" smtClean="0"/>
              <a:t> -&gt; 15</a:t>
            </a:r>
            <a:r>
              <a:rPr lang="ko-KR" altLang="en-US" sz="1100" dirty="0" smtClean="0"/>
              <a:t>번째 모델 선택 </a:t>
            </a:r>
            <a:endParaRPr lang="en-US" altLang="ko-KR" sz="1100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5512723" y="3224006"/>
            <a:ext cx="1645460" cy="26161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smtClean="0"/>
              <a:t>모델 선택 </a:t>
            </a:r>
            <a:r>
              <a:rPr lang="en-US" altLang="ko-KR" sz="1100" b="1" dirty="0" smtClean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406354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D90CF802-A03D-0248-AF04-474208C0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>
                <a:latin typeface="+mn-ea"/>
              </a:rPr>
              <a:pPr/>
              <a:t>8</a:t>
            </a:fld>
            <a:endParaRPr lang="ko-KR" altLang="en-US">
              <a:latin typeface="+mn-ea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4403725" y="565150"/>
            <a:ext cx="9906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  <a:cs typeface="굴림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88773"/>
              </p:ext>
            </p:extLst>
          </p:nvPr>
        </p:nvGraphicFramePr>
        <p:xfrm>
          <a:off x="194338" y="1378778"/>
          <a:ext cx="4920587" cy="536829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34200"/>
                <a:gridCol w="1914622"/>
                <a:gridCol w="1374547"/>
                <a:gridCol w="1097218"/>
              </a:tblGrid>
              <a:tr h="161327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ko-KR" sz="1100" b="1" kern="100" dirty="0" smtClean="0">
                          <a:effectLst/>
                          <a:latin typeface="+mn-ea"/>
                          <a:ea typeface="+mn-ea"/>
                        </a:rPr>
                        <a:t>Risk Factor </a:t>
                      </a:r>
                      <a:r>
                        <a:rPr lang="en-US" altLang="ko-KR" sz="1100" b="1" kern="100" baseline="0" dirty="0" smtClean="0">
                          <a:effectLst/>
                          <a:latin typeface="+mn-ea"/>
                          <a:ea typeface="+mn-ea"/>
                        </a:rPr>
                        <a:t>Pool  Count 20</a:t>
                      </a:r>
                      <a:endParaRPr lang="ko-KR" sz="11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6597" marR="6597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sz="1000" kern="100" dirty="0"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6597" marR="6597" marT="0" marB="0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8456"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DEMO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effectLst/>
                          <a:latin typeface="+mn-ea"/>
                          <a:ea typeface="+mn-ea"/>
                          <a:cs typeface="굴림"/>
                        </a:rPr>
                        <a:t>AGE_YR</a:t>
                      </a:r>
                      <a:endParaRPr lang="ko-KR" altLang="ko-KR" sz="1100" kern="100" dirty="0" smtClean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나이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0.017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***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(0.004)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HOSP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effectLst/>
                          <a:latin typeface="+mn-ea"/>
                          <a:ea typeface="+mn-ea"/>
                          <a:cs typeface="굴림"/>
                        </a:rPr>
                        <a:t>ICU_STAYY</a:t>
                      </a:r>
                      <a:endParaRPr lang="ko-KR" altLang="ko-KR" sz="1100" kern="100" dirty="0" smtClean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ICU </a:t>
                      </a: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재원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1.457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***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(0.199)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kern="0" dirty="0" smtClean="0">
                          <a:effectLst/>
                          <a:latin typeface="+mn-ea"/>
                          <a:ea typeface="+mn-ea"/>
                          <a:cs typeface="굴림"/>
                        </a:rPr>
                        <a:t>PRIOR_LOS</a:t>
                      </a:r>
                      <a:endParaRPr lang="ko-KR" altLang="ko-KR" sz="1100" kern="100" dirty="0" smtClean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이전입원기간</a:t>
                      </a:r>
                      <a:r>
                        <a:rPr lang="en-US" altLang="ko-KR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(90</a:t>
                      </a:r>
                      <a:r>
                        <a:rPr lang="ko-KR" altLang="en-US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일</a:t>
                      </a:r>
                      <a:r>
                        <a:rPr lang="en-US" altLang="ko-KR" sz="1100" kern="100" dirty="0" smtClean="0">
                          <a:effectLst/>
                          <a:latin typeface="+mn-lt"/>
                          <a:ea typeface="+mn-ea"/>
                          <a:cs typeface="Times New Roman"/>
                        </a:rPr>
                        <a:t>)</a:t>
                      </a:r>
                      <a:endParaRPr lang="ko-KR" altLang="ko-KR" sz="1100" kern="100" dirty="0">
                        <a:effectLst/>
                        <a:latin typeface="+mn-lt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0.025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***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(0.008)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rowSpan="6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DIAG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HAEMATO_DIAG_YNY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혈액관련질환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0.434 (0.342)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KIDNEY_DIAG_YNY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신장질환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0.195 (0.168)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GASTRO_DIAG_YNY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소화기질환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0.296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(0.153)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SHOCK_DIAG_YNY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패혈증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1.306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(0.580)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DIABET_DIAG_YNY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당뇨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-0.062 (0.139)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MAL_CANCER_YNY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암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0.618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(0.296)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rowSpan="2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SRGY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SRGY_YNY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수술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0.108 (0.143)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TRACH_SRGY_YNY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err="1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기관내</a:t>
                      </a: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 삽입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0.051 (0.376)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rowSpan="4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TUBE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NASO_TUBE_ORDR_YNY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비강 </a:t>
                      </a:r>
                      <a:r>
                        <a:rPr lang="ko-KR" altLang="en-US" sz="1100" kern="100" dirty="0" err="1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삽관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0.862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***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(0.222)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DRAIN_TUBE_ORDR_YNY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err="1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드레인</a:t>
                      </a: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 튜브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0.692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***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(0.251)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ANGIO_ORDR_YNY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err="1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혈관조영촬영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0.517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(0.280)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TRACH_TUBE_ORDR_YNY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기관절제술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0.051 (0.376)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rowSpan="5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DRUG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LINE_DRUG_YNY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LINE </a:t>
                      </a: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15.074 (336.503)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SULFAM_DRUG_YNY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SULFAM</a:t>
                      </a:r>
                      <a:r>
                        <a:rPr lang="en-US" altLang="ko-KR" sz="1100" kern="100" baseline="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 </a:t>
                      </a:r>
                      <a:r>
                        <a:rPr lang="ko-KR" altLang="en-US" sz="1100" kern="100" baseline="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0.296 (0.356)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VANCO_DRUG_YNY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VANCO </a:t>
                      </a: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0.574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(0.231)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TIGE_DRUG_YNY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TIGE </a:t>
                      </a: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1.217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(0.633)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98456">
                <a:tc v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  <a:cs typeface="굴림"/>
                        </a:rPr>
                        <a:t>MTRONIDA_DRUG_YNY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MTRONIDA </a:t>
                      </a:r>
                      <a:r>
                        <a:rPr lang="ko-KR" altLang="en-US" sz="1100" kern="100" dirty="0" smtClean="0">
                          <a:effectLst/>
                          <a:latin typeface="+mn-ea"/>
                          <a:ea typeface="+mn-ea"/>
                          <a:cs typeface="Times New Roman"/>
                        </a:rPr>
                        <a:t>처방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0.464</a:t>
                      </a:r>
                      <a:r>
                        <a:rPr lang="ko-KR" altLang="en-US" sz="1100" b="0" i="0" baseline="3000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**</a:t>
                      </a:r>
                      <a:r>
                        <a:rPr lang="ko-KR" altLang="en-US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 </a:t>
                      </a:r>
                      <a:r>
                        <a:rPr lang="en-US" altLang="ko-KR" sz="1100" b="0" i="0" dirty="0" smtClean="0">
                          <a:solidFill>
                            <a:srgbClr val="000000"/>
                          </a:solidFill>
                          <a:effectLst/>
                          <a:latin typeface="Malgun Gothic"/>
                        </a:rPr>
                        <a:t>(0.189)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80609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Constant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0" dirty="0" smtClean="0">
                          <a:effectLst/>
                          <a:latin typeface="+mn-ea"/>
                          <a:ea typeface="+mn-ea"/>
                          <a:cs typeface="굴림"/>
                        </a:rPr>
                        <a:t>-1.718</a:t>
                      </a:r>
                      <a:r>
                        <a:rPr lang="en-US" altLang="ko-KR" sz="1100" kern="0" baseline="30000" dirty="0" smtClean="0">
                          <a:effectLst/>
                          <a:latin typeface="+mn-ea"/>
                          <a:ea typeface="+mn-ea"/>
                          <a:cs typeface="굴림"/>
                        </a:rPr>
                        <a:t>***</a:t>
                      </a:r>
                      <a:r>
                        <a:rPr lang="en-US" altLang="ko-KR" sz="1100" kern="0" dirty="0" smtClean="0">
                          <a:effectLst/>
                          <a:latin typeface="+mn-ea"/>
                          <a:ea typeface="+mn-ea"/>
                          <a:cs typeface="굴림"/>
                        </a:rPr>
                        <a:t> (0.255)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80609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Observations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1,400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80609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Log Likelihood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0" dirty="0" smtClean="0">
                          <a:effectLst/>
                          <a:latin typeface="+mn-ea"/>
                          <a:ea typeface="+mn-ea"/>
                          <a:cs typeface="굴림"/>
                        </a:rPr>
                        <a:t>-754.018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80609">
                <a:tc gridSpan="3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effectLst/>
                          <a:latin typeface="+mn-ea"/>
                          <a:ea typeface="+mn-ea"/>
                        </a:rPr>
                        <a:t>Akaike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 Inf. Crit.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100" kern="0" dirty="0" smtClean="0">
                          <a:effectLst/>
                          <a:latin typeface="+mn-ea"/>
                          <a:ea typeface="+mn-ea"/>
                          <a:cs typeface="굴림"/>
                        </a:rPr>
                        <a:t>1,550.037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</a:tr>
              <a:tr h="180609">
                <a:tc gridSpan="4">
                  <a:txBody>
                    <a:bodyPr/>
                    <a:lstStyle/>
                    <a:p>
                      <a:pPr algn="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Note</a:t>
                      </a:r>
                      <a:r>
                        <a:rPr lang="en-US" sz="1100" kern="0" dirty="0" smtClean="0"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lang="en-US" sz="1100" kern="0" baseline="30000" dirty="0" smtClean="0">
                          <a:effectLst/>
                          <a:latin typeface="+mn-ea"/>
                          <a:ea typeface="+mn-ea"/>
                        </a:rPr>
                        <a:t>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p&lt;0.1; 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p&lt;0.05; </a:t>
                      </a:r>
                      <a:r>
                        <a:rPr lang="en-US" sz="1100" kern="0" baseline="30000" dirty="0">
                          <a:effectLst/>
                          <a:latin typeface="+mn-ea"/>
                          <a:ea typeface="+mn-ea"/>
                        </a:rPr>
                        <a:t>***</a:t>
                      </a:r>
                      <a:r>
                        <a:rPr lang="en-US" sz="1100" kern="0" dirty="0">
                          <a:effectLst/>
                          <a:latin typeface="+mn-ea"/>
                          <a:ea typeface="+mn-ea"/>
                        </a:rPr>
                        <a:t>p&lt;0.01</a:t>
                      </a: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맑은 고딕"/>
                        <a:ea typeface="맑은 고딕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algn="ctr" latinLnBrk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ko-KR" sz="1100" kern="100" dirty="0">
                        <a:effectLst/>
                        <a:latin typeface="+mn-ea"/>
                        <a:ea typeface="+mn-ea"/>
                        <a:cs typeface="Times New Roman"/>
                      </a:endParaRPr>
                    </a:p>
                  </a:txBody>
                  <a:tcPr marL="6597" marR="6597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512724" y="4157492"/>
            <a:ext cx="4070960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logit(P(Y = VRE)) = -</a:t>
            </a:r>
            <a:r>
              <a:rPr lang="en-US" altLang="ko-KR" sz="1100" dirty="0" smtClean="0"/>
              <a:t>1.71842 </a:t>
            </a:r>
            <a:r>
              <a:rPr lang="en-US" altLang="ko-KR" sz="1100" dirty="0"/>
              <a:t>+ 1.4575*ICU_STAYY + 0.86218*NASO_TUBE_ORDR_YNY + 1.21716*TIGE_DRUG_YNY + 0.5739*VANCO_DRUG_YNY + 0.4638*MTRONIDA_DRUG_YNY + -0.06177*DIABET_DIAG_YNY + 15.07354*LINE_DRUG_YNY + 0.29625*SULFAM_DRUG_YNY + 0.69154*DRAIN_TUBE_ORDR_YNY + 0.10842*SRGY_YNY + 0.51663*ANGIO_ORDR_YNY + 1.30621*SHOCK_DIAG_YNY + 0.05094*TRACH_SRGY_YNY + 0.29607*GASTRO_DIAG_YNY + 0.61767*MAL_CANCER_YNY + 0.09781*TRACH_TUBE_ORDR_YNY + 0.43386*HAEMATO_DIAG_YNY + 0.19508*KIDNEY_DIAG_YNY + 0.01699*AGE_YR + 0.02452*PRIOR_LOS</a:t>
            </a:r>
            <a:endParaRPr lang="ko-KR" altLang="en-US" sz="1100" dirty="0"/>
          </a:p>
        </p:txBody>
      </p:sp>
      <p:sp>
        <p:nvSpPr>
          <p:cNvPr id="14" name="Title 1">
            <a:extLst>
              <a:ext uri="{FF2B5EF4-FFF2-40B4-BE49-F238E27FC236}">
                <a16:creationId xmlns="" xmlns:a16="http://schemas.microsoft.com/office/drawing/2014/main" id="{D278AA56-C863-324D-969E-96201D4B1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338" y="-13394"/>
            <a:ext cx="9517327" cy="562074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Ⅱ. </a:t>
            </a:r>
            <a:r>
              <a:rPr lang="en-US" altLang="ko-KR" dirty="0" smtClean="0">
                <a:latin typeface="+mn-ea"/>
              </a:rPr>
              <a:t>Logistic </a:t>
            </a:r>
            <a:r>
              <a:rPr lang="en-US" altLang="ko-KR" dirty="0">
                <a:latin typeface="+mn-ea"/>
              </a:rPr>
              <a:t>Regression </a:t>
            </a:r>
            <a:r>
              <a:rPr lang="en-US" altLang="ko-KR" dirty="0" smtClean="0">
                <a:latin typeface="+mn-ea"/>
              </a:rPr>
              <a:t>Model </a:t>
            </a:r>
            <a:r>
              <a:rPr lang="ko-KR" altLang="en-US" dirty="0" smtClean="0">
                <a:latin typeface="+mn-ea"/>
              </a:rPr>
              <a:t>결과 </a:t>
            </a:r>
            <a:r>
              <a:rPr lang="en-US" altLang="ko-KR" dirty="0" smtClean="0">
                <a:latin typeface="+mn-ea"/>
              </a:rPr>
              <a:t>: VRE</a:t>
            </a:r>
            <a:r>
              <a:rPr lang="ko-KR" altLang="en-US" dirty="0" smtClean="0">
                <a:latin typeface="+mn-ea"/>
              </a:rPr>
              <a:t> </a:t>
            </a:r>
            <a:r>
              <a:rPr lang="en-US" altLang="ko-KR" dirty="0" smtClean="0">
                <a:latin typeface="+mn-ea"/>
              </a:rPr>
              <a:t>(2/2)</a:t>
            </a:r>
            <a:endParaRPr lang="en-US" dirty="0">
              <a:latin typeface="+mn-ea"/>
              <a:ea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286375" y="1378776"/>
            <a:ext cx="4361875" cy="503348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28600" indent="-228600">
              <a:buAutoNum type="arabicPeriod"/>
            </a:pPr>
            <a:r>
              <a:rPr lang="en-US" altLang="ko-KR" sz="1200" b="1" dirty="0" smtClean="0">
                <a:solidFill>
                  <a:schemeClr val="tx1"/>
                </a:solidFill>
              </a:rPr>
              <a:t>VRE Risk Factor Pool Performance</a:t>
            </a: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1200" b="1" dirty="0" smtClean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1200" b="1" dirty="0" err="1" smtClean="0">
                <a:solidFill>
                  <a:schemeClr val="tx1"/>
                </a:solidFill>
              </a:rPr>
              <a:t>회귀</a:t>
            </a:r>
            <a:r>
              <a:rPr lang="ko-KR" altLang="en-US" sz="1200" b="1" dirty="0" err="1">
                <a:solidFill>
                  <a:schemeClr val="tx1"/>
                </a:solidFill>
              </a:rPr>
              <a:t>식</a:t>
            </a:r>
            <a:r>
              <a:rPr lang="en-US" altLang="ko-KR" sz="1200" b="1" dirty="0" smtClean="0">
                <a:solidFill>
                  <a:schemeClr val="tx1"/>
                </a:solidFill>
              </a:rPr>
              <a:t>  </a:t>
            </a:r>
            <a:endParaRPr lang="en-US" altLang="ko-KR" sz="1200" b="1" dirty="0">
              <a:solidFill>
                <a:schemeClr val="tx1"/>
              </a:solidFill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just"/>
            <a:r>
              <a:rPr lang="en-US" altLang="ko-KR" dirty="0"/>
              <a:t>Random Sampling</a:t>
            </a:r>
            <a:r>
              <a:rPr lang="ko-KR" altLang="en-US" dirty="0"/>
              <a:t>과</a:t>
            </a:r>
            <a:r>
              <a:rPr lang="en-US" altLang="ko-KR" dirty="0"/>
              <a:t> Case-Control</a:t>
            </a:r>
            <a:r>
              <a:rPr lang="ko-KR" altLang="en-US" dirty="0"/>
              <a:t> 후 </a:t>
            </a:r>
            <a:r>
              <a:rPr lang="en-US" altLang="ko-KR" dirty="0" smtClean="0"/>
              <a:t>VRE </a:t>
            </a:r>
            <a:r>
              <a:rPr lang="en-US" altLang="ko-KR" dirty="0"/>
              <a:t>Risk Factor Pool </a:t>
            </a:r>
            <a:r>
              <a:rPr lang="en-US" altLang="ko-KR" dirty="0" smtClean="0"/>
              <a:t>20</a:t>
            </a:r>
            <a:r>
              <a:rPr lang="ko-KR" altLang="en-US" dirty="0" smtClean="0"/>
              <a:t>개를 </a:t>
            </a:r>
            <a:r>
              <a:rPr lang="ko-KR" altLang="en-US" dirty="0"/>
              <a:t>추출하기 </a:t>
            </a:r>
            <a:r>
              <a:rPr lang="ko-KR" altLang="en-US" dirty="0" smtClean="0"/>
              <a:t>위하여</a:t>
            </a:r>
            <a:r>
              <a:rPr lang="en-US" altLang="ko-KR" dirty="0" smtClean="0"/>
              <a:t>,</a:t>
            </a:r>
            <a:r>
              <a:rPr lang="ko-KR" altLang="en-US" dirty="0" smtClean="0"/>
              <a:t> 모델 </a:t>
            </a:r>
            <a:r>
              <a:rPr lang="ko-KR" altLang="en-US" dirty="0"/>
              <a:t>성능을 </a:t>
            </a:r>
            <a:r>
              <a:rPr lang="ko-KR" altLang="en-US" dirty="0" smtClean="0"/>
              <a:t>반복 측정하고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최종 모델을 결정합니다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74022"/>
              </p:ext>
            </p:extLst>
          </p:nvPr>
        </p:nvGraphicFramePr>
        <p:xfrm>
          <a:off x="5512721" y="1645741"/>
          <a:ext cx="3986883" cy="142186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21547"/>
                <a:gridCol w="741334"/>
                <a:gridCol w="741334"/>
                <a:gridCol w="741334"/>
                <a:gridCol w="741334"/>
              </a:tblGrid>
              <a:tr h="284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Zero 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prop</a:t>
                      </a:r>
                      <a:r>
                        <a:rPr 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.= 0.4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Accuracy 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0.748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Sensitivity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0.778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0.772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Specificity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0.704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0.688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0.683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0.700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Precision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0.798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0.789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0.787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0.794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  <a:tr h="227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u="none" strike="noStrike" dirty="0" smtClean="0">
                          <a:effectLst/>
                          <a:latin typeface="+mn-ea"/>
                          <a:ea typeface="+mn-ea"/>
                        </a:rPr>
                        <a:t>F1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3437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0.788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0.785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0.784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  <a:tc>
                  <a:txBody>
                    <a:bodyPr/>
                    <a:lstStyle/>
                    <a:p>
                      <a:pPr marL="0" indent="92075" algn="r" fontAlgn="ctr"/>
                      <a:r>
                        <a:rPr lang="en-US" sz="10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0.783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437" marR="108000" marT="3437" marB="0" anchor="ctr"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512722" y="3484021"/>
            <a:ext cx="3986882" cy="43088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smtClean="0"/>
              <a:t>iteration 40</a:t>
            </a:r>
            <a:r>
              <a:rPr lang="ko-KR" altLang="en-US" sz="1100" dirty="0" smtClean="0"/>
              <a:t>번</a:t>
            </a:r>
            <a:r>
              <a:rPr lang="en-US" altLang="ko-KR" sz="1100" dirty="0" smtClean="0"/>
              <a:t> </a:t>
            </a:r>
            <a:r>
              <a:rPr lang="ko-KR" altLang="en-US" sz="1100" dirty="0" smtClean="0"/>
              <a:t>중 </a:t>
            </a:r>
            <a:r>
              <a:rPr lang="en-US" altLang="ko-KR" sz="1100" dirty="0" smtClean="0"/>
              <a:t>model performance Comparing </a:t>
            </a:r>
            <a:r>
              <a:rPr lang="ko-KR" altLang="en-US" sz="1100" dirty="0" smtClean="0"/>
              <a:t>하여 </a:t>
            </a:r>
            <a:r>
              <a:rPr lang="en-US" altLang="ko-KR" sz="1100" dirty="0" smtClean="0"/>
              <a:t/>
            </a:r>
            <a:br>
              <a:rPr lang="en-US" altLang="ko-KR" sz="1100" dirty="0" smtClean="0"/>
            </a:br>
            <a:r>
              <a:rPr lang="en-US" altLang="ko-KR" sz="1100" dirty="0" smtClean="0"/>
              <a:t>14, 16, 23, 31</a:t>
            </a:r>
            <a:r>
              <a:rPr lang="ko-KR" altLang="en-US" sz="1100" dirty="0" smtClean="0"/>
              <a:t>번째 모델 비교하여</a:t>
            </a:r>
            <a:r>
              <a:rPr lang="en-US" altLang="ko-KR" sz="1100" dirty="0" smtClean="0"/>
              <a:t> -&gt; 14</a:t>
            </a:r>
            <a:r>
              <a:rPr lang="ko-KR" altLang="en-US" sz="1100" dirty="0" smtClean="0"/>
              <a:t>번째 모델 선택 </a:t>
            </a:r>
            <a:endParaRPr lang="en-US" altLang="ko-KR" sz="1100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5512723" y="3224006"/>
            <a:ext cx="1645460" cy="26161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smtClean="0"/>
              <a:t>모델 선택 </a:t>
            </a:r>
            <a:r>
              <a:rPr lang="en-US" altLang="ko-KR" sz="1100" b="1" dirty="0" smtClean="0"/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1324259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latin typeface="+mn-ea"/>
                <a:ea typeface="+mn-ea"/>
              </a:rPr>
              <a:t>[</a:t>
            </a:r>
            <a:r>
              <a:rPr lang="ko-KR" altLang="en-US" dirty="0" smtClean="0">
                <a:latin typeface="+mn-ea"/>
                <a:ea typeface="+mn-ea"/>
              </a:rPr>
              <a:t>참고</a:t>
            </a:r>
            <a:r>
              <a:rPr lang="en-US" altLang="ko-KR" dirty="0" smtClean="0">
                <a:latin typeface="+mn-ea"/>
                <a:ea typeface="+mn-ea"/>
              </a:rPr>
              <a:t>] Logistic Regression Model</a:t>
            </a:r>
            <a:r>
              <a:rPr lang="ko-KR" altLang="en-US" dirty="0" smtClean="0">
                <a:latin typeface="+mn-ea"/>
                <a:ea typeface="+mn-ea"/>
              </a:rPr>
              <a:t> 성능 </a:t>
            </a:r>
            <a:r>
              <a:rPr lang="ko-KR" altLang="en-US" dirty="0">
                <a:latin typeface="+mn-ea"/>
                <a:ea typeface="+mn-ea"/>
              </a:rPr>
              <a:t>지표 </a:t>
            </a:r>
            <a:r>
              <a:rPr lang="en-US" altLang="ko-KR" dirty="0" smtClean="0">
                <a:latin typeface="+mn-ea"/>
                <a:ea typeface="+mn-ea"/>
              </a:rPr>
              <a:t>(1/2)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3753690" y="6486370"/>
            <a:ext cx="2398622" cy="365125"/>
          </a:xfrm>
        </p:spPr>
        <p:txBody>
          <a:bodyPr/>
          <a:lstStyle/>
          <a:p>
            <a:fld id="{B6DFE47B-94CE-4970-B9E9-D8C3683B0CF5}" type="slidenum">
              <a:rPr lang="ko-KR" altLang="en-US" smtClean="0">
                <a:solidFill>
                  <a:prstClr val="black"/>
                </a:solidFill>
                <a:latin typeface="+mn-ea"/>
              </a:rPr>
              <a:pPr/>
              <a:t>9</a:t>
            </a:fld>
            <a:endParaRPr lang="ko-KR" altLang="en-US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863561" y="1086939"/>
            <a:ext cx="4524503" cy="14415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 lvl="0" indent="-1809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TP : Y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이라고 예측했는데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100" dirty="0" smtClean="0">
                <a:solidFill>
                  <a:prstClr val="black"/>
                </a:solidFill>
                <a:latin typeface="+mn-ea"/>
              </a:rPr>
              <a:t>실제 값도 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Y 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인 경우 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옳음</a:t>
            </a:r>
            <a:r>
              <a:rPr lang="en-US" altLang="ko-KR" sz="1100" dirty="0" smtClean="0">
                <a:solidFill>
                  <a:prstClr val="black"/>
                </a:solidFill>
                <a:latin typeface="+mn-ea"/>
              </a:rPr>
              <a:t>)</a:t>
            </a:r>
            <a:endParaRPr lang="en-US" altLang="ko-KR" sz="1100" dirty="0">
              <a:solidFill>
                <a:prstClr val="black"/>
              </a:solidFill>
              <a:latin typeface="+mn-ea"/>
            </a:endParaRPr>
          </a:p>
          <a:p>
            <a:pPr marL="180975" lvl="0" indent="-1809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TN : N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이라고 예측했는데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100" dirty="0" smtClean="0">
                <a:solidFill>
                  <a:prstClr val="black"/>
                </a:solidFill>
                <a:latin typeface="+mn-ea"/>
              </a:rPr>
              <a:t>실제 값도 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N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인 경우 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옳음</a:t>
            </a:r>
            <a:r>
              <a:rPr lang="en-US" altLang="ko-KR" sz="1100" dirty="0" smtClean="0">
                <a:solidFill>
                  <a:prstClr val="black"/>
                </a:solidFill>
                <a:latin typeface="+mn-ea"/>
              </a:rPr>
              <a:t>)</a:t>
            </a:r>
            <a:endParaRPr lang="en-US" altLang="ko-KR" sz="1100" dirty="0">
              <a:solidFill>
                <a:prstClr val="black"/>
              </a:solidFill>
              <a:latin typeface="+mn-ea"/>
            </a:endParaRPr>
          </a:p>
          <a:p>
            <a:pPr marL="180975" lvl="0" indent="-1809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FP : Y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이라고 예측했으나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100" dirty="0" smtClean="0">
                <a:solidFill>
                  <a:prstClr val="black"/>
                </a:solidFill>
                <a:latin typeface="+mn-ea"/>
              </a:rPr>
              <a:t>실제 값은 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N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인 경우 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틀림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180975" lvl="0" indent="-180975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FN : N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이라고 예측했으나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100" dirty="0" smtClean="0">
                <a:solidFill>
                  <a:prstClr val="black"/>
                </a:solidFill>
                <a:latin typeface="+mn-ea"/>
              </a:rPr>
              <a:t>실제 값은 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Y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인 경우 </a:t>
            </a:r>
            <a:r>
              <a:rPr lang="en-US" altLang="ko-KR" sz="1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100" dirty="0">
                <a:solidFill>
                  <a:prstClr val="black"/>
                </a:solidFill>
                <a:latin typeface="+mn-ea"/>
              </a:rPr>
              <a:t>틀림</a:t>
            </a:r>
            <a:r>
              <a:rPr lang="en-US" altLang="ko-KR" sz="1100" dirty="0" smtClean="0">
                <a:solidFill>
                  <a:prstClr val="black"/>
                </a:solidFill>
                <a:latin typeface="+mn-ea"/>
              </a:rPr>
              <a:t>)</a:t>
            </a:r>
            <a:endParaRPr lang="en-US" altLang="ko-KR" sz="11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0489" y="601653"/>
            <a:ext cx="19566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b="1" dirty="0" smtClean="0">
                <a:latin typeface="+mn-ea"/>
              </a:rPr>
              <a:t>Confusion Matrix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57569" y="2466243"/>
            <a:ext cx="1772924" cy="425938"/>
          </a:xfrm>
          <a:prstGeom prst="rect">
            <a:avLst/>
          </a:prstGeom>
          <a:solidFill>
            <a:schemeClr val="tx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Accuracy</a:t>
            </a:r>
          </a:p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100" b="1" dirty="0" smtClean="0">
                <a:latin typeface="+mn-ea"/>
              </a:rPr>
              <a:t>정확도</a:t>
            </a:r>
            <a:r>
              <a:rPr lang="en-US" altLang="ko-KR" sz="1100" b="1" dirty="0" smtClean="0">
                <a:latin typeface="+mn-ea"/>
              </a:rPr>
              <a:t>)</a:t>
            </a: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직사각형 15"/>
              <p:cNvSpPr/>
              <p:nvPr/>
            </p:nvSpPr>
            <p:spPr>
              <a:xfrm>
                <a:off x="357569" y="2890144"/>
                <a:ext cx="1772924" cy="44566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11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TP</m:t>
                              </m:r>
                              <m: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TN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ko-KR" sz="11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TP</m:t>
                              </m:r>
                              <m: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TN</m:t>
                              </m:r>
                              <m: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FP</m:t>
                              </m:r>
                              <m: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FN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6" name="직사각형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69" y="2890144"/>
                <a:ext cx="1772924" cy="44566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직사각형 19"/>
          <p:cNvSpPr/>
          <p:nvPr/>
        </p:nvSpPr>
        <p:spPr>
          <a:xfrm>
            <a:off x="357569" y="3335053"/>
            <a:ext cx="1772924" cy="19187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173038" indent="-173038">
              <a:buFont typeface="Wingdings" panose="05000000000000000000" pitchFamily="2" charset="2"/>
              <a:buChar char="§"/>
            </a:pP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전체 샘플 중 예측이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Y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이든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N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이든 올바르게 예측한 샘플 수의 비율 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marL="173038" indent="-173038"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에 가까울수록 좋</a:t>
            </a:r>
            <a:r>
              <a:rPr lang="ko-KR" altLang="en-US" sz="1100" dirty="0" smtClean="0">
                <a:latin typeface="+mn-ea"/>
              </a:rPr>
              <a:t>음</a:t>
            </a:r>
            <a:endParaRPr lang="en-US" altLang="ko-KR" sz="1100" dirty="0" smtClean="0">
              <a:latin typeface="+mn-ea"/>
            </a:endParaRPr>
          </a:p>
          <a:p>
            <a:pPr marL="173038" indent="-173038">
              <a:buFont typeface="Wingdings" panose="05000000000000000000" pitchFamily="2" charset="2"/>
              <a:buChar char="§"/>
            </a:pP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전체 샘플 중에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서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Not MRSA(0)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는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Not MRSA(0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로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, </a:t>
            </a:r>
            <a:r>
              <a:rPr lang="en-US" altLang="ko-KR" sz="1100" spc="-150" dirty="0" smtClean="0">
                <a:solidFill>
                  <a:schemeClr val="tx1"/>
                </a:solidFill>
                <a:latin typeface="+mn-ea"/>
              </a:rPr>
              <a:t>MRSA(1)</a:t>
            </a:r>
            <a:r>
              <a:rPr lang="ko-KR" altLang="en-US" sz="1100" spc="-150" dirty="0" smtClean="0">
                <a:solidFill>
                  <a:schemeClr val="tx1"/>
                </a:solidFill>
                <a:latin typeface="+mn-ea"/>
              </a:rPr>
              <a:t>는 </a:t>
            </a:r>
            <a:r>
              <a:rPr lang="en-US" altLang="ko-KR" sz="1100" spc="-150" dirty="0" smtClean="0">
                <a:solidFill>
                  <a:schemeClr val="tx1"/>
                </a:solidFill>
                <a:latin typeface="+mn-ea"/>
              </a:rPr>
              <a:t>MRSA(1)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로 각각 올바르게 예측한 샘플의 비율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200757" y="2466243"/>
            <a:ext cx="1772924" cy="425938"/>
          </a:xfrm>
          <a:prstGeom prst="rect">
            <a:avLst/>
          </a:prstGeom>
          <a:solidFill>
            <a:schemeClr val="tx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Precision</a:t>
            </a:r>
          </a:p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100" b="1" dirty="0" smtClean="0">
                <a:latin typeface="+mn-ea"/>
              </a:rPr>
              <a:t>정밀도</a:t>
            </a:r>
            <a:r>
              <a:rPr lang="en-US" altLang="ko-KR" sz="1100" b="1" dirty="0" smtClean="0">
                <a:latin typeface="+mn-ea"/>
              </a:rPr>
              <a:t>)</a:t>
            </a:r>
            <a:endParaRPr lang="ko-KR" altLang="en-US" sz="1100" b="1" dirty="0">
              <a:solidFill>
                <a:schemeClr val="bg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/>
              <p:cNvSpPr/>
              <p:nvPr/>
            </p:nvSpPr>
            <p:spPr>
              <a:xfrm>
                <a:off x="2200757" y="2890144"/>
                <a:ext cx="1772924" cy="44566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TP</m:t>
                          </m:r>
                        </m:num>
                        <m:den>
                          <m:d>
                            <m:dPr>
                              <m:ctrlPr>
                                <a:rPr lang="en-US" altLang="ko-KR" sz="11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TP</m:t>
                              </m:r>
                              <m: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FP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7" name="직사각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0757" y="2890144"/>
                <a:ext cx="1772924" cy="44566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직사각형 20"/>
          <p:cNvSpPr/>
          <p:nvPr/>
        </p:nvSpPr>
        <p:spPr>
          <a:xfrm>
            <a:off x="2200757" y="3335053"/>
            <a:ext cx="1772924" cy="19187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171450" lvl="4" indent="-171450"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latin typeface="+mn-ea"/>
              </a:rPr>
              <a:t>Y</a:t>
            </a:r>
            <a:r>
              <a:rPr lang="ko-KR" altLang="en-US" sz="1100" dirty="0" smtClean="0">
                <a:latin typeface="+mn-ea"/>
              </a:rPr>
              <a:t>로 예측된 것 중 실제로도 </a:t>
            </a:r>
            <a:r>
              <a:rPr lang="en-US" altLang="ko-KR" sz="1100" dirty="0" smtClean="0">
                <a:latin typeface="+mn-ea"/>
              </a:rPr>
              <a:t>Y</a:t>
            </a:r>
            <a:r>
              <a:rPr lang="ko-KR" altLang="en-US" sz="1100" dirty="0" smtClean="0">
                <a:latin typeface="+mn-ea"/>
              </a:rPr>
              <a:t>인 경우의 비율</a:t>
            </a:r>
            <a:endParaRPr lang="en-US" altLang="ko-KR" sz="1100" dirty="0" smtClean="0">
              <a:latin typeface="+mn-ea"/>
            </a:endParaRPr>
          </a:p>
          <a:p>
            <a:pPr marL="171450" lvl="4" indent="-171450"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latin typeface="+mn-ea"/>
              </a:rPr>
              <a:t>1</a:t>
            </a:r>
            <a:r>
              <a:rPr lang="ko-KR" altLang="en-US" sz="1100" dirty="0" smtClean="0">
                <a:latin typeface="+mn-ea"/>
              </a:rPr>
              <a:t>에 가까울수록 좋음</a:t>
            </a:r>
            <a:endParaRPr lang="en-US" altLang="ko-KR" sz="1100" dirty="0" smtClean="0">
              <a:latin typeface="+mn-ea"/>
            </a:endParaRPr>
          </a:p>
          <a:p>
            <a:pPr marL="171450" lvl="4" indent="-171450"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MRSA(1)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로 예측된 것 중에서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Not MRSA(0)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인데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MRSA(1)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로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잘못 예측한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샘플은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제외하고 실제로도 </a:t>
            </a:r>
            <a:r>
              <a:rPr lang="en-US" altLang="ko-KR" sz="1100" spc="-150" dirty="0" smtClean="0">
                <a:solidFill>
                  <a:schemeClr val="tx1"/>
                </a:solidFill>
                <a:latin typeface="+mn-ea"/>
              </a:rPr>
              <a:t>MRSA(1)</a:t>
            </a:r>
            <a:r>
              <a:rPr lang="ko-KR" altLang="en-US" sz="1100" spc="-150" dirty="0" smtClean="0">
                <a:solidFill>
                  <a:schemeClr val="tx1"/>
                </a:solidFill>
                <a:latin typeface="+mn-ea"/>
              </a:rPr>
              <a:t>인 샘플의 비율</a:t>
            </a:r>
            <a:endParaRPr lang="en-US" altLang="ko-KR" sz="1100" spc="-150" dirty="0" smtClean="0">
              <a:solidFill>
                <a:schemeClr val="tx1"/>
              </a:solidFill>
              <a:latin typeface="+mn-ea"/>
            </a:endParaRPr>
          </a:p>
          <a:p>
            <a:pPr marL="171450" lvl="4" indent="-171450">
              <a:buFont typeface="Wingdings" panose="05000000000000000000" pitchFamily="2" charset="2"/>
              <a:buChar char="§"/>
            </a:pP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4041681" y="2452195"/>
            <a:ext cx="1772924" cy="425938"/>
          </a:xfrm>
          <a:prstGeom prst="rect">
            <a:avLst/>
          </a:prstGeom>
          <a:solidFill>
            <a:schemeClr val="tx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Sensitivity</a:t>
            </a:r>
          </a:p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100" b="1" dirty="0" smtClean="0">
                <a:latin typeface="+mn-ea"/>
              </a:rPr>
              <a:t>민감도</a:t>
            </a:r>
            <a:r>
              <a:rPr lang="en-US" altLang="ko-KR" sz="1100" b="1" dirty="0" smtClean="0">
                <a:latin typeface="+mn-ea"/>
              </a:rPr>
              <a:t>)</a:t>
            </a:r>
            <a:endParaRPr lang="ko-KR" altLang="en-US" sz="1100" b="1" dirty="0">
              <a:solidFill>
                <a:schemeClr val="bg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직사각형 17"/>
              <p:cNvSpPr/>
              <p:nvPr/>
            </p:nvSpPr>
            <p:spPr>
              <a:xfrm>
                <a:off x="4041681" y="2885988"/>
                <a:ext cx="1772924" cy="44566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TP</m:t>
                          </m:r>
                        </m:num>
                        <m:den>
                          <m:d>
                            <m:dPr>
                              <m:ctrlPr>
                                <a:rPr lang="en-US" altLang="ko-KR" sz="11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TP</m:t>
                              </m:r>
                              <m: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FN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8" name="직사각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1681" y="2885988"/>
                <a:ext cx="1772924" cy="44566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직사각형 21"/>
          <p:cNvSpPr/>
          <p:nvPr/>
        </p:nvSpPr>
        <p:spPr>
          <a:xfrm>
            <a:off x="4041681" y="3327433"/>
            <a:ext cx="1772924" cy="19187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latin typeface="+mn-ea"/>
              </a:rPr>
              <a:t>Recall </a:t>
            </a:r>
            <a:r>
              <a:rPr lang="ko-KR" altLang="en-US" sz="1100" dirty="0" err="1" smtClean="0">
                <a:latin typeface="+mn-ea"/>
              </a:rPr>
              <a:t>재현율</a:t>
            </a:r>
            <a:r>
              <a:rPr lang="ko-KR" altLang="en-US" sz="1100" dirty="0" smtClean="0">
                <a:latin typeface="+mn-ea"/>
              </a:rPr>
              <a:t> </a:t>
            </a:r>
            <a:endParaRPr lang="en-US" altLang="ko-KR" sz="1100" dirty="0" smtClean="0"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latin typeface="+mn-ea"/>
              </a:rPr>
              <a:t>TPR</a:t>
            </a:r>
            <a:r>
              <a:rPr lang="en-US" altLang="ko-KR" sz="1100" spc="-150" dirty="0" smtClean="0">
                <a:latin typeface="+mn-ea"/>
              </a:rPr>
              <a:t>(True positive Rate)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 smtClean="0">
                <a:latin typeface="+mn-ea"/>
              </a:rPr>
              <a:t>실제로 </a:t>
            </a:r>
            <a:r>
              <a:rPr lang="en-US" altLang="ko-KR" sz="1100" dirty="0" smtClean="0">
                <a:latin typeface="+mn-ea"/>
              </a:rPr>
              <a:t>Y</a:t>
            </a:r>
            <a:r>
              <a:rPr lang="ko-KR" altLang="en-US" sz="1100" dirty="0" smtClean="0">
                <a:latin typeface="+mn-ea"/>
              </a:rPr>
              <a:t>인 것들 중 예측이 </a:t>
            </a:r>
            <a:r>
              <a:rPr lang="en-US" altLang="ko-KR" sz="1100" dirty="0" smtClean="0">
                <a:latin typeface="+mn-ea"/>
              </a:rPr>
              <a:t>Y</a:t>
            </a:r>
            <a:r>
              <a:rPr lang="ko-KR" altLang="en-US" sz="1100" dirty="0" smtClean="0">
                <a:latin typeface="+mn-ea"/>
              </a:rPr>
              <a:t>로 된 경우의 비율</a:t>
            </a:r>
            <a:endParaRPr lang="en-US" altLang="ko-KR" sz="1100" dirty="0" smtClean="0"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latin typeface="+mn-ea"/>
              </a:rPr>
              <a:t>1</a:t>
            </a:r>
            <a:r>
              <a:rPr lang="ko-KR" altLang="en-US" sz="1100" dirty="0" smtClean="0">
                <a:latin typeface="+mn-ea"/>
              </a:rPr>
              <a:t>에 가까울수록 좋음</a:t>
            </a:r>
            <a:endParaRPr lang="en-US" altLang="ko-KR" sz="1100" dirty="0" smtClean="0"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실제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MRSA(1)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인 것 중에서 </a:t>
            </a:r>
            <a:r>
              <a:rPr lang="en-US" altLang="ko-KR" sz="1100" spc="-150" dirty="0">
                <a:solidFill>
                  <a:schemeClr val="tx1"/>
                </a:solidFill>
                <a:latin typeface="+mn-ea"/>
              </a:rPr>
              <a:t>Not MRSA(0)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로 잘못 예측한 샘플은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제외하고 </a:t>
            </a:r>
            <a:r>
              <a:rPr lang="en-US" altLang="ko-KR" sz="1100" spc="-150" dirty="0" smtClean="0">
                <a:solidFill>
                  <a:schemeClr val="tx1"/>
                </a:solidFill>
                <a:latin typeface="+mn-ea"/>
              </a:rPr>
              <a:t>MRSA(1)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로 예측한 샘플의 비율</a:t>
            </a:r>
            <a:endParaRPr lang="en-US" altLang="ko-KR" sz="1100" dirty="0" smtClean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5879096" y="2452195"/>
            <a:ext cx="1772924" cy="425938"/>
          </a:xfrm>
          <a:prstGeom prst="rect">
            <a:avLst/>
          </a:prstGeom>
          <a:solidFill>
            <a:schemeClr val="tx2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Specificity</a:t>
            </a:r>
          </a:p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100" b="1" dirty="0" smtClean="0">
                <a:latin typeface="+mn-ea"/>
              </a:rPr>
              <a:t>특이도</a:t>
            </a:r>
            <a:r>
              <a:rPr lang="en-US" altLang="ko-KR" sz="1100" b="1" dirty="0" smtClean="0">
                <a:latin typeface="+mn-ea"/>
              </a:rPr>
              <a:t>)</a:t>
            </a:r>
            <a:endParaRPr lang="ko-KR" altLang="en-US" sz="1100" b="1" dirty="0">
              <a:solidFill>
                <a:schemeClr val="bg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직사각형 18"/>
              <p:cNvSpPr/>
              <p:nvPr/>
            </p:nvSpPr>
            <p:spPr>
              <a:xfrm>
                <a:off x="5879096" y="2885988"/>
                <a:ext cx="1772924" cy="44566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TN</m:t>
                          </m:r>
                        </m:num>
                        <m:den>
                          <m:d>
                            <m:dPr>
                              <m:ctrlPr>
                                <a:rPr lang="en-US" altLang="ko-KR" sz="11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TN</m:t>
                              </m:r>
                              <m: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FP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9" name="직사각형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096" y="2885988"/>
                <a:ext cx="1772924" cy="44566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/>
          <p:cNvSpPr/>
          <p:nvPr/>
        </p:nvSpPr>
        <p:spPr>
          <a:xfrm>
            <a:off x="5879096" y="3327433"/>
            <a:ext cx="1772924" cy="19187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</a:rPr>
              <a:t>N</a:t>
            </a:r>
            <a:r>
              <a:rPr lang="ko-KR" altLang="en-US" sz="1100" b="0" dirty="0" smtClean="0">
                <a:latin typeface="+mn-ea"/>
              </a:rPr>
              <a:t>으로 예측된 것 중 실제로도 </a:t>
            </a:r>
            <a:r>
              <a:rPr lang="en-US" altLang="ko-KR" sz="1100" b="0" dirty="0" smtClean="0">
                <a:latin typeface="+mn-ea"/>
              </a:rPr>
              <a:t>N</a:t>
            </a:r>
            <a:r>
              <a:rPr lang="ko-KR" altLang="en-US" sz="1100" b="0" dirty="0" smtClean="0">
                <a:latin typeface="+mn-ea"/>
              </a:rPr>
              <a:t>인 경우의 비율</a:t>
            </a:r>
            <a:endParaRPr lang="en-US" altLang="ko-KR" sz="1100" dirty="0"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Not MRSA(0)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로 예측된 것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중에서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MRSA(1)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인데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Not MRSA(0)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로 예측한 샘플은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제외하고 실제로도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Not 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MRSA(0)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인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샘플의 비율</a:t>
            </a:r>
            <a:endParaRPr lang="en-US" altLang="ko-KR" sz="1100" dirty="0" smtClean="0">
              <a:solidFill>
                <a:schemeClr val="tx1"/>
              </a:solidFill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100" b="0" dirty="0" smtClean="0"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23519" y="908735"/>
            <a:ext cx="7605845" cy="3431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b="0" dirty="0" smtClean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200" b="0" dirty="0" smtClean="0">
                <a:solidFill>
                  <a:schemeClr val="tx1"/>
                </a:solidFill>
                <a:latin typeface="+mn-ea"/>
              </a:rPr>
              <a:t>차원 행렬로 실제 데이터의 분포와 모델에 의해 판정된 데이터의 분포를 표현하고 있는 테이블</a:t>
            </a:r>
            <a:endParaRPr lang="en-US" altLang="ko-KR" sz="1200" b="0" dirty="0" smtClean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728307" y="2446541"/>
            <a:ext cx="1765304" cy="42593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Fall-Out</a:t>
            </a:r>
          </a:p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100" b="1" dirty="0" err="1" smtClean="0">
                <a:latin typeface="+mn-ea"/>
              </a:rPr>
              <a:t>위양성률</a:t>
            </a:r>
            <a:r>
              <a:rPr lang="ko-KR" altLang="en-US" sz="1100" b="1" dirty="0" smtClean="0">
                <a:latin typeface="+mn-ea"/>
              </a:rPr>
              <a:t> </a:t>
            </a:r>
            <a:r>
              <a:rPr lang="en-US" altLang="ko-KR" sz="1100" b="1" dirty="0" smtClean="0">
                <a:latin typeface="+mn-ea"/>
              </a:rPr>
              <a:t>)</a:t>
            </a:r>
            <a:endParaRPr lang="ko-KR" altLang="en-US" sz="1100" b="1" dirty="0">
              <a:solidFill>
                <a:schemeClr val="bg1"/>
              </a:solidFill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직사각형 26"/>
              <p:cNvSpPr/>
              <p:nvPr/>
            </p:nvSpPr>
            <p:spPr>
              <a:xfrm>
                <a:off x="7720687" y="2873726"/>
                <a:ext cx="1772924" cy="452948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FP</m:t>
                          </m:r>
                        </m:num>
                        <m:den>
                          <m:d>
                            <m:dPr>
                              <m:ctrlPr>
                                <a:rPr lang="en-US" altLang="ko-KR" sz="11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TN</m:t>
                              </m:r>
                              <m: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FP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27" name="직사각형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0687" y="2873726"/>
                <a:ext cx="1772924" cy="452948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직사각형 27"/>
          <p:cNvSpPr/>
          <p:nvPr/>
        </p:nvSpPr>
        <p:spPr>
          <a:xfrm>
            <a:off x="7720687" y="3327433"/>
            <a:ext cx="1772924" cy="1918789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</a:rPr>
              <a:t>FPR </a:t>
            </a:r>
            <a:br>
              <a:rPr lang="en-US" altLang="ko-KR" sz="1100" b="0" dirty="0" smtClean="0">
                <a:latin typeface="+mn-ea"/>
              </a:rPr>
            </a:br>
            <a:r>
              <a:rPr lang="en-US" altLang="ko-KR" sz="1100" b="0" dirty="0" smtClean="0">
                <a:latin typeface="+mn-ea"/>
              </a:rPr>
              <a:t>(False </a:t>
            </a:r>
            <a:r>
              <a:rPr lang="en-US" altLang="ko-KR" sz="1100" dirty="0">
                <a:latin typeface="+mn-ea"/>
              </a:rPr>
              <a:t>positive </a:t>
            </a:r>
            <a:r>
              <a:rPr lang="en-US" altLang="ko-KR" sz="1100" b="0" dirty="0" smtClean="0">
                <a:latin typeface="+mn-ea"/>
              </a:rPr>
              <a:t>Rate)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</a:rPr>
              <a:t>Y</a:t>
            </a:r>
            <a:r>
              <a:rPr lang="ko-KR" altLang="en-US" sz="1100" b="0" dirty="0" smtClean="0">
                <a:latin typeface="+mn-ea"/>
              </a:rPr>
              <a:t>가 아닌데 </a:t>
            </a:r>
            <a:r>
              <a:rPr lang="en-US" altLang="ko-KR" sz="1100" b="0" dirty="0" smtClean="0">
                <a:latin typeface="+mn-ea"/>
              </a:rPr>
              <a:t>Y</a:t>
            </a:r>
            <a:r>
              <a:rPr lang="ko-KR" altLang="en-US" sz="1100" b="0" dirty="0" smtClean="0">
                <a:latin typeface="+mn-ea"/>
              </a:rPr>
              <a:t>로 예측된 비율</a:t>
            </a:r>
            <a:endParaRPr lang="en-US" altLang="ko-KR" sz="1100" b="0" dirty="0" smtClean="0">
              <a:latin typeface="+mn-ea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b="0" dirty="0" smtClean="0">
                <a:latin typeface="+mn-ea"/>
              </a:rPr>
              <a:t>1-Specificity(</a:t>
            </a:r>
            <a:r>
              <a:rPr lang="ko-KR" altLang="en-US" sz="1100" b="0" dirty="0" smtClean="0">
                <a:latin typeface="+mn-ea"/>
              </a:rPr>
              <a:t>특이도</a:t>
            </a:r>
            <a:r>
              <a:rPr lang="en-US" altLang="ko-KR" sz="1100" b="0" dirty="0" smtClean="0">
                <a:latin typeface="+mn-ea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MRSA(1)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가 아닌데</a:t>
            </a:r>
            <a:r>
              <a:rPr lang="en-US" altLang="ko-KR" sz="1100" dirty="0" smtClean="0">
                <a:solidFill>
                  <a:schemeClr val="tx1"/>
                </a:solidFill>
                <a:latin typeface="+mn-ea"/>
              </a:rPr>
              <a:t> MRSA(1)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로 잘못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예측한 </a:t>
            </a:r>
            <a:r>
              <a:rPr lang="ko-KR" altLang="en-US" sz="1100" dirty="0" smtClean="0">
                <a:solidFill>
                  <a:schemeClr val="tx1"/>
                </a:solidFill>
                <a:latin typeface="+mn-ea"/>
              </a:rPr>
              <a:t>샘플의 비율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882944"/>
              </p:ext>
            </p:extLst>
          </p:nvPr>
        </p:nvGraphicFramePr>
        <p:xfrm>
          <a:off x="506506" y="1262164"/>
          <a:ext cx="4170212" cy="11501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553"/>
                <a:gridCol w="1042553"/>
                <a:gridCol w="1042553"/>
                <a:gridCol w="1042553"/>
              </a:tblGrid>
              <a:tr h="287528"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Predicted Class</a:t>
                      </a:r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528"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No</a:t>
                      </a:r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Yes</a:t>
                      </a:r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28752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Observed</a:t>
                      </a:r>
                      <a:r>
                        <a:rPr lang="en-US" altLang="ko-KR" sz="1200" baseline="0" dirty="0" smtClean="0"/>
                        <a:t> Class</a:t>
                      </a:r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No</a:t>
                      </a:r>
                      <a:endParaRPr lang="ko-KR" altLang="en-US" sz="1200" dirty="0" smtClean="0"/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TN</a:t>
                      </a:r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FP</a:t>
                      </a:r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528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Yes</a:t>
                      </a:r>
                      <a:endParaRPr lang="ko-KR" altLang="en-US" sz="1200" dirty="0" smtClean="0"/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FN</a:t>
                      </a:r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/>
                        <a:t>TP</a:t>
                      </a:r>
                      <a:endParaRPr lang="ko-KR" altLang="en-US" sz="1200" dirty="0"/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350476" y="5289345"/>
            <a:ext cx="2375514" cy="231536"/>
          </a:xfrm>
          <a:prstGeom prst="rect">
            <a:avLst/>
          </a:prstGeom>
          <a:solidFill>
            <a:schemeClr val="tx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F1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/>
              <p:cNvSpPr/>
              <p:nvPr/>
            </p:nvSpPr>
            <p:spPr>
              <a:xfrm>
                <a:off x="350489" y="5520881"/>
                <a:ext cx="2372935" cy="52849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altLang="ko-KR" sz="11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</m:t>
                          </m:r>
                        </m:num>
                        <m:den>
                          <m:d>
                            <m:dPr>
                              <m:ctrlPr>
                                <a:rPr lang="en-US" altLang="ko-KR" sz="11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ko-KR" sz="1100" b="0" i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Precision</m:t>
                                  </m:r>
                                </m:den>
                              </m:f>
                              <m:r>
                                <a:rPr lang="en-US" altLang="ko-KR" sz="11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sz="11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US" altLang="ko-KR" sz="1100" b="0" i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sz="11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e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sz="1100" b="0" i="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s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ko-KR" sz="1100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nsitivity</m:t>
                                  </m:r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ko-KR" altLang="en-US" sz="11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직사각형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89" y="5520881"/>
                <a:ext cx="2372935" cy="528494"/>
              </a:xfrm>
              <a:prstGeom prst="rect">
                <a:avLst/>
              </a:prstGeom>
              <a:blipFill rotWithShape="1">
                <a:blip r:embed="rId8"/>
                <a:stretch>
                  <a:fillRect b="-6897"/>
                </a:stretch>
              </a:blipFill>
              <a:ln w="3175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직사각형 29"/>
          <p:cNvSpPr/>
          <p:nvPr/>
        </p:nvSpPr>
        <p:spPr>
          <a:xfrm>
            <a:off x="350488" y="6049375"/>
            <a:ext cx="2372935" cy="35392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87313" indent="-79375">
              <a:buFont typeface="Wingdings" panose="05000000000000000000" pitchFamily="2" charset="2"/>
              <a:buChar char="§"/>
            </a:pPr>
            <a:r>
              <a:rPr lang="en-US" altLang="ko-KR" sz="1100" b="0" dirty="0" smtClean="0"/>
              <a:t> Precision</a:t>
            </a:r>
            <a:r>
              <a:rPr lang="ko-KR" altLang="en-US" sz="1100" b="0" dirty="0" smtClean="0"/>
              <a:t>과 </a:t>
            </a:r>
            <a:r>
              <a:rPr lang="en-US" altLang="ko-KR" sz="1100" b="0" dirty="0" smtClean="0"/>
              <a:t>Recall</a:t>
            </a:r>
            <a:r>
              <a:rPr lang="ko-KR" altLang="en-US" sz="1100" b="0" dirty="0" smtClean="0"/>
              <a:t>의 조화 평균</a:t>
            </a:r>
            <a:endParaRPr lang="en-US" altLang="ko-KR" sz="1100" dirty="0"/>
          </a:p>
          <a:p>
            <a:pPr marL="87313" indent="-87313">
              <a:buFont typeface="Wingdings" panose="05000000000000000000" pitchFamily="2" charset="2"/>
              <a:buChar char="§"/>
            </a:pPr>
            <a:r>
              <a:rPr lang="en-US" altLang="ko-KR" sz="1100" b="0" dirty="0" smtClean="0"/>
              <a:t> 0~1 </a:t>
            </a:r>
            <a:r>
              <a:rPr lang="ko-KR" altLang="en-US" sz="1100" b="0" dirty="0" smtClean="0"/>
              <a:t>사이의 값</a:t>
            </a:r>
            <a:endParaRPr lang="en-US" altLang="ko-KR" sz="1100" dirty="0"/>
          </a:p>
        </p:txBody>
      </p:sp>
      <p:grpSp>
        <p:nvGrpSpPr>
          <p:cNvPr id="31" name="그룹 30"/>
          <p:cNvGrpSpPr/>
          <p:nvPr/>
        </p:nvGrpSpPr>
        <p:grpSpPr>
          <a:xfrm>
            <a:off x="2725782" y="5289347"/>
            <a:ext cx="6767584" cy="1113950"/>
            <a:chOff x="2960816" y="1002899"/>
            <a:chExt cx="5795106" cy="729650"/>
          </a:xfrm>
        </p:grpSpPr>
        <p:sp>
          <p:nvSpPr>
            <p:cNvPr id="32" name="직사각형 31"/>
            <p:cNvSpPr/>
            <p:nvPr/>
          </p:nvSpPr>
          <p:spPr>
            <a:xfrm>
              <a:off x="2960816" y="1002899"/>
              <a:ext cx="5795106" cy="15166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100" b="1" dirty="0"/>
                <a:t>Precision</a:t>
              </a:r>
              <a:r>
                <a:rPr lang="ko-KR" altLang="en-US" sz="1100" b="1" dirty="0"/>
                <a:t>와 </a:t>
              </a:r>
              <a:r>
                <a:rPr lang="en-US" altLang="ko-KR" sz="1100" b="1" dirty="0"/>
                <a:t>Sensitivity</a:t>
              </a:r>
              <a:r>
                <a:rPr lang="ko-KR" altLang="en-US" sz="1100" b="1" dirty="0"/>
                <a:t>의 </a:t>
              </a:r>
              <a:r>
                <a:rPr lang="en-US" altLang="ko-KR" sz="1100" b="1" dirty="0"/>
                <a:t>Trade-off </a:t>
              </a:r>
              <a:r>
                <a:rPr lang="ko-KR" altLang="en-US" sz="1100" b="1" dirty="0"/>
                <a:t>관계를 </a:t>
              </a:r>
              <a:r>
                <a:rPr lang="ko-KR" altLang="en-US" sz="1100" b="1" dirty="0" smtClean="0"/>
                <a:t>고려한</a:t>
              </a:r>
              <a:r>
                <a:rPr lang="en-US" altLang="ko-KR" sz="1100" b="1" dirty="0"/>
                <a:t> </a:t>
              </a:r>
              <a:r>
                <a:rPr lang="ko-KR" altLang="en-US" sz="1100" b="1" dirty="0" smtClean="0"/>
                <a:t>최적의 </a:t>
              </a:r>
              <a:r>
                <a:rPr lang="ko-KR" altLang="en-US" sz="1100" b="1" dirty="0"/>
                <a:t>모델 성능 평가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2960994" y="1154558"/>
              <a:ext cx="5794928" cy="577991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174625" indent="-174625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en-US" altLang="ko-KR" sz="1100" dirty="0" smtClean="0"/>
                <a:t>Precision</a:t>
              </a:r>
              <a:r>
                <a:rPr lang="ko-KR" altLang="en-US" sz="1100" dirty="0"/>
                <a:t>과</a:t>
              </a:r>
              <a:r>
                <a:rPr lang="ko-KR" altLang="en-US" sz="1100" dirty="0" smtClean="0"/>
                <a:t> </a:t>
              </a:r>
              <a:r>
                <a:rPr lang="en-US" altLang="ko-KR" sz="1100" dirty="0" smtClean="0"/>
                <a:t>Sensitivity</a:t>
              </a:r>
              <a:r>
                <a:rPr lang="ko-KR" altLang="en-US" sz="1100" dirty="0" smtClean="0"/>
                <a:t>는 </a:t>
              </a:r>
              <a:r>
                <a:rPr lang="en-US" altLang="ko-KR" sz="1100" dirty="0" smtClean="0"/>
                <a:t>Precision</a:t>
              </a:r>
              <a:r>
                <a:rPr lang="ko-KR" altLang="en-US" sz="1100" dirty="0"/>
                <a:t>을</a:t>
              </a:r>
              <a:r>
                <a:rPr lang="ko-KR" altLang="en-US" sz="1100" dirty="0" smtClean="0"/>
                <a:t> 올리면 </a:t>
              </a:r>
              <a:r>
                <a:rPr lang="en-US" altLang="ko-KR" sz="1100" dirty="0" smtClean="0"/>
                <a:t>Sensitivity</a:t>
              </a:r>
              <a:r>
                <a:rPr lang="ko-KR" altLang="en-US" sz="1100" dirty="0"/>
                <a:t>가</a:t>
              </a:r>
              <a:r>
                <a:rPr lang="ko-KR" altLang="en-US" sz="1100" dirty="0" smtClean="0"/>
                <a:t> 줄어드는 </a:t>
              </a:r>
              <a:r>
                <a:rPr lang="en-US" altLang="ko-KR" sz="1100" dirty="0" smtClean="0"/>
                <a:t>Trade-off </a:t>
              </a:r>
              <a:r>
                <a:rPr lang="ko-KR" altLang="en-US" sz="1100" dirty="0" smtClean="0"/>
                <a:t>관계를 가짐</a:t>
              </a:r>
              <a:endParaRPr lang="en-US" altLang="ko-KR" sz="1100" dirty="0" smtClean="0"/>
            </a:p>
            <a:p>
              <a:pPr marL="174625" indent="-174625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100" dirty="0" smtClean="0"/>
                <a:t>학습모델의 </a:t>
              </a:r>
              <a:r>
                <a:rPr lang="ko-KR" altLang="en-US" sz="1100" dirty="0"/>
                <a:t>적용 상황에 따라 </a:t>
              </a:r>
              <a:r>
                <a:rPr lang="en-US" altLang="ko-KR" sz="1100" dirty="0" smtClean="0"/>
                <a:t>Precision </a:t>
              </a:r>
              <a:r>
                <a:rPr lang="ko-KR" altLang="en-US" sz="1100" dirty="0" smtClean="0"/>
                <a:t>또는 </a:t>
              </a:r>
              <a:r>
                <a:rPr lang="en-US" altLang="ko-KR" sz="1100" dirty="0" smtClean="0"/>
                <a:t>Sensitivity</a:t>
              </a:r>
              <a:r>
                <a:rPr lang="ko-KR" altLang="en-US" sz="1100" dirty="0"/>
                <a:t>가</a:t>
              </a:r>
              <a:r>
                <a:rPr lang="ko-KR" altLang="en-US" sz="1100" dirty="0" smtClean="0"/>
                <a:t> </a:t>
              </a:r>
              <a:r>
                <a:rPr lang="ko-KR" altLang="en-US" sz="1100" dirty="0"/>
                <a:t>중요할 수 있으므로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상황에 맞는 적절한 </a:t>
              </a:r>
              <a:r>
                <a:rPr lang="en-US" altLang="ko-KR" sz="1100" dirty="0" smtClean="0"/>
                <a:t>Precision</a:t>
              </a:r>
              <a:r>
                <a:rPr lang="ko-KR" altLang="en-US" sz="1100" dirty="0" smtClean="0"/>
                <a:t>와 </a:t>
              </a:r>
              <a:r>
                <a:rPr lang="en-US" altLang="ko-KR" sz="1100" dirty="0"/>
                <a:t>Sensitivity</a:t>
              </a:r>
              <a:r>
                <a:rPr lang="ko-KR" altLang="en-US" sz="1100" dirty="0" smtClean="0"/>
                <a:t> </a:t>
              </a:r>
              <a:r>
                <a:rPr lang="en-US" altLang="ko-KR" sz="1100" dirty="0" smtClean="0"/>
                <a:t>threshold</a:t>
              </a:r>
              <a:r>
                <a:rPr lang="ko-KR" altLang="en-US" sz="1100" dirty="0" smtClean="0"/>
                <a:t>를 </a:t>
              </a:r>
              <a:r>
                <a:rPr lang="ko-KR" altLang="en-US" sz="1100" dirty="0"/>
                <a:t>사용해야 </a:t>
              </a:r>
              <a:r>
                <a:rPr lang="ko-KR" altLang="en-US" sz="1100" dirty="0" smtClean="0"/>
                <a:t>함</a:t>
              </a:r>
              <a:endParaRPr lang="en-US" altLang="ko-KR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5412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  <a:ea typeface="+mn-ea"/>
              </a:rPr>
              <a:t>[</a:t>
            </a:r>
            <a:r>
              <a:rPr lang="ko-KR" altLang="en-US" dirty="0">
                <a:latin typeface="+mn-ea"/>
                <a:ea typeface="+mn-ea"/>
              </a:rPr>
              <a:t>참고</a:t>
            </a:r>
            <a:r>
              <a:rPr lang="en-US" altLang="ko-KR" dirty="0">
                <a:latin typeface="+mn-ea"/>
                <a:ea typeface="+mn-ea"/>
              </a:rPr>
              <a:t>] </a:t>
            </a:r>
            <a:r>
              <a:rPr lang="en-US" altLang="ko-KR" dirty="0">
                <a:latin typeface="+mn-ea"/>
              </a:rPr>
              <a:t>Logistic Regression Model</a:t>
            </a:r>
            <a:r>
              <a:rPr lang="ko-KR" altLang="en-US" dirty="0" smtClean="0">
                <a:latin typeface="+mn-ea"/>
                <a:ea typeface="+mn-ea"/>
              </a:rPr>
              <a:t> </a:t>
            </a:r>
            <a:r>
              <a:rPr lang="ko-KR" altLang="en-US" dirty="0">
                <a:latin typeface="+mn-ea"/>
                <a:ea typeface="+mn-ea"/>
              </a:rPr>
              <a:t>성능 지표 </a:t>
            </a:r>
            <a:r>
              <a:rPr lang="en-US" altLang="ko-KR" dirty="0" smtClean="0">
                <a:latin typeface="+mn-ea"/>
                <a:ea typeface="+mn-ea"/>
              </a:rPr>
              <a:t>(2/2)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>
                <a:solidFill>
                  <a:prstClr val="black"/>
                </a:solidFill>
              </a:rPr>
              <a:pPr/>
              <a:t>10</a:t>
            </a:fld>
            <a:endParaRPr lang="ko-KR" altLang="en-US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869787"/>
              </p:ext>
            </p:extLst>
          </p:nvPr>
        </p:nvGraphicFramePr>
        <p:xfrm>
          <a:off x="344246" y="634326"/>
          <a:ext cx="9165516" cy="56920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27354"/>
                <a:gridCol w="3720455"/>
                <a:gridCol w="4417707"/>
              </a:tblGrid>
              <a:tr h="5969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</a:rPr>
                        <a:t>ROC Curve</a:t>
                      </a:r>
                    </a:p>
                    <a:p>
                      <a:pPr algn="ctr"/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</a:rPr>
                        <a:t>(Receiver Operating Characteristic)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</a:rPr>
                        <a:t>AUC</a:t>
                      </a:r>
                      <a:r>
                        <a:rPr lang="ko-KR" altLang="en-US" sz="1400" b="1" dirty="0" smtClean="0">
                          <a:solidFill>
                            <a:schemeClr val="bg1"/>
                          </a:solidFill>
                        </a:rPr>
                        <a:t> </a:t>
                      </a:r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</a:rPr>
                        <a:t>= AUROC</a:t>
                      </a:r>
                    </a:p>
                    <a:p>
                      <a:pPr algn="ctr"/>
                      <a:r>
                        <a:rPr lang="en-US" altLang="ko-KR" sz="1400" b="1" dirty="0" smtClean="0">
                          <a:solidFill>
                            <a:schemeClr val="bg1"/>
                          </a:solidFill>
                        </a:rPr>
                        <a:t>(the Area Under a ROC Curve)</a:t>
                      </a:r>
                      <a:endParaRPr lang="ko-KR" alt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26841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/>
                        <a:t>주요 내용</a:t>
                      </a:r>
                      <a:endParaRPr lang="ko-KR" altLang="en-US" sz="14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038" indent="-173038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Sensitivity(</a:t>
                      </a:r>
                      <a:r>
                        <a:rPr lang="ko-KR" altLang="en-US" sz="1200" b="0" dirty="0" smtClean="0"/>
                        <a:t>민감도</a:t>
                      </a:r>
                      <a:r>
                        <a:rPr lang="en-US" altLang="ko-KR" sz="1200" b="0" dirty="0" smtClean="0"/>
                        <a:t>)</a:t>
                      </a:r>
                      <a:r>
                        <a:rPr lang="ko-KR" altLang="en-US" sz="1200" b="0" dirty="0" smtClean="0"/>
                        <a:t>과 </a:t>
                      </a:r>
                      <a:r>
                        <a:rPr lang="en-US" altLang="ko-KR" sz="1200" b="0" dirty="0" smtClean="0"/>
                        <a:t>Specificity(</a:t>
                      </a:r>
                      <a:r>
                        <a:rPr lang="ko-KR" altLang="en-US" sz="1200" b="0" dirty="0" smtClean="0"/>
                        <a:t>특이도</a:t>
                      </a:r>
                      <a:r>
                        <a:rPr lang="en-US" altLang="ko-KR" sz="1200" b="0" dirty="0" smtClean="0"/>
                        <a:t>)</a:t>
                      </a:r>
                      <a:r>
                        <a:rPr lang="ko-KR" altLang="en-US" sz="1200" b="0" dirty="0" smtClean="0"/>
                        <a:t>가 어떤 관계를 갖고 있는지 표현한 그래프</a:t>
                      </a:r>
                      <a:endParaRPr lang="en-US" altLang="ko-KR" sz="1200" b="0" dirty="0" smtClean="0"/>
                    </a:p>
                    <a:p>
                      <a:pPr marL="173038" indent="-173038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dirty="0" smtClean="0"/>
                        <a:t>ROC</a:t>
                      </a:r>
                      <a:r>
                        <a:rPr lang="ko-KR" altLang="en-US" sz="1200" b="0" dirty="0" smtClean="0"/>
                        <a:t>커브를 그릴 때는 </a:t>
                      </a:r>
                      <a:r>
                        <a:rPr lang="en-US" altLang="ko-KR" sz="1200" b="0" dirty="0" smtClean="0"/>
                        <a:t>Fall-Out(1-Specificity)</a:t>
                      </a:r>
                      <a:r>
                        <a:rPr lang="ko-KR" altLang="en-US" sz="1200" b="0" dirty="0" smtClean="0"/>
                        <a:t>을 </a:t>
                      </a:r>
                      <a:r>
                        <a:rPr lang="en-US" altLang="ko-KR" sz="1200" b="0" dirty="0" smtClean="0"/>
                        <a:t/>
                      </a:r>
                      <a:br>
                        <a:rPr lang="en-US" altLang="ko-KR" sz="1200" b="0" dirty="0" smtClean="0"/>
                      </a:br>
                      <a:r>
                        <a:rPr lang="en-US" altLang="ko-KR" sz="1200" b="0" dirty="0" smtClean="0"/>
                        <a:t>X</a:t>
                      </a:r>
                      <a:r>
                        <a:rPr lang="ko-KR" altLang="en-US" sz="1200" b="0" dirty="0" smtClean="0"/>
                        <a:t>축에 놓고</a:t>
                      </a:r>
                      <a:r>
                        <a:rPr lang="en-US" altLang="ko-KR" sz="1200" b="0" dirty="0" smtClean="0"/>
                        <a:t>, Y</a:t>
                      </a:r>
                      <a:r>
                        <a:rPr lang="ko-KR" altLang="en-US" sz="1200" b="0" dirty="0" smtClean="0"/>
                        <a:t>축에 </a:t>
                      </a:r>
                      <a:r>
                        <a:rPr lang="en-US" altLang="ko-KR" sz="1200" b="0" dirty="0" smtClean="0"/>
                        <a:t>Sensitivity</a:t>
                      </a:r>
                      <a:r>
                        <a:rPr lang="ko-KR" altLang="en-US" sz="1200" b="0" dirty="0" smtClean="0"/>
                        <a:t>를 놓음</a:t>
                      </a:r>
                      <a:endParaRPr lang="en-US" altLang="ko-KR" sz="1200" b="0" dirty="0" smtClean="0"/>
                    </a:p>
                    <a:p>
                      <a:pPr marL="173038" marR="0" indent="-173038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와</a:t>
                      </a:r>
                      <a:r>
                        <a:rPr lang="ko-KR" altLang="en-US" sz="1200" b="0" dirty="0" smtClean="0"/>
                        <a:t> </a:t>
                      </a:r>
                      <a:r>
                        <a:rPr lang="en-US" altLang="ko-KR" sz="1200" b="0" dirty="0" smtClean="0"/>
                        <a:t>Specificity </a:t>
                      </a:r>
                      <a:r>
                        <a:rPr lang="ko-KR" altLang="en-US" sz="1200" b="0" dirty="0" smtClean="0"/>
                        <a:t>값이 모두 </a:t>
                      </a:r>
                      <a:r>
                        <a:rPr lang="en-US" altLang="ko-KR" sz="1200" b="0" dirty="0" smtClean="0"/>
                        <a:t>1</a:t>
                      </a:r>
                      <a:r>
                        <a:rPr lang="ko-KR" altLang="en-US" sz="1200" b="0" dirty="0" smtClean="0"/>
                        <a:t>에 가까울 때 의미가 있음</a:t>
                      </a:r>
                      <a:endParaRPr lang="en-US" altLang="ko-KR" sz="1200" b="0" dirty="0" smtClean="0"/>
                    </a:p>
                    <a:p>
                      <a:pPr marL="173038" marR="0" indent="-173038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와</a:t>
                      </a:r>
                      <a:r>
                        <a:rPr lang="ko-KR" altLang="en-US" sz="1200" b="0" dirty="0" smtClean="0"/>
                        <a:t> </a:t>
                      </a:r>
                      <a:r>
                        <a:rPr lang="en-US" altLang="ko-KR" sz="1200" b="0" dirty="0" smtClean="0"/>
                        <a:t>Specificity</a:t>
                      </a:r>
                      <a:r>
                        <a:rPr lang="ko-KR" altLang="en-US" sz="1200" b="0" dirty="0" smtClean="0"/>
                        <a:t>는 반비례 관계에 있음</a:t>
                      </a:r>
                      <a:endParaRPr lang="en-US" altLang="ko-KR" sz="1200" b="0" dirty="0" smtClean="0"/>
                    </a:p>
                    <a:p>
                      <a:pPr marL="173038" indent="-173038">
                        <a:buFont typeface="Wingdings" panose="05000000000000000000" pitchFamily="2" charset="2"/>
                        <a:buChar char="§"/>
                      </a:pPr>
                      <a:endParaRPr lang="en-US" altLang="ko-KR" sz="1200" b="0" dirty="0" smtClean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80975" indent="-180975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dirty="0" smtClean="0"/>
                        <a:t>Sensitivity</a:t>
                      </a:r>
                      <a:r>
                        <a:rPr lang="ko-KR" altLang="en-US" sz="1200" b="0" dirty="0" smtClean="0"/>
                        <a:t>와 </a:t>
                      </a:r>
                      <a:r>
                        <a:rPr lang="en-US" altLang="ko-KR" sz="1200" b="0" dirty="0" smtClean="0"/>
                        <a:t>Specificity</a:t>
                      </a:r>
                      <a:r>
                        <a:rPr lang="ko-KR" altLang="en-US" sz="1200" b="0" dirty="0" smtClean="0"/>
                        <a:t>의 상관 관계를 보여줄 수 있는 성능 척도 기준</a:t>
                      </a:r>
                      <a:endParaRPr lang="en-US" altLang="ko-KR" sz="1200" b="0" dirty="0" smtClean="0"/>
                    </a:p>
                    <a:p>
                      <a:pPr marL="180975" indent="-180975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dirty="0" smtClean="0"/>
                        <a:t>ROC </a:t>
                      </a:r>
                      <a:r>
                        <a:rPr lang="ko-KR" altLang="en-US" sz="1200" b="0" dirty="0" smtClean="0"/>
                        <a:t>커브의 밑면적을 구한 값</a:t>
                      </a:r>
                      <a:endParaRPr lang="en-US" altLang="ko-KR" sz="1200" dirty="0" smtClean="0"/>
                    </a:p>
                    <a:p>
                      <a:pPr marL="180975" indent="-180975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dirty="0" smtClean="0"/>
                        <a:t>AUC</a:t>
                      </a:r>
                      <a:r>
                        <a:rPr lang="ko-KR" altLang="en-US" sz="1200" b="0" dirty="0" smtClean="0"/>
                        <a:t>의 값이 </a:t>
                      </a:r>
                      <a:r>
                        <a:rPr lang="en-US" altLang="ko-KR" sz="1200" b="0" dirty="0" smtClean="0"/>
                        <a:t>1</a:t>
                      </a:r>
                      <a:r>
                        <a:rPr lang="ko-KR" altLang="en-US" sz="1200" b="0" dirty="0" smtClean="0"/>
                        <a:t>에 가까울수록</a:t>
                      </a:r>
                      <a:r>
                        <a:rPr lang="en-US" altLang="ko-KR" sz="1200" b="0" dirty="0" smtClean="0"/>
                        <a:t>(</a:t>
                      </a:r>
                      <a:r>
                        <a:rPr lang="ko-KR" altLang="en-US" sz="1200" b="0" dirty="0" smtClean="0"/>
                        <a:t>왼쪽 위 꼭지점에 다가갈수록</a:t>
                      </a:r>
                      <a:r>
                        <a:rPr lang="en-US" altLang="ko-KR" sz="1200" b="0" dirty="0" smtClean="0"/>
                        <a:t>) </a:t>
                      </a:r>
                      <a:r>
                        <a:rPr lang="ko-KR" altLang="en-US" sz="1200" b="0" dirty="0" smtClean="0"/>
                        <a:t>성능이 좋음</a:t>
                      </a:r>
                      <a:endParaRPr lang="en-US" altLang="ko-KR" sz="1200" b="0" dirty="0" smtClean="0"/>
                    </a:p>
                    <a:p>
                      <a:pPr marL="180975" indent="-180975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dirty="0" smtClean="0"/>
                        <a:t>Fall-Out(1-Specificity)</a:t>
                      </a:r>
                      <a:r>
                        <a:rPr lang="ko-KR" altLang="en-US" sz="1200" b="0" dirty="0" smtClean="0"/>
                        <a:t>이 </a:t>
                      </a:r>
                      <a:r>
                        <a:rPr lang="en-US" altLang="ko-KR" sz="1200" b="0" dirty="0" smtClean="0"/>
                        <a:t>0</a:t>
                      </a:r>
                      <a:r>
                        <a:rPr lang="ko-KR" altLang="en-US" sz="1200" b="0" dirty="0" smtClean="0"/>
                        <a:t>일 때 </a:t>
                      </a:r>
                      <a:r>
                        <a:rPr lang="en-US" altLang="ko-KR" sz="1200" b="0" dirty="0" smtClean="0"/>
                        <a:t>Sensitivity</a:t>
                      </a:r>
                      <a:r>
                        <a:rPr lang="ko-KR" altLang="en-US" sz="1200" b="0" dirty="0" smtClean="0"/>
                        <a:t>가 </a:t>
                      </a:r>
                      <a:r>
                        <a:rPr lang="en-US" altLang="ko-KR" sz="1200" b="0" dirty="0" smtClean="0"/>
                        <a:t>1</a:t>
                      </a:r>
                      <a:r>
                        <a:rPr lang="ko-KR" altLang="en-US" sz="1200" b="0" dirty="0" smtClean="0"/>
                        <a:t>일 때 가장 </a:t>
                      </a:r>
                      <a:r>
                        <a:rPr lang="en-US" altLang="ko-KR" sz="1200" b="0" dirty="0" smtClean="0"/>
                        <a:t/>
                      </a:r>
                      <a:br>
                        <a:rPr lang="en-US" altLang="ko-KR" sz="1200" b="0" dirty="0" smtClean="0"/>
                      </a:br>
                      <a:r>
                        <a:rPr lang="ko-KR" altLang="en-US" sz="1200" b="0" dirty="0" smtClean="0"/>
                        <a:t>성능이 좋음</a:t>
                      </a:r>
                      <a:endParaRPr lang="en-US" altLang="ko-KR" sz="1200" b="0" dirty="0" smtClean="0"/>
                    </a:p>
                    <a:p>
                      <a:pPr marL="180975" indent="-180975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dirty="0" smtClean="0"/>
                        <a:t>AUC = 0.5</a:t>
                      </a:r>
                      <a:r>
                        <a:rPr lang="ko-KR" altLang="en-US" sz="1200" b="0" dirty="0" smtClean="0"/>
                        <a:t>라면</a:t>
                      </a:r>
                      <a:endParaRPr lang="en-US" altLang="ko-KR" sz="1200" b="0" dirty="0" smtClean="0"/>
                    </a:p>
                    <a:p>
                      <a:pPr marL="360363" lvl="1" indent="-180975"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b="0" dirty="0" smtClean="0"/>
                        <a:t>Specificity</a:t>
                      </a:r>
                      <a:r>
                        <a:rPr lang="ko-KR" altLang="en-US" sz="1200" b="0" dirty="0" smtClean="0"/>
                        <a:t>가 감소하는 딱 그만큼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r>
                        <a:rPr lang="ko-KR" altLang="en-US" sz="1200" b="0" dirty="0" smtClean="0"/>
                        <a:t>가 증가</a:t>
                      </a:r>
                      <a:endParaRPr lang="en-US" altLang="ko-KR" sz="1200" b="0" dirty="0" smtClean="0"/>
                    </a:p>
                    <a:p>
                      <a:pPr marL="360363" lvl="1" indent="-180975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sz="1200" b="0" dirty="0" smtClean="0"/>
                        <a:t>즉</a:t>
                      </a:r>
                      <a:r>
                        <a:rPr lang="en-US" altLang="ko-KR" sz="1200" b="0" dirty="0" smtClean="0"/>
                        <a:t>,</a:t>
                      </a:r>
                      <a:r>
                        <a:rPr lang="ko-KR" altLang="en-US" sz="1200" b="0" dirty="0" smtClean="0"/>
                        <a:t> 어떤 기준으로 잡아도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r>
                        <a:rPr lang="ko-KR" altLang="en-US" sz="1200" b="0" dirty="0" smtClean="0"/>
                        <a:t>와 </a:t>
                      </a:r>
                      <a:r>
                        <a:rPr lang="en-US" altLang="ko-KR" sz="1200" b="0" dirty="0" smtClean="0"/>
                        <a:t>Specificity</a:t>
                      </a:r>
                      <a:r>
                        <a:rPr lang="ko-KR" altLang="en-US" sz="1200" b="0" dirty="0" smtClean="0"/>
                        <a:t>를 동시에 높일 수 있는 지점이 없음</a:t>
                      </a:r>
                      <a:r>
                        <a:rPr lang="en-US" altLang="ko-KR" sz="1200" b="0" dirty="0" smtClean="0"/>
                        <a:t>(</a:t>
                      </a:r>
                      <a:r>
                        <a:rPr lang="ko-KR" altLang="en-US" sz="1200" b="0" dirty="0" smtClean="0"/>
                        <a:t>성능이 전혀 없음</a:t>
                      </a:r>
                      <a:r>
                        <a:rPr lang="en-US" altLang="ko-KR" sz="1200" b="0" dirty="0" smtClean="0"/>
                        <a:t>)</a:t>
                      </a:r>
                    </a:p>
                    <a:p>
                      <a:pPr marL="360363" lvl="1" indent="-180975"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b="0" dirty="0" smtClean="0"/>
                        <a:t>Specificity</a:t>
                      </a:r>
                      <a:r>
                        <a:rPr lang="ko-KR" altLang="en-US" sz="1200" b="0" dirty="0" smtClean="0"/>
                        <a:t>가 </a:t>
                      </a:r>
                      <a:r>
                        <a:rPr lang="en-US" altLang="ko-KR" sz="1200" b="0" dirty="0" smtClean="0"/>
                        <a:t>1</a:t>
                      </a:r>
                      <a:r>
                        <a:rPr lang="ko-KR" altLang="en-US" sz="1200" b="0" dirty="0" smtClean="0"/>
                        <a:t>일 때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r>
                        <a:rPr lang="ko-KR" altLang="en-US" sz="1200" b="0" dirty="0" smtClean="0"/>
                        <a:t>는 </a:t>
                      </a:r>
                      <a:r>
                        <a:rPr lang="en-US" altLang="ko-KR" sz="1200" b="0" dirty="0" smtClean="0"/>
                        <a:t>0, Specificity</a:t>
                      </a:r>
                      <a:r>
                        <a:rPr lang="ko-KR" altLang="en-US" sz="1200" b="0" dirty="0" smtClean="0"/>
                        <a:t>가 </a:t>
                      </a:r>
                      <a:r>
                        <a:rPr lang="en-US" altLang="ko-KR" sz="1200" b="0" dirty="0" smtClean="0"/>
                        <a:t>0</a:t>
                      </a:r>
                      <a:r>
                        <a:rPr lang="ko-KR" altLang="en-US" sz="1200" b="0" dirty="0" smtClean="0"/>
                        <a:t>일 때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r>
                        <a:rPr lang="ko-KR" altLang="en-US" sz="1200" b="0" dirty="0" smtClean="0"/>
                        <a:t>는 </a:t>
                      </a:r>
                      <a:r>
                        <a:rPr lang="en-US" altLang="ko-KR" sz="1200" b="0" dirty="0" smtClean="0"/>
                        <a:t>1</a:t>
                      </a:r>
                      <a:r>
                        <a:rPr lang="ko-KR" altLang="en-US" sz="1200" b="0" dirty="0" smtClean="0"/>
                        <a:t>이 되는 비율이 정확하게 </a:t>
                      </a:r>
                      <a:r>
                        <a:rPr lang="en-US" altLang="ko-KR" sz="1200" b="0" dirty="0" smtClean="0"/>
                        <a:t>trade off</a:t>
                      </a:r>
                      <a:r>
                        <a:rPr lang="ko-KR" altLang="en-US" sz="1200" b="0" dirty="0" smtClean="0"/>
                        <a:t>관계로</a:t>
                      </a:r>
                      <a:r>
                        <a:rPr lang="en-US" altLang="ko-KR" sz="1200" b="0" dirty="0" smtClean="0"/>
                        <a:t>, </a:t>
                      </a:r>
                      <a:r>
                        <a:rPr lang="ko-KR" altLang="en-US" sz="1200" b="0" dirty="0" smtClean="0"/>
                        <a:t>두 값의 합이 항상 </a:t>
                      </a:r>
                      <a:r>
                        <a:rPr lang="en-US" altLang="ko-KR" sz="1200" b="0" dirty="0" smtClean="0"/>
                        <a:t>1</a:t>
                      </a:r>
                      <a:endParaRPr lang="ko-KR" altLang="en-US" sz="12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715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/>
                        <a:t>범위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3038" marR="0" indent="-17303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X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축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Sensitivity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200" dirty="0" smtClean="0">
                          <a:solidFill>
                            <a:schemeClr val="tx1"/>
                          </a:solidFill>
                        </a:rPr>
                        <a:t>Y</a:t>
                      </a:r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축 </a:t>
                      </a:r>
                      <a:r>
                        <a:rPr lang="en-US" altLang="ko-KR" sz="1200" b="0" dirty="0" smtClean="0"/>
                        <a:t>Fall-Out</a:t>
                      </a:r>
                      <a:r>
                        <a:rPr lang="ko-KR" altLang="en-US" sz="1200" b="0" dirty="0" smtClean="0"/>
                        <a:t> </a:t>
                      </a:r>
                      <a:r>
                        <a:rPr lang="ko-KR" altLang="en-US" sz="1200" b="0" dirty="0" err="1" smtClean="0"/>
                        <a:t>둘다</a:t>
                      </a:r>
                      <a:r>
                        <a:rPr lang="ko-KR" altLang="en-US" sz="1200" b="0" dirty="0" smtClean="0"/>
                        <a:t> </a:t>
                      </a:r>
                      <a:r>
                        <a:rPr lang="en-US" altLang="ko-KR" sz="1200" b="0" dirty="0" smtClean="0"/>
                        <a:t>[0,1]</a:t>
                      </a:r>
                      <a:r>
                        <a:rPr lang="ko-KR" altLang="en-US" sz="1200" b="0" dirty="0" smtClean="0"/>
                        <a:t>의 범위</a:t>
                      </a:r>
                      <a:endParaRPr lang="en-US" altLang="ko-KR" sz="1200" b="0" dirty="0" smtClean="0"/>
                    </a:p>
                    <a:p>
                      <a:pPr marL="173038" marR="0" indent="-17303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dirty="0" smtClean="0"/>
                        <a:t>(0,0)</a:t>
                      </a:r>
                      <a:r>
                        <a:rPr lang="ko-KR" altLang="en-US" sz="1200" b="0" dirty="0" smtClean="0"/>
                        <a:t>에서 </a:t>
                      </a:r>
                      <a:r>
                        <a:rPr lang="en-US" altLang="ko-KR" sz="1200" b="0" dirty="0" smtClean="0"/>
                        <a:t>(1,1)</a:t>
                      </a:r>
                      <a:r>
                        <a:rPr lang="ko-KR" altLang="en-US" sz="1200" b="0" dirty="0" smtClean="0"/>
                        <a:t>을 잇는 곡선</a:t>
                      </a:r>
                      <a:endParaRPr lang="en-US" altLang="ko-KR" sz="1200" b="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dirty="0" smtClean="0"/>
                        <a:t>0.5 ~ 1</a:t>
                      </a:r>
                      <a:endParaRPr lang="ko-KR" altLang="en-US" sz="1200" dirty="0"/>
                    </a:p>
                  </a:txBody>
                  <a:tcPr anchor="ctr"/>
                </a:tc>
              </a:tr>
              <a:tr h="183943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/>
                        <a:t>그래프 </a:t>
                      </a:r>
                      <a:endParaRPr lang="en-US" altLang="ko-KR" sz="1400" b="1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/>
                        <a:t>및</a:t>
                      </a:r>
                      <a:endParaRPr lang="en-US" altLang="ko-KR" sz="1400" b="1" dirty="0" smtClean="0"/>
                    </a:p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400" b="1" dirty="0" smtClean="0"/>
                        <a:t>해석</a:t>
                      </a:r>
                      <a:endParaRPr lang="ko-KR" altLang="en-US" sz="1400" b="1" dirty="0"/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975" indent="-180975">
                        <a:lnSpc>
                          <a:spcPct val="15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1" dirty="0" smtClean="0"/>
                        <a:t>AUC </a:t>
                      </a:r>
                      <a:r>
                        <a:rPr lang="ko-KR" altLang="en-US" sz="1200" b="1" dirty="0" smtClean="0"/>
                        <a:t>점수를 해석하는 경험 법칙</a:t>
                      </a:r>
                      <a:endParaRPr lang="en-US" altLang="ko-KR" sz="1200" b="1" dirty="0" smtClean="0"/>
                    </a:p>
                    <a:p>
                      <a:pPr marL="357188" lvl="1" indent="-1714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dirty="0" smtClean="0"/>
                        <a:t>0.9 - 1.0 = </a:t>
                      </a:r>
                      <a:r>
                        <a:rPr lang="ko-KR" altLang="en-US" sz="1200" dirty="0" smtClean="0"/>
                        <a:t>탁월함 </a:t>
                      </a:r>
                      <a:r>
                        <a:rPr lang="en-US" altLang="ko-KR" sz="1200" dirty="0" smtClean="0"/>
                        <a:t>outstanding</a:t>
                      </a:r>
                    </a:p>
                    <a:p>
                      <a:pPr marL="357188" lvl="1" indent="-171450">
                        <a:lnSpc>
                          <a:spcPct val="100000"/>
                        </a:lnSpc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dirty="0" smtClean="0"/>
                        <a:t>0.8 - 0.9 = </a:t>
                      </a:r>
                      <a:r>
                        <a:rPr lang="ko-KR" altLang="en-US" sz="1200" dirty="0" smtClean="0"/>
                        <a:t>뛰어남 </a:t>
                      </a:r>
                      <a:r>
                        <a:rPr lang="en-US" altLang="ko-KR" sz="1200" dirty="0" smtClean="0"/>
                        <a:t>excellent/good</a:t>
                      </a:r>
                    </a:p>
                    <a:p>
                      <a:pPr marL="357188" lvl="1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dirty="0" smtClean="0"/>
                        <a:t>0.7 - 0.8 = </a:t>
                      </a:r>
                      <a:r>
                        <a:rPr lang="ko-KR" altLang="en-US" sz="1200" dirty="0" smtClean="0"/>
                        <a:t>괜찮음 </a:t>
                      </a:r>
                      <a:r>
                        <a:rPr lang="en-US" altLang="ko-KR" sz="1200" dirty="0" smtClean="0"/>
                        <a:t>acceptable / fair</a:t>
                      </a:r>
                    </a:p>
                    <a:p>
                      <a:pPr marL="357188" lvl="1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dirty="0" smtClean="0"/>
                        <a:t>0.6 - 0.7 = </a:t>
                      </a:r>
                      <a:r>
                        <a:rPr lang="ko-KR" altLang="en-US" sz="1200" dirty="0" smtClean="0"/>
                        <a:t>형편없음 </a:t>
                      </a:r>
                      <a:r>
                        <a:rPr lang="en-US" altLang="ko-KR" sz="1200" dirty="0" smtClean="0"/>
                        <a:t>poor</a:t>
                      </a:r>
                    </a:p>
                    <a:p>
                      <a:pPr marL="357188" lvl="1" indent="-171450">
                        <a:buFont typeface="Wingdings" panose="05000000000000000000" pitchFamily="2" charset="2"/>
                        <a:buChar char="Ø"/>
                      </a:pPr>
                      <a:r>
                        <a:rPr lang="en-US" altLang="ko-KR" sz="1200" dirty="0" smtClean="0"/>
                        <a:t>0.5 - 0.6 = </a:t>
                      </a:r>
                      <a:r>
                        <a:rPr lang="ko-KR" altLang="en-US" sz="1200" dirty="0" smtClean="0"/>
                        <a:t>가치 없음 </a:t>
                      </a:r>
                      <a:r>
                        <a:rPr lang="en-US" altLang="ko-KR" sz="1200" dirty="0" smtClean="0"/>
                        <a:t>no discrimination </a:t>
                      </a:r>
                      <a:br>
                        <a:rPr lang="en-US" altLang="ko-KR" sz="1200" dirty="0" smtClean="0"/>
                      </a:br>
                      <a:r>
                        <a:rPr lang="en-US" altLang="ko-KR" sz="1200" dirty="0" smtClean="0"/>
                        <a:t>               (</a:t>
                      </a:r>
                      <a:r>
                        <a:rPr lang="en-US" altLang="ko-KR" sz="1200" b="0" dirty="0" smtClean="0"/>
                        <a:t>0.5</a:t>
                      </a:r>
                      <a:r>
                        <a:rPr lang="ko-KR" altLang="en-US" sz="1200" b="0" dirty="0" smtClean="0"/>
                        <a:t>면 성능이 전혀 없음</a:t>
                      </a:r>
                      <a:r>
                        <a:rPr lang="en-US" altLang="ko-KR" sz="1200" b="0" dirty="0" smtClean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</a:tr>
            </a:tbl>
          </a:graphicData>
        </a:graphic>
      </p:graphicFrame>
      <p:grpSp>
        <p:nvGrpSpPr>
          <p:cNvPr id="3092" name="그룹 3091"/>
          <p:cNvGrpSpPr/>
          <p:nvPr/>
        </p:nvGrpSpPr>
        <p:grpSpPr>
          <a:xfrm>
            <a:off x="1635463" y="4500514"/>
            <a:ext cx="3323472" cy="1879140"/>
            <a:chOff x="1709894" y="4457982"/>
            <a:chExt cx="3323472" cy="1879140"/>
          </a:xfrm>
        </p:grpSpPr>
        <p:grpSp>
          <p:nvGrpSpPr>
            <p:cNvPr id="3085" name="그룹 3084"/>
            <p:cNvGrpSpPr/>
            <p:nvPr/>
          </p:nvGrpSpPr>
          <p:grpSpPr>
            <a:xfrm>
              <a:off x="2205317" y="4582763"/>
              <a:ext cx="2506531" cy="1409246"/>
              <a:chOff x="1902339" y="4582763"/>
              <a:chExt cx="2809510" cy="1333938"/>
            </a:xfrm>
          </p:grpSpPr>
          <p:sp>
            <p:nvSpPr>
              <p:cNvPr id="15" name="직사각형 14"/>
              <p:cNvSpPr/>
              <p:nvPr/>
            </p:nvSpPr>
            <p:spPr>
              <a:xfrm>
                <a:off x="1914861" y="4582763"/>
                <a:ext cx="2796988" cy="1323191"/>
              </a:xfrm>
              <a:prstGeom prst="rect">
                <a:avLst/>
              </a:prstGeom>
              <a:no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83" name="자유형 3082"/>
              <p:cNvSpPr/>
              <p:nvPr/>
            </p:nvSpPr>
            <p:spPr>
              <a:xfrm>
                <a:off x="1902339" y="4595749"/>
                <a:ext cx="2798753" cy="1299442"/>
              </a:xfrm>
              <a:custGeom>
                <a:avLst/>
                <a:gdLst>
                  <a:gd name="connsiteX0" fmla="*/ 1765 w 2798753"/>
                  <a:gd name="connsiteY0" fmla="*/ 1299442 h 1299442"/>
                  <a:gd name="connsiteX1" fmla="*/ 453586 w 2798753"/>
                  <a:gd name="connsiteY1" fmla="*/ 191404 h 1299442"/>
                  <a:gd name="connsiteX2" fmla="*/ 2798753 w 2798753"/>
                  <a:gd name="connsiteY2" fmla="*/ 8524 h 1299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98753" h="1299442">
                    <a:moveTo>
                      <a:pt x="1765" y="1299442"/>
                    </a:moveTo>
                    <a:cubicBezTo>
                      <a:pt x="-5407" y="852999"/>
                      <a:pt x="-12579" y="406557"/>
                      <a:pt x="453586" y="191404"/>
                    </a:cubicBezTo>
                    <a:cubicBezTo>
                      <a:pt x="919751" y="-23749"/>
                      <a:pt x="1859252" y="-7613"/>
                      <a:pt x="2798753" y="8524"/>
                    </a:cubicBezTo>
                  </a:path>
                </a:pathLst>
              </a:custGeom>
              <a:ln w="19050"/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7" name="자유형 3076"/>
              <p:cNvSpPr/>
              <p:nvPr/>
            </p:nvSpPr>
            <p:spPr>
              <a:xfrm>
                <a:off x="1914861" y="4582763"/>
                <a:ext cx="2796988" cy="1333938"/>
              </a:xfrm>
              <a:custGeom>
                <a:avLst/>
                <a:gdLst>
                  <a:gd name="connsiteX0" fmla="*/ 0 w 2796988"/>
                  <a:gd name="connsiteY0" fmla="*/ 1290918 h 1290918"/>
                  <a:gd name="connsiteX1" fmla="*/ 925158 w 2796988"/>
                  <a:gd name="connsiteY1" fmla="*/ 408791 h 1290918"/>
                  <a:gd name="connsiteX2" fmla="*/ 2796988 w 2796988"/>
                  <a:gd name="connsiteY2" fmla="*/ 0 h 1290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96988" h="1290918">
                    <a:moveTo>
                      <a:pt x="0" y="1290918"/>
                    </a:moveTo>
                    <a:cubicBezTo>
                      <a:pt x="229496" y="957431"/>
                      <a:pt x="458993" y="623944"/>
                      <a:pt x="925158" y="408791"/>
                    </a:cubicBezTo>
                    <a:cubicBezTo>
                      <a:pt x="1391323" y="193638"/>
                      <a:pt x="2094155" y="96819"/>
                      <a:pt x="2796988" y="0"/>
                    </a:cubicBezTo>
                  </a:path>
                </a:pathLst>
              </a:custGeom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7" name="직선 연결선 16"/>
              <p:cNvCxnSpPr/>
              <p:nvPr/>
            </p:nvCxnSpPr>
            <p:spPr>
              <a:xfrm flipV="1">
                <a:off x="1904103" y="4582763"/>
                <a:ext cx="2796988" cy="1323191"/>
              </a:xfrm>
              <a:prstGeom prst="line">
                <a:avLst/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84" name="TextBox 3083"/>
            <p:cNvSpPr txBox="1"/>
            <p:nvPr/>
          </p:nvSpPr>
          <p:spPr>
            <a:xfrm rot="10800000">
              <a:off x="1709894" y="4582762"/>
              <a:ext cx="400110" cy="1118787"/>
            </a:xfrm>
            <a:prstGeom prst="rect">
              <a:avLst/>
            </a:prstGeom>
            <a:noFill/>
          </p:spPr>
          <p:txBody>
            <a:bodyPr vert="eaVert" wrap="square" rtlCol="0" anchor="ctr">
              <a:spAutoFit/>
            </a:bodyPr>
            <a:lstStyle/>
            <a:p>
              <a:pPr algn="ctr"/>
              <a:r>
                <a:rPr lang="en-US" altLang="ko-KR" sz="1400" b="1" dirty="0" smtClean="0"/>
                <a:t>Sensitivity</a:t>
              </a:r>
              <a:endParaRPr lang="ko-KR" altLang="en-US" sz="1400" b="1" dirty="0"/>
            </a:p>
          </p:txBody>
        </p:sp>
        <p:sp>
          <p:nvSpPr>
            <p:cNvPr id="3086" name="TextBox 3085"/>
            <p:cNvSpPr txBox="1"/>
            <p:nvPr/>
          </p:nvSpPr>
          <p:spPr>
            <a:xfrm>
              <a:off x="3598945" y="4793877"/>
              <a:ext cx="4835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/>
                <a:t>0.5</a:t>
              </a:r>
              <a:endParaRPr lang="ko-KR" altLang="en-US" sz="1200" b="1" dirty="0"/>
            </a:p>
          </p:txBody>
        </p:sp>
        <p:sp>
          <p:nvSpPr>
            <p:cNvPr id="48" name="TextBox 47"/>
            <p:cNvSpPr txBox="1"/>
            <p:nvPr/>
          </p:nvSpPr>
          <p:spPr>
            <a:xfrm rot="16200000">
              <a:off x="4174400" y="5577673"/>
              <a:ext cx="400110" cy="1118787"/>
            </a:xfrm>
            <a:prstGeom prst="rect">
              <a:avLst/>
            </a:prstGeom>
            <a:noFill/>
          </p:spPr>
          <p:txBody>
            <a:bodyPr vert="eaVert" wrap="square" rtlCol="0" anchor="ctr">
              <a:spAutoFit/>
            </a:bodyPr>
            <a:lstStyle/>
            <a:p>
              <a:pPr algn="ctr"/>
              <a:r>
                <a:rPr lang="en-US" altLang="ko-KR" sz="1400" b="1" dirty="0"/>
                <a:t>Fall-Out</a:t>
              </a:r>
              <a:endParaRPr lang="ko-KR" altLang="en-US" sz="1400" b="1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917409" y="5980655"/>
              <a:ext cx="4835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/>
                <a:t>0</a:t>
              </a:r>
              <a:endParaRPr lang="ko-KR" altLang="en-US" sz="1200" b="1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702251" y="5853509"/>
              <a:ext cx="3311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1</a:t>
              </a:r>
              <a:endParaRPr lang="ko-KR" altLang="en-US" sz="1200" b="1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984821" y="4457982"/>
              <a:ext cx="3311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1</a:t>
              </a:r>
              <a:endParaRPr lang="ko-KR" altLang="en-US" sz="1200" b="1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2371037" y="4526605"/>
              <a:ext cx="4835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/>
                <a:t>0.9</a:t>
              </a:r>
              <a:endParaRPr lang="ko-KR" altLang="en-US" sz="1200" b="1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3059016" y="4655378"/>
              <a:ext cx="48351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 smtClean="0"/>
                <a:t>0.7</a:t>
              </a:r>
              <a:endParaRPr lang="ko-KR" altLang="en-US" sz="1200" b="1" dirty="0"/>
            </a:p>
          </p:txBody>
        </p:sp>
        <p:cxnSp>
          <p:nvCxnSpPr>
            <p:cNvPr id="3088" name="직선 화살표 연결선 3087"/>
            <p:cNvCxnSpPr/>
            <p:nvPr/>
          </p:nvCxnSpPr>
          <p:spPr>
            <a:xfrm flipH="1" flipV="1">
              <a:off x="2714699" y="4913567"/>
              <a:ext cx="1740346" cy="939942"/>
            </a:xfrm>
            <a:prstGeom prst="straightConnector1">
              <a:avLst/>
            </a:prstGeom>
            <a:ln w="19050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 rot="16200000">
              <a:off x="2445615" y="4714810"/>
              <a:ext cx="369332" cy="690616"/>
            </a:xfrm>
            <a:prstGeom prst="rect">
              <a:avLst/>
            </a:prstGeom>
            <a:noFill/>
            <a:ln>
              <a:noFill/>
            </a:ln>
          </p:spPr>
          <p:txBody>
            <a:bodyPr vert="eaVert" wrap="square" rtlCol="0" anchor="ctr">
              <a:spAutoFit/>
            </a:bodyPr>
            <a:lstStyle/>
            <a:p>
              <a:pPr algn="ctr"/>
              <a:r>
                <a:rPr lang="en-US" altLang="ko-KR" sz="1200" b="1" dirty="0" smtClean="0">
                  <a:solidFill>
                    <a:schemeClr val="tx2">
                      <a:lumMod val="75000"/>
                    </a:schemeClr>
                  </a:solidFill>
                </a:rPr>
                <a:t>better</a:t>
              </a:r>
              <a:endParaRPr lang="ko-KR" altLang="en-US" sz="1200" b="1" dirty="0">
                <a:solidFill>
                  <a:schemeClr val="tx2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2305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3">
            <a:extLst>
              <a:ext uri="{FF2B5EF4-FFF2-40B4-BE49-F238E27FC236}">
                <a16:creationId xmlns="" xmlns:a16="http://schemas.microsoft.com/office/drawing/2014/main" id="{3B75BF9D-D7B9-4248-9B21-EC9DE75067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4337" y="609600"/>
            <a:ext cx="9517326" cy="729295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altLang="ko-KR" sz="1400" b="0" dirty="0">
                <a:latin typeface="+mn-ea"/>
              </a:rPr>
              <a:t> </a:t>
            </a:r>
            <a:endParaRPr lang="en-US" altLang="ko-KR" sz="1400" b="0" dirty="0" smtClean="0">
              <a:latin typeface="+mn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78AA56-C863-324D-969E-96201D4B1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Ⅲ. Machine Learning </a:t>
            </a:r>
            <a:r>
              <a:rPr lang="ko-KR" altLang="en-US" dirty="0" smtClean="0"/>
              <a:t>결과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D90CF802-A03D-0248-AF04-474208C0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/>
              <a:pPr/>
              <a:t>11</a:t>
            </a:fld>
            <a:endParaRPr lang="ko-KR" altLang="en-US"/>
          </a:p>
        </p:txBody>
      </p:sp>
      <p:grpSp>
        <p:nvGrpSpPr>
          <p:cNvPr id="48" name="그룹 47"/>
          <p:cNvGrpSpPr/>
          <p:nvPr/>
        </p:nvGrpSpPr>
        <p:grpSpPr>
          <a:xfrm>
            <a:off x="313712" y="3179757"/>
            <a:ext cx="2644960" cy="410134"/>
            <a:chOff x="507623" y="2814661"/>
            <a:chExt cx="2052918" cy="467566"/>
          </a:xfrm>
        </p:grpSpPr>
        <p:sp>
          <p:nvSpPr>
            <p:cNvPr id="49" name="TextBox 48"/>
            <p:cNvSpPr txBox="1"/>
            <p:nvPr/>
          </p:nvSpPr>
          <p:spPr>
            <a:xfrm>
              <a:off x="507623" y="2814661"/>
              <a:ext cx="2052918" cy="23409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schemeClr val="bg1"/>
                  </a:solidFill>
                </a:rPr>
                <a:t>Balancing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07623" y="3048132"/>
              <a:ext cx="2052918" cy="23409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 smtClean="0"/>
                <a:t>RUS (Random Under Sampling)</a:t>
              </a:r>
            </a:p>
          </p:txBody>
        </p:sp>
      </p:grpSp>
      <p:grpSp>
        <p:nvGrpSpPr>
          <p:cNvPr id="51" name="그룹 50"/>
          <p:cNvGrpSpPr/>
          <p:nvPr/>
        </p:nvGrpSpPr>
        <p:grpSpPr>
          <a:xfrm>
            <a:off x="313704" y="3621702"/>
            <a:ext cx="2644972" cy="1305937"/>
            <a:chOff x="2700006" y="3051768"/>
            <a:chExt cx="2681373" cy="1225568"/>
          </a:xfrm>
        </p:grpSpPr>
        <p:sp>
          <p:nvSpPr>
            <p:cNvPr id="52" name="TextBox 51"/>
            <p:cNvSpPr txBox="1"/>
            <p:nvPr/>
          </p:nvSpPr>
          <p:spPr>
            <a:xfrm>
              <a:off x="2700006" y="3051768"/>
              <a:ext cx="2681369" cy="23409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b="1" dirty="0" smtClean="0">
                  <a:solidFill>
                    <a:schemeClr val="bg1"/>
                  </a:solidFill>
                </a:rPr>
                <a:t>Modeling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700009" y="3285872"/>
              <a:ext cx="718100" cy="99146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100" dirty="0" smtClean="0"/>
                <a:t>1. GBM</a:t>
              </a:r>
            </a:p>
            <a:p>
              <a:r>
                <a:rPr lang="en-US" altLang="ko-KR" sz="1100" dirty="0" smtClean="0"/>
                <a:t>2. LGB</a:t>
              </a:r>
            </a:p>
            <a:p>
              <a:r>
                <a:rPr lang="en-US" altLang="ko-KR" sz="1100" dirty="0" smtClean="0"/>
                <a:t>3. RF</a:t>
              </a:r>
            </a:p>
            <a:p>
              <a:r>
                <a:rPr lang="en-US" altLang="ko-KR" sz="1100" dirty="0" smtClean="0"/>
                <a:t>4. Logit</a:t>
              </a:r>
            </a:p>
            <a:p>
              <a:r>
                <a:rPr lang="en-US" altLang="ko-KR" sz="1100" dirty="0" smtClean="0"/>
                <a:t>5. NN</a:t>
              </a:r>
            </a:p>
            <a:p>
              <a:r>
                <a:rPr lang="en-US" altLang="ko-KR" sz="1100" dirty="0" smtClean="0"/>
                <a:t>6. Bag</a:t>
              </a:r>
              <a:endParaRPr lang="ko-KR" altLang="en-US" sz="110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395992" y="3285864"/>
              <a:ext cx="1985387" cy="99146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100" dirty="0" smtClean="0"/>
                <a:t>Gradient Boosting Model</a:t>
              </a:r>
            </a:p>
            <a:p>
              <a:r>
                <a:rPr lang="en-US" altLang="ko-KR" sz="1100" dirty="0" smtClean="0"/>
                <a:t>Light Gradient Boosting</a:t>
              </a:r>
            </a:p>
            <a:p>
              <a:r>
                <a:rPr lang="en-US" altLang="ko-KR" sz="1100" dirty="0" smtClean="0"/>
                <a:t>Random Forest</a:t>
              </a:r>
            </a:p>
            <a:p>
              <a:r>
                <a:rPr lang="en-US" altLang="ko-KR" sz="1100" dirty="0" smtClean="0"/>
                <a:t>Logistic Regression</a:t>
              </a:r>
            </a:p>
            <a:p>
              <a:r>
                <a:rPr lang="en-US" altLang="ko-KR" sz="1100" dirty="0" smtClean="0"/>
                <a:t>Neural Network</a:t>
              </a:r>
            </a:p>
            <a:p>
              <a:r>
                <a:rPr lang="en-US" altLang="ko-KR" sz="1100" dirty="0" smtClean="0"/>
                <a:t>Bagging</a:t>
              </a:r>
              <a:endParaRPr lang="ko-KR" altLang="en-US" sz="1100" dirty="0"/>
            </a:p>
          </p:txBody>
        </p:sp>
      </p:grpSp>
      <p:sp>
        <p:nvSpPr>
          <p:cNvPr id="29" name="직사각형 28"/>
          <p:cNvSpPr/>
          <p:nvPr/>
        </p:nvSpPr>
        <p:spPr>
          <a:xfrm>
            <a:off x="261730" y="3150496"/>
            <a:ext cx="9449933" cy="181198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텍스트 개체 틀 3"/>
          <p:cNvSpPr txBox="1">
            <a:spLocks/>
          </p:cNvSpPr>
          <p:nvPr/>
        </p:nvSpPr>
        <p:spPr>
          <a:xfrm>
            <a:off x="193769" y="620691"/>
            <a:ext cx="9518464" cy="72075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샘플링 방법과 모델링 방법을 조합하여 분석 후 성능을 비교하여</a:t>
            </a:r>
            <a:r>
              <a:rPr lang="en-US" altLang="ko-KR" dirty="0" smtClean="0"/>
              <a:t> </a:t>
            </a:r>
            <a:r>
              <a:rPr lang="ko-KR" altLang="en-US" dirty="0" smtClean="0"/>
              <a:t>최종모델을 선택합니다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ko-KR" altLang="en-US" dirty="0"/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753379"/>
              </p:ext>
            </p:extLst>
          </p:nvPr>
        </p:nvGraphicFramePr>
        <p:xfrm>
          <a:off x="3254398" y="3207647"/>
          <a:ext cx="2277861" cy="1713825"/>
        </p:xfrm>
        <a:graphic>
          <a:graphicData uri="http://schemas.openxmlformats.org/drawingml/2006/table">
            <a:tbl>
              <a:tblPr/>
              <a:tblGrid>
                <a:gridCol w="398002"/>
                <a:gridCol w="457200"/>
                <a:gridCol w="368827"/>
                <a:gridCol w="276097"/>
                <a:gridCol w="349723"/>
                <a:gridCol w="428012"/>
              </a:tblGrid>
              <a:tr h="191034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MRSA /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k-fold =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6587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accuracy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recall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f1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logloss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Loading</a:t>
                      </a:r>
                    </a:p>
                    <a:p>
                      <a:pPr algn="ctr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time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Logit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0.61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0.59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0.047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Gbm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0.62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0.44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0.58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0.137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Lgb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0.73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0.65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0.57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0.281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0.71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0.65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0.72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0.82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Bag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0.67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0.59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21.895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RF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0.67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0.58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6.153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073581"/>
              </p:ext>
            </p:extLst>
          </p:nvPr>
        </p:nvGraphicFramePr>
        <p:xfrm>
          <a:off x="5613661" y="3207640"/>
          <a:ext cx="2384878" cy="1713823"/>
        </p:xfrm>
        <a:graphic>
          <a:graphicData uri="http://schemas.openxmlformats.org/drawingml/2006/table">
            <a:tbl>
              <a:tblPr/>
              <a:tblGrid>
                <a:gridCol w="327734"/>
                <a:gridCol w="480641"/>
                <a:gridCol w="403739"/>
                <a:gridCol w="392023"/>
                <a:gridCol w="401035"/>
                <a:gridCol w="379706"/>
              </a:tblGrid>
              <a:tr h="191034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VRE /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k-fold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=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76585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accuracy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recall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f1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logloss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loading</a:t>
                      </a:r>
                      <a:b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time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Logit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0.65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0.56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0.047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Gbm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0.64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0.55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0.109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Lgb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0.68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0.29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0.56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0.275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0.76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0.61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0.27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0.73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0.786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Bag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0.72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0.69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0.27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0.56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16.923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10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RF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0.71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0.68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0.26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0.56</a:t>
                      </a: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4.922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925" marR="2925" marT="36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0" name="직사각형 39"/>
          <p:cNvSpPr/>
          <p:nvPr/>
        </p:nvSpPr>
        <p:spPr>
          <a:xfrm>
            <a:off x="8046164" y="3464387"/>
            <a:ext cx="1596328" cy="93871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marL="85725" indent="-85725">
              <a:buFont typeface="Wingdings" panose="05000000000000000000" pitchFamily="2" charset="2"/>
              <a:buChar char="§"/>
            </a:pPr>
            <a:r>
              <a:rPr lang="en-US" altLang="ko-KR" sz="1100" dirty="0"/>
              <a:t>Balancing : RUS</a:t>
            </a:r>
          </a:p>
          <a:p>
            <a:pPr marL="85725" indent="-85725">
              <a:buFont typeface="Wingdings" panose="05000000000000000000" pitchFamily="2" charset="2"/>
              <a:buChar char="§"/>
            </a:pPr>
            <a:endParaRPr lang="en-US" altLang="ko-KR" sz="1100" dirty="0"/>
          </a:p>
          <a:p>
            <a:pPr marL="85725" indent="-85725">
              <a:buFont typeface="Wingdings" panose="05000000000000000000" pitchFamily="2" charset="2"/>
              <a:buChar char="§"/>
            </a:pPr>
            <a:r>
              <a:rPr lang="en-US" altLang="ko-KR" sz="1100" dirty="0"/>
              <a:t>Modeling</a:t>
            </a:r>
          </a:p>
          <a:p>
            <a:r>
              <a:rPr lang="en-US" altLang="ko-KR" sz="1100" dirty="0"/>
              <a:t>  : GBM, LGB, RF, LOGIT, NN, BAGGING</a:t>
            </a:r>
          </a:p>
        </p:txBody>
      </p:sp>
      <p:grpSp>
        <p:nvGrpSpPr>
          <p:cNvPr id="41" name="그룹 40"/>
          <p:cNvGrpSpPr/>
          <p:nvPr/>
        </p:nvGrpSpPr>
        <p:grpSpPr>
          <a:xfrm>
            <a:off x="313704" y="5825457"/>
            <a:ext cx="2644972" cy="511723"/>
            <a:chOff x="546847" y="2837205"/>
            <a:chExt cx="2052918" cy="525880"/>
          </a:xfrm>
        </p:grpSpPr>
        <p:sp>
          <p:nvSpPr>
            <p:cNvPr id="42" name="TextBox 41"/>
            <p:cNvSpPr txBox="1"/>
            <p:nvPr/>
          </p:nvSpPr>
          <p:spPr>
            <a:xfrm>
              <a:off x="546847" y="2837205"/>
              <a:ext cx="2052918" cy="268848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b="1" dirty="0" smtClean="0">
                  <a:solidFill>
                    <a:schemeClr val="bg1"/>
                  </a:solidFill>
                </a:rPr>
                <a:t>Modeling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6847" y="3094237"/>
              <a:ext cx="2052918" cy="26884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 smtClean="0"/>
                <a:t>LGB</a:t>
              </a:r>
            </a:p>
          </p:txBody>
        </p:sp>
      </p:grpSp>
      <p:grpSp>
        <p:nvGrpSpPr>
          <p:cNvPr id="44" name="그룹 43"/>
          <p:cNvGrpSpPr/>
          <p:nvPr/>
        </p:nvGrpSpPr>
        <p:grpSpPr>
          <a:xfrm>
            <a:off x="313704" y="5307172"/>
            <a:ext cx="2644967" cy="498346"/>
            <a:chOff x="546847" y="2800581"/>
            <a:chExt cx="2052918" cy="542797"/>
          </a:xfrm>
        </p:grpSpPr>
        <p:sp>
          <p:nvSpPr>
            <p:cNvPr id="45" name="TextBox 44"/>
            <p:cNvSpPr txBox="1"/>
            <p:nvPr/>
          </p:nvSpPr>
          <p:spPr>
            <a:xfrm>
              <a:off x="546847" y="2800581"/>
              <a:ext cx="2052918" cy="28494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b="1" dirty="0" smtClean="0">
                  <a:solidFill>
                    <a:schemeClr val="bg1"/>
                  </a:solidFill>
                </a:rPr>
                <a:t>Balancing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546847" y="3058433"/>
              <a:ext cx="2052918" cy="28494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dirty="0" smtClean="0"/>
                <a:t>RUS </a:t>
              </a:r>
              <a:r>
                <a:rPr lang="en-US" altLang="ko-KR" sz="1100" dirty="0"/>
                <a:t>(Random Under Sampling</a:t>
              </a:r>
              <a:r>
                <a:rPr lang="en-US" altLang="ko-KR" sz="1100" dirty="0" smtClean="0"/>
                <a:t>)</a:t>
              </a:r>
              <a:endParaRPr lang="en-US" altLang="ko-KR" sz="1100" dirty="0"/>
            </a:p>
          </p:txBody>
        </p:sp>
      </p:grpSp>
      <p:sp>
        <p:nvSpPr>
          <p:cNvPr id="62" name="직사각형 61"/>
          <p:cNvSpPr/>
          <p:nvPr/>
        </p:nvSpPr>
        <p:spPr>
          <a:xfrm>
            <a:off x="261729" y="5268711"/>
            <a:ext cx="9450503" cy="110848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이등변 삼각형 62"/>
          <p:cNvSpPr/>
          <p:nvPr/>
        </p:nvSpPr>
        <p:spPr>
          <a:xfrm rot="5400000">
            <a:off x="2542195" y="5765050"/>
            <a:ext cx="1079159" cy="16268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3926381"/>
              </p:ext>
            </p:extLst>
          </p:nvPr>
        </p:nvGraphicFramePr>
        <p:xfrm>
          <a:off x="3254397" y="5317882"/>
          <a:ext cx="4744140" cy="1015770"/>
        </p:xfrm>
        <a:graphic>
          <a:graphicData uri="http://schemas.openxmlformats.org/drawingml/2006/table">
            <a:tbl>
              <a:tblPr/>
              <a:tblGrid>
                <a:gridCol w="738281"/>
                <a:gridCol w="738281"/>
                <a:gridCol w="738281"/>
                <a:gridCol w="738281"/>
                <a:gridCol w="738281"/>
                <a:gridCol w="1052735"/>
              </a:tblGrid>
              <a:tr h="145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model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accuracy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recall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f1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logloss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loading_time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Logit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0.76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0.63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0.45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0.57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0.062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Gbm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0.73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0.67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0.44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0.56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0.159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Lgb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0.73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0.69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0.44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0.55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0.28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145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Nn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0.71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0.68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0.43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0.62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0.58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Bag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0.71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0.43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0.57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21.723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1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RF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0.72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0.7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0.44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0.56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3.135</a:t>
                      </a:r>
                    </a:p>
                  </a:txBody>
                  <a:tcPr marL="3928" marR="3928" marT="39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76" name="그룹 75"/>
          <p:cNvGrpSpPr/>
          <p:nvPr/>
        </p:nvGrpSpPr>
        <p:grpSpPr>
          <a:xfrm>
            <a:off x="327319" y="1159332"/>
            <a:ext cx="2631355" cy="594178"/>
            <a:chOff x="564706" y="3083933"/>
            <a:chExt cx="2042143" cy="612673"/>
          </a:xfrm>
        </p:grpSpPr>
        <p:sp>
          <p:nvSpPr>
            <p:cNvPr id="77" name="TextBox 76"/>
            <p:cNvSpPr txBox="1"/>
            <p:nvPr/>
          </p:nvSpPr>
          <p:spPr>
            <a:xfrm>
              <a:off x="564708" y="3083933"/>
              <a:ext cx="2042141" cy="23409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b="1" dirty="0" smtClean="0">
                  <a:solidFill>
                    <a:schemeClr val="bg1"/>
                  </a:solidFill>
                </a:rPr>
                <a:t>Balancing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64706" y="3311038"/>
              <a:ext cx="2042142" cy="38556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100" dirty="0" smtClean="0"/>
                <a:t>1. RUS (Random Under Sampling)</a:t>
              </a:r>
            </a:p>
            <a:p>
              <a:r>
                <a:rPr lang="en-US" altLang="ko-KR" sz="1100" dirty="0" smtClean="0"/>
                <a:t>2. ROS (Random Over Sampling)</a:t>
              </a:r>
              <a:endParaRPr lang="ko-KR" altLang="en-US" sz="1100" dirty="0"/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23439" y="1791611"/>
            <a:ext cx="2635234" cy="1277188"/>
            <a:chOff x="2761050" y="2780068"/>
            <a:chExt cx="2657559" cy="1224333"/>
          </a:xfrm>
        </p:grpSpPr>
        <p:sp>
          <p:nvSpPr>
            <p:cNvPr id="80" name="TextBox 79"/>
            <p:cNvSpPr txBox="1"/>
            <p:nvPr/>
          </p:nvSpPr>
          <p:spPr>
            <a:xfrm>
              <a:off x="2761050" y="2780068"/>
              <a:ext cx="2657558" cy="234095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100" b="1" dirty="0" smtClean="0">
                  <a:solidFill>
                    <a:schemeClr val="bg1"/>
                  </a:solidFill>
                </a:rPr>
                <a:t>Modeling</a:t>
              </a:r>
              <a:endParaRPr lang="ko-KR" altLang="en-US" sz="1100" b="1" dirty="0">
                <a:solidFill>
                  <a:schemeClr val="bg1"/>
                </a:solidFill>
              </a:endParaRP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761051" y="3012938"/>
              <a:ext cx="718100" cy="9914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100" dirty="0" smtClean="0"/>
                <a:t>1. GBM</a:t>
              </a:r>
            </a:p>
            <a:p>
              <a:r>
                <a:rPr lang="en-US" altLang="ko-KR" sz="1100" dirty="0" smtClean="0"/>
                <a:t>2. LGB</a:t>
              </a:r>
            </a:p>
            <a:p>
              <a:r>
                <a:rPr lang="en-US" altLang="ko-KR" sz="1100" dirty="0" smtClean="0"/>
                <a:t>3. RF</a:t>
              </a:r>
            </a:p>
            <a:p>
              <a:r>
                <a:rPr lang="en-US" altLang="ko-KR" sz="1100" dirty="0" smtClean="0"/>
                <a:t>4. Logit</a:t>
              </a:r>
            </a:p>
            <a:p>
              <a:r>
                <a:rPr lang="en-US" altLang="ko-KR" sz="1100" dirty="0" smtClean="0"/>
                <a:t>5. NN</a:t>
              </a:r>
            </a:p>
            <a:p>
              <a:r>
                <a:rPr lang="en-US" altLang="ko-KR" sz="1100" dirty="0" smtClean="0"/>
                <a:t>6. Bag</a:t>
              </a:r>
              <a:endParaRPr lang="ko-KR" altLang="en-US" sz="1100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457035" y="3012938"/>
              <a:ext cx="1961574" cy="9914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wrap="square" rtlCol="0" anchor="ctr">
              <a:spAutoFit/>
            </a:bodyPr>
            <a:lstStyle/>
            <a:p>
              <a:r>
                <a:rPr lang="en-US" altLang="ko-KR" sz="1100" dirty="0" smtClean="0"/>
                <a:t>Gradient Boosting Model</a:t>
              </a:r>
            </a:p>
            <a:p>
              <a:r>
                <a:rPr lang="en-US" altLang="ko-KR" sz="1100" dirty="0" smtClean="0"/>
                <a:t>Light Gradient Boosting</a:t>
              </a:r>
            </a:p>
            <a:p>
              <a:r>
                <a:rPr lang="en-US" altLang="ko-KR" sz="1100" dirty="0" smtClean="0"/>
                <a:t>Random Forest</a:t>
              </a:r>
            </a:p>
            <a:p>
              <a:r>
                <a:rPr lang="en-US" altLang="ko-KR" sz="1100" dirty="0" smtClean="0"/>
                <a:t>Logistic Regression</a:t>
              </a:r>
            </a:p>
            <a:p>
              <a:r>
                <a:rPr lang="en-US" altLang="ko-KR" sz="1100" dirty="0" smtClean="0"/>
                <a:t>Neural Network</a:t>
              </a:r>
            </a:p>
            <a:p>
              <a:r>
                <a:rPr lang="en-US" altLang="ko-KR" sz="1100" dirty="0" smtClean="0"/>
                <a:t>Bagging</a:t>
              </a:r>
              <a:endParaRPr lang="ko-KR" altLang="en-US" sz="1100" dirty="0"/>
            </a:p>
          </p:txBody>
        </p:sp>
      </p:grpSp>
      <p:sp>
        <p:nvSpPr>
          <p:cNvPr id="83" name="이등변 삼각형 82"/>
          <p:cNvSpPr/>
          <p:nvPr/>
        </p:nvSpPr>
        <p:spPr>
          <a:xfrm rot="5400000">
            <a:off x="2168440" y="2077063"/>
            <a:ext cx="1825228" cy="164121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4" name="표 8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748467"/>
              </p:ext>
            </p:extLst>
          </p:nvPr>
        </p:nvGraphicFramePr>
        <p:xfrm>
          <a:off x="3261775" y="1159328"/>
          <a:ext cx="2275686" cy="1899940"/>
        </p:xfrm>
        <a:graphic>
          <a:graphicData uri="http://schemas.openxmlformats.org/drawingml/2006/table">
            <a:tbl>
              <a:tblPr/>
              <a:tblGrid>
                <a:gridCol w="490105"/>
                <a:gridCol w="499683"/>
                <a:gridCol w="375624"/>
                <a:gridCol w="371136"/>
                <a:gridCol w="539138"/>
              </a:tblGrid>
              <a:tr h="135710">
                <a:tc gridSpan="5">
                  <a:txBody>
                    <a:bodyPr/>
                    <a:lstStyle/>
                    <a:p>
                      <a:pPr algn="ctr" fontAlgn="t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MRSA /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k-fold = 5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accuracy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recall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f1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Log - loss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logit_RUS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0.74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0.61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0.59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logit_ROS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0.58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gbm_RUS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0.62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0.44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0.58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gbm_ROS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0.61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0.57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lgb_RUS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0.73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0.65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0.43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0.57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lgb_ROS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0.59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0.44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0.53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nn_RUS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0.71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0.65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0.72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nn_ROS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0.42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0.37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0.62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bag_RUS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0.67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0.59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bag_ROS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0.82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0.31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0.35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0.46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rf_RUS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0.67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0.41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0.58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10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rf_ROS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0.82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0.31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0.35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0.42</a:t>
                      </a:r>
                    </a:p>
                  </a:txBody>
                  <a:tcPr marL="1801" marR="1801" marT="2216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5" name="표 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664897"/>
              </p:ext>
            </p:extLst>
          </p:nvPr>
        </p:nvGraphicFramePr>
        <p:xfrm>
          <a:off x="5613661" y="1159299"/>
          <a:ext cx="2384878" cy="1900570"/>
        </p:xfrm>
        <a:graphic>
          <a:graphicData uri="http://schemas.openxmlformats.org/drawingml/2006/table">
            <a:tbl>
              <a:tblPr/>
              <a:tblGrid>
                <a:gridCol w="493835"/>
                <a:gridCol w="467412"/>
                <a:gridCol w="469680"/>
                <a:gridCol w="392532"/>
                <a:gridCol w="561419"/>
              </a:tblGrid>
              <a:tr h="135755">
                <a:tc gridSpan="5"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VRE / k-fold = 5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accuracy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recall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f1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1" hangingPunct="1"/>
                      <a:r>
                        <a:rPr 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Log - loss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logit_RUS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0.77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0.65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0.56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logit_ROS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0.64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0.56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gbm_RUS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0.78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0.64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0.55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gbm_ROS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0.61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0.31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0.53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lgb_RUS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0.75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0.68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0.29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0.56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lgb_ROS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0.82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0.56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0.32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0.46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nn_RUS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0.76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0.61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0.27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0.73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nn_ROS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0.87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0.23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0.21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0.57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bag_RUS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0.72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0.69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0.27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0.56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bag_ROS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0.15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0.19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0.32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rf_RUS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0.71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0.68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0.26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0.56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3575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800" b="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rf_ROS</a:t>
                      </a:r>
                      <a:endParaRPr lang="en-US" sz="800" b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0.91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0.14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0.19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altLang="ko-KR" sz="800" b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0.28</a:t>
                      </a:r>
                    </a:p>
                  </a:txBody>
                  <a:tcPr marL="5049" marR="5049" marT="4143" marB="4143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6" name="직사각형 85"/>
          <p:cNvSpPr/>
          <p:nvPr/>
        </p:nvSpPr>
        <p:spPr>
          <a:xfrm>
            <a:off x="8046163" y="1421729"/>
            <a:ext cx="1596331" cy="110799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pPr marL="85725" indent="-85725">
              <a:buFont typeface="Wingdings" panose="05000000000000000000" pitchFamily="2" charset="2"/>
              <a:buChar char="§"/>
            </a:pPr>
            <a:r>
              <a:rPr lang="en-US" altLang="ko-KR" sz="1100" dirty="0"/>
              <a:t> Balancing </a:t>
            </a:r>
            <a:br>
              <a:rPr lang="en-US" altLang="ko-KR" sz="1100" dirty="0"/>
            </a:br>
            <a:r>
              <a:rPr lang="en-US" altLang="ko-KR" sz="1100" dirty="0"/>
              <a:t>: ROS, </a:t>
            </a:r>
            <a:r>
              <a:rPr lang="en-US" altLang="ko-KR" sz="1100" dirty="0" smtClean="0"/>
              <a:t>RUS</a:t>
            </a:r>
          </a:p>
          <a:p>
            <a:pPr marL="85725" indent="-85725">
              <a:buFont typeface="Wingdings" panose="05000000000000000000" pitchFamily="2" charset="2"/>
              <a:buChar char="§"/>
            </a:pPr>
            <a:endParaRPr lang="en-US" altLang="ko-KR" sz="1100" dirty="0"/>
          </a:p>
          <a:p>
            <a:pPr marL="85725" indent="-85725">
              <a:buFont typeface="Wingdings" panose="05000000000000000000" pitchFamily="2" charset="2"/>
              <a:buChar char="§"/>
            </a:pPr>
            <a:r>
              <a:rPr lang="en-US" altLang="ko-KR" sz="1100" dirty="0" smtClean="0"/>
              <a:t> Modeling</a:t>
            </a:r>
            <a:endParaRPr lang="en-US" altLang="ko-KR" sz="1100" dirty="0"/>
          </a:p>
          <a:p>
            <a:r>
              <a:rPr lang="en-US" altLang="ko-KR" sz="1100" dirty="0" smtClean="0"/>
              <a:t>  : </a:t>
            </a:r>
            <a:r>
              <a:rPr lang="en-US" altLang="ko-KR" sz="1100" dirty="0"/>
              <a:t>GBM, LGB, RF, </a:t>
            </a:r>
            <a:r>
              <a:rPr lang="en-US" altLang="ko-KR" sz="1100" dirty="0" smtClean="0"/>
              <a:t>LOGIT</a:t>
            </a:r>
            <a:r>
              <a:rPr lang="en-US" altLang="ko-KR" sz="1100" dirty="0"/>
              <a:t>, </a:t>
            </a:r>
            <a:r>
              <a:rPr lang="en-US" altLang="ko-KR" sz="1100" dirty="0" smtClean="0"/>
              <a:t>NN</a:t>
            </a:r>
            <a:r>
              <a:rPr lang="en-US" altLang="ko-KR" sz="1100" dirty="0"/>
              <a:t>, BAGGING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261729" y="1082834"/>
            <a:ext cx="9450503" cy="202049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이등변 삼각형 88"/>
          <p:cNvSpPr/>
          <p:nvPr/>
        </p:nvSpPr>
        <p:spPr>
          <a:xfrm rot="5400000">
            <a:off x="2231970" y="3990327"/>
            <a:ext cx="1698168" cy="164121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046161" y="2628381"/>
            <a:ext cx="1596331" cy="43088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12</a:t>
            </a:r>
            <a:r>
              <a:rPr lang="ko-KR" altLang="en-US" sz="1100" dirty="0" smtClean="0">
                <a:latin typeface="+mn-ea"/>
              </a:rPr>
              <a:t>개 모델링 진행결과 → </a:t>
            </a:r>
            <a:r>
              <a:rPr lang="en-US" altLang="ko-KR" sz="1100" dirty="0" smtClean="0">
                <a:latin typeface="+mn-ea"/>
              </a:rPr>
              <a:t>2</a:t>
            </a:r>
            <a:r>
              <a:rPr lang="ko-KR" altLang="en-US" sz="1100" dirty="0" smtClean="0">
                <a:latin typeface="+mn-ea"/>
              </a:rPr>
              <a:t>차 모델링 제시 </a:t>
            </a:r>
            <a:endParaRPr lang="en-US" altLang="ko-KR" sz="1100" dirty="0">
              <a:latin typeface="+mn-ea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8046160" y="1158962"/>
            <a:ext cx="1596331" cy="2616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1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</a:rPr>
              <a:t>차</a:t>
            </a: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8046163" y="3200895"/>
            <a:ext cx="1596331" cy="2616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  <a:latin typeface="+mn-ea"/>
              </a:rPr>
              <a:t>2</a:t>
            </a:r>
            <a:r>
              <a:rPr lang="ko-KR" altLang="en-US" sz="1100" b="1" dirty="0" smtClean="0">
                <a:solidFill>
                  <a:schemeClr val="bg1"/>
                </a:solidFill>
                <a:latin typeface="+mn-ea"/>
              </a:rPr>
              <a:t>차</a:t>
            </a: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8046164" y="4471526"/>
            <a:ext cx="1596331" cy="43088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 smtClean="0">
                <a:latin typeface="+mn-ea"/>
              </a:rPr>
              <a:t>6</a:t>
            </a:r>
            <a:r>
              <a:rPr lang="ko-KR" altLang="en-US" sz="1100" dirty="0" smtClean="0">
                <a:latin typeface="+mn-ea"/>
              </a:rPr>
              <a:t>개 모델링 진행결과 → 최종 모델링 제시 </a:t>
            </a:r>
            <a:endParaRPr lang="en-US" altLang="ko-KR" sz="1100" dirty="0">
              <a:latin typeface="+mn-ea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8046165" y="5576016"/>
            <a:ext cx="1596328" cy="2616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 anchor="ctr">
            <a:spAutoFit/>
          </a:bodyPr>
          <a:lstStyle/>
          <a:p>
            <a:r>
              <a:rPr lang="en-US" altLang="ko-KR" sz="1100" dirty="0" smtClean="0"/>
              <a:t>RUS * LGB </a:t>
            </a:r>
            <a:r>
              <a:rPr lang="ko-KR" altLang="en-US" sz="1100" dirty="0" smtClean="0"/>
              <a:t>모델 선택</a:t>
            </a:r>
            <a:endParaRPr lang="en-US" altLang="ko-KR" sz="1100" dirty="0"/>
          </a:p>
        </p:txBody>
      </p:sp>
      <p:sp>
        <p:nvSpPr>
          <p:cNvPr id="94" name="직사각형 93"/>
          <p:cNvSpPr/>
          <p:nvPr/>
        </p:nvSpPr>
        <p:spPr>
          <a:xfrm>
            <a:off x="8046164" y="5316879"/>
            <a:ext cx="1596331" cy="26161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lang="ko-KR" altLang="en-US" sz="1100" b="1" dirty="0" smtClean="0">
                <a:solidFill>
                  <a:schemeClr val="bg1"/>
                </a:solidFill>
                <a:latin typeface="+mn-ea"/>
              </a:rPr>
              <a:t>최종</a:t>
            </a:r>
            <a:endParaRPr lang="en-US" altLang="ko-KR" sz="1100" b="1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8046165" y="5893240"/>
            <a:ext cx="1596331" cy="430887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 err="1" smtClean="0">
                <a:latin typeface="+mn-ea"/>
              </a:rPr>
              <a:t>Acc</a:t>
            </a:r>
            <a:r>
              <a:rPr lang="en-US" altLang="ko-KR" sz="1100" dirty="0" smtClean="0">
                <a:latin typeface="+mn-ea"/>
              </a:rPr>
              <a:t>, Recall, </a:t>
            </a:r>
            <a:br>
              <a:rPr lang="en-US" altLang="ko-KR" sz="1100" dirty="0" smtClean="0">
                <a:latin typeface="+mn-ea"/>
              </a:rPr>
            </a:br>
            <a:r>
              <a:rPr lang="en-US" altLang="ko-KR" sz="1100" dirty="0" smtClean="0">
                <a:latin typeface="+mn-ea"/>
              </a:rPr>
              <a:t>F1 Score</a:t>
            </a:r>
            <a:r>
              <a:rPr lang="ko-KR" altLang="en-US" sz="1100" dirty="0" smtClean="0">
                <a:latin typeface="+mn-ea"/>
              </a:rPr>
              <a:t>등 고려</a:t>
            </a:r>
            <a:endParaRPr lang="en-US" altLang="ko-KR" sz="11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261729" y="4990562"/>
            <a:ext cx="9450504" cy="246221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000" b="1" dirty="0" smtClean="0">
                <a:latin typeface="+mn-ea"/>
              </a:rPr>
              <a:t>질환</a:t>
            </a:r>
            <a:r>
              <a:rPr lang="en-US" altLang="ko-KR" sz="1000" b="1" dirty="0" smtClean="0">
                <a:latin typeface="+mn-ea"/>
              </a:rPr>
              <a:t>(DIAG)</a:t>
            </a:r>
            <a:r>
              <a:rPr lang="ko-KR" altLang="en-US" sz="1000" b="1" dirty="0" smtClean="0">
                <a:latin typeface="+mn-ea"/>
              </a:rPr>
              <a:t>항목 카테고리 중 하위 질환 값이 </a:t>
            </a:r>
            <a:r>
              <a:rPr lang="en-US" altLang="ko-KR" sz="1000" b="1" dirty="0" smtClean="0">
                <a:latin typeface="+mn-ea"/>
              </a:rPr>
              <a:t>at least ‘Y’ </a:t>
            </a:r>
            <a:r>
              <a:rPr lang="ko-KR" altLang="en-US" sz="1000" b="1" dirty="0" smtClean="0">
                <a:latin typeface="+mn-ea"/>
              </a:rPr>
              <a:t>인 경우</a:t>
            </a:r>
            <a:r>
              <a:rPr lang="en-US" altLang="ko-KR" sz="1000" b="1" dirty="0" smtClean="0">
                <a:latin typeface="+mn-ea"/>
              </a:rPr>
              <a:t>, </a:t>
            </a:r>
            <a:r>
              <a:rPr lang="ko-KR" altLang="en-US" sz="1000" b="1" dirty="0" smtClean="0">
                <a:latin typeface="+mn-ea"/>
              </a:rPr>
              <a:t>대표 질환 항목 값 </a:t>
            </a:r>
            <a:r>
              <a:rPr lang="en-US" altLang="ko-KR" sz="1000" b="1" dirty="0" smtClean="0">
                <a:latin typeface="+mn-ea"/>
              </a:rPr>
              <a:t>‘Y’</a:t>
            </a:r>
            <a:r>
              <a:rPr lang="ko-KR" altLang="en-US" sz="1000" b="1" dirty="0" smtClean="0">
                <a:latin typeface="+mn-ea"/>
              </a:rPr>
              <a:t>로 변경 → </a:t>
            </a:r>
            <a:r>
              <a:rPr lang="en-US" altLang="ko-KR" sz="1000" b="1" dirty="0" smtClean="0">
                <a:latin typeface="+mn-ea"/>
              </a:rPr>
              <a:t>Data Set</a:t>
            </a:r>
            <a:r>
              <a:rPr lang="ko-KR" altLang="en-US" sz="1000" b="1" dirty="0" smtClean="0">
                <a:latin typeface="+mn-ea"/>
              </a:rPr>
              <a:t>이 변경되어 최종 모델 성능 변경 </a:t>
            </a:r>
            <a:r>
              <a:rPr lang="en-US" altLang="ko-KR" sz="1000" b="1" dirty="0" smtClean="0">
                <a:latin typeface="+mn-ea"/>
              </a:rPr>
              <a:t> </a:t>
            </a:r>
            <a:endParaRPr lang="en-US" altLang="ko-KR" sz="1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91815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78AA56-C863-324D-969E-96201D4B1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[</a:t>
            </a:r>
            <a:r>
              <a:rPr lang="ko-KR" altLang="en-US" dirty="0" smtClean="0"/>
              <a:t>참고</a:t>
            </a:r>
            <a:r>
              <a:rPr lang="en-US" dirty="0" smtClean="0"/>
              <a:t>] Machine Learning Method : Sampling, Modeling (1/2)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D90CF802-A03D-0248-AF04-474208C0F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839687"/>
              </p:ext>
            </p:extLst>
          </p:nvPr>
        </p:nvGraphicFramePr>
        <p:xfrm>
          <a:off x="287964" y="665018"/>
          <a:ext cx="9251579" cy="18790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6511"/>
                <a:gridCol w="4636408"/>
                <a:gridCol w="1694330"/>
                <a:gridCol w="1694330"/>
              </a:tblGrid>
              <a:tr h="27302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</a:rPr>
                        <a:t>방법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</a:rPr>
                        <a:t>장점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bg1"/>
                          </a:solidFill>
                        </a:rPr>
                        <a:t>단점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80301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RUS</a:t>
                      </a:r>
                    </a:p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(Random Under Sampling)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80975" lvl="1" indent="-180975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관측수가 작은 클래스 데이터는 모두 사용하고 큰 클래스는 샘플링으로 일부를 사용하는 방법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80975" lvl="1" indent="-180975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클래스에 관한 중요한 정보를 소실할 가능성이 있기 때문에 이를 극복하고 다수 클래스를 전략적으로 표본화하기 위한 랜덤샘플링 방법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lvl="1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training set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이 많을 때 샘플 수를 줄여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저장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실행 속도 문제 개선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lvl="1" indent="-171450">
                        <a:buFont typeface="Wingdings" panose="05000000000000000000" pitchFamily="2" charset="2"/>
                        <a:buChar char="§"/>
                        <a:tabLst>
                          <a:tab pos="87313" algn="l"/>
                        </a:tabLst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정확한 대표성이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결여 된 경우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부정확한 결과가 나옴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80301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ROS</a:t>
                      </a:r>
                    </a:p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(Random Over Sampling)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4625" indent="-174625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관측수가 큰 클래스를 모두 사용하고 작은 클래스의 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관측수를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증대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4625" indent="-174625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데이터 수준의 접근에서 오버샘플링은 샘플의 수만 중복시켜 늘이기 때문에 클래스에 관한 새로운 정보는 제공하지 않음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정보의 손실이 없음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RUS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보다 성능 좋음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소수 클래스를 복사하기 때문에 과적합의 가능성 있음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9076044"/>
              </p:ext>
            </p:extLst>
          </p:nvPr>
        </p:nvGraphicFramePr>
        <p:xfrm>
          <a:off x="287963" y="2466111"/>
          <a:ext cx="9251579" cy="3934689"/>
        </p:xfrm>
        <a:graphic>
          <a:graphicData uri="http://schemas.openxmlformats.org/drawingml/2006/table">
            <a:tbl>
              <a:tblPr/>
              <a:tblGrid>
                <a:gridCol w="226387"/>
                <a:gridCol w="1743075"/>
                <a:gridCol w="7282117"/>
              </a:tblGrid>
              <a:tr h="290031">
                <a:tc gridSpan="2">
                  <a:txBody>
                    <a:bodyPr/>
                    <a:lstStyle/>
                    <a:p>
                      <a:pPr marL="0" marR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Modeling Method </a:t>
                      </a:r>
                      <a:endParaRPr lang="en-US" altLang="ko-KR" sz="1100" b="1" i="0" u="none" strike="noStrike" dirty="0" smtClean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0488" indent="0" algn="ctr" fontAlgn="b"/>
                      <a:r>
                        <a:rPr lang="en-US" sz="11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Modeling</a:t>
                      </a:r>
                      <a:r>
                        <a:rPr lang="en-US" sz="1100" b="1" i="0" u="none" strike="noStrike" baseline="0" dirty="0" smtClean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Description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7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Gradient</a:t>
                      </a:r>
                      <a:r>
                        <a:rPr 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Boosting Model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61938" marR="0" indent="-17145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dirty="0" smtClean="0"/>
                        <a:t>여러 개의 의사결정나무를 묶어 모델을 만드는 앙상블 방법</a:t>
                      </a:r>
                      <a:endParaRPr lang="en-US" altLang="ko-KR" sz="1100" dirty="0" smtClean="0"/>
                    </a:p>
                    <a:p>
                      <a:pPr marL="261938" marR="0" indent="-17145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prstClr val="black"/>
                          </a:solidFill>
                        </a:rPr>
                        <a:t>샘플데이터를 분할하지 않고 테스트 데이터를 제외한 원 데이터 전체로 첫 모델 만드는 것을 시작</a:t>
                      </a:r>
                      <a:endParaRPr lang="en-US" altLang="ko-KR" sz="1100" dirty="0" smtClean="0">
                        <a:solidFill>
                          <a:prstClr val="black"/>
                        </a:solidFill>
                      </a:endParaRPr>
                    </a:p>
                    <a:p>
                      <a:pPr marL="261938" marR="0" indent="-17145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prstClr val="black"/>
                          </a:solidFill>
                        </a:rPr>
                        <a:t>개별 기본 학습자를 훈련시킬 때 이용하는 </a:t>
                      </a:r>
                      <a:r>
                        <a:rPr lang="en-US" altLang="ko-KR" sz="1100" dirty="0" smtClean="0">
                          <a:solidFill>
                            <a:prstClr val="black"/>
                          </a:solidFill>
                        </a:rPr>
                        <a:t>target</a:t>
                      </a:r>
                      <a:r>
                        <a:rPr lang="ko-KR" altLang="en-US" sz="1100" dirty="0" smtClean="0">
                          <a:solidFill>
                            <a:prstClr val="black"/>
                          </a:solidFill>
                        </a:rPr>
                        <a:t>값을 모든 선행 기본 학습자에서 누적된 오차를 이용함</a:t>
                      </a:r>
                      <a:endParaRPr lang="en-US" altLang="ko-KR" sz="1100" dirty="0" smtClean="0"/>
                    </a:p>
                  </a:txBody>
                  <a:tcPr marL="3600" marR="36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8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Light</a:t>
                      </a:r>
                      <a:r>
                        <a:rPr lang="en-US" sz="11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Gradient Boosting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65113" indent="-171450" algn="l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의사 결정 나무 알고리즘 기반의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GBM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프레임워크로 </a:t>
                      </a:r>
                      <a:r>
                        <a:rPr lang="ko-KR" altLang="en-US" sz="1100" dirty="0" smtClean="0"/>
                        <a:t>앙상블 방법</a:t>
                      </a:r>
                      <a:endParaRPr lang="en-US" altLang="ko-KR" sz="1100" dirty="0" smtClean="0"/>
                    </a:p>
                    <a:p>
                      <a:pPr marL="265113" indent="-171450" algn="l" fontAlgn="b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Leaf-wise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로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tree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성장하는 방법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dirty="0" smtClean="0"/>
                        <a:t>다른 알고리즘은 </a:t>
                      </a:r>
                      <a:r>
                        <a:rPr lang="en-US" altLang="ko-KR" sz="1100" dirty="0" smtClean="0"/>
                        <a:t>Level-wise)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" marR="36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0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Random Forest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61938" marR="0" indent="-17145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prstClr val="black"/>
                          </a:solidFill>
                        </a:rPr>
                        <a:t>Bagging</a:t>
                      </a:r>
                      <a:r>
                        <a:rPr lang="ko-KR" altLang="en-US" sz="1100" dirty="0" smtClean="0">
                          <a:solidFill>
                            <a:prstClr val="black"/>
                          </a:solidFill>
                        </a:rPr>
                        <a:t>에</a:t>
                      </a:r>
                      <a:r>
                        <a:rPr lang="en-US" altLang="ko-KR" sz="1100" baseline="0" dirty="0" smtClean="0">
                          <a:solidFill>
                            <a:prstClr val="black"/>
                          </a:solidFill>
                        </a:rPr>
                        <a:t> </a:t>
                      </a:r>
                      <a:r>
                        <a:rPr lang="ko-KR" altLang="en-US" sz="1100" baseline="0" dirty="0" smtClean="0">
                          <a:solidFill>
                            <a:prstClr val="black"/>
                          </a:solidFill>
                        </a:rPr>
                        <a:t>랜덤 과정 추가</a:t>
                      </a:r>
                      <a:endParaRPr lang="en-US" altLang="ko-KR" sz="1100" baseline="0" dirty="0" smtClean="0">
                        <a:solidFill>
                          <a:prstClr val="black"/>
                        </a:solidFill>
                      </a:endParaRPr>
                    </a:p>
                    <a:p>
                      <a:pPr marL="261938" marR="0" indent="-17145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여러 개의 의사결정나무를 만들고 최종 결과는 모든 의사결정나무의 결과를 종합해 다수결로 선택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61938" marR="0" indent="-17145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각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노드마다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모든 예측변수 안에서 최적의 분할을 선택하는 방법 대신 예측변수들을 임의로 추출하고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추출된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  <a:b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변수 내에서 최적의 분할을 만들어나가는 방법을 사용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" marR="36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8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Logistic</a:t>
                      </a:r>
                      <a:r>
                        <a:rPr lang="en-US" sz="11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Regression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66700" marR="0" indent="-17145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dirty="0" smtClean="0"/>
                        <a:t>반응변수가 범주형인 경우에 적용되는 회귀분석 모델</a:t>
                      </a:r>
                      <a:endParaRPr lang="en-US" altLang="ko-KR" sz="1100" dirty="0" smtClean="0"/>
                    </a:p>
                    <a:p>
                      <a:pPr marL="266700" marR="0" indent="-17145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dirty="0" smtClean="0"/>
                        <a:t>반응변수가 두 가지 범주로 되어 있을 때 종속변수와 독립변수 간의 관계식을 이용하여 두 집단을 분류에 사용</a:t>
                      </a:r>
                      <a:endParaRPr lang="en-US" altLang="ko-KR" sz="1100" dirty="0" smtClean="0"/>
                    </a:p>
                  </a:txBody>
                  <a:tcPr marL="3600" marR="36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74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Neural Network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66700" indent="-171450" algn="l" fontAlgn="b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신경망에 입력이 주어지면 신경망 모델의 화살표 방향에 따라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은닉층에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도달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→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은닉층의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노드는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주어진 입력에 따라 활성화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→ 활성화된 은닉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노드는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출력값을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계산하고 그 결과를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출력층에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전달 → 이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출력값이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모델의 최종 예측 결과가 됨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" marR="36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800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Bagging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00" marR="39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61938" marR="0" indent="-17145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원 데이터 집합으로부터 크기가 같은 표본을 여러 번 단순 임의 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복원추출하여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각 표본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 err="1" smtClean="0">
                          <a:solidFill>
                            <a:schemeClr val="tx1"/>
                          </a:solidFill>
                        </a:rPr>
                        <a:t>붓스트랩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 표본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에 대해 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분류기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(classifiers)</a:t>
                      </a: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를 생성한 후 그 결과를 앙상블 하는 방법</a:t>
                      </a:r>
                      <a:endParaRPr lang="en-US" altLang="ko-KR" sz="11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261938" marR="0" indent="-17145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</a:rPr>
                        <a:t>반복추출 방법을 사용하기 때문에 같은 데이터가 한 표본에 여러 번 추출될 수도 있고</a:t>
                      </a:r>
                      <a:r>
                        <a:rPr lang="en-US" altLang="ko-KR" sz="110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altLang="ko-KR" sz="11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 dirty="0" smtClean="0">
                          <a:solidFill>
                            <a:schemeClr val="tx1"/>
                          </a:solidFill>
                        </a:rPr>
                        <a:t>어떤 데이터는 추출되지 않을 수 있음</a:t>
                      </a:r>
                      <a:endParaRPr lang="ko-KR" altLang="en-US" sz="1100" dirty="0" smtClean="0">
                        <a:solidFill>
                          <a:prstClr val="black"/>
                        </a:solidFill>
                      </a:endParaRPr>
                    </a:p>
                  </a:txBody>
                  <a:tcPr marL="3600" marR="3600" marT="48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5636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>
                <a:solidFill>
                  <a:prstClr val="black"/>
                </a:solidFill>
              </a:rPr>
              <a:pPr/>
              <a:t>13</a:t>
            </a:fld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33645" y="5604545"/>
            <a:ext cx="4633630" cy="777770"/>
            <a:chOff x="5434511" y="677837"/>
            <a:chExt cx="2487444" cy="777770"/>
          </a:xfrm>
        </p:grpSpPr>
        <p:sp>
          <p:nvSpPr>
            <p:cNvPr id="14" name="직사각형 13"/>
            <p:cNvSpPr/>
            <p:nvPr/>
          </p:nvSpPr>
          <p:spPr>
            <a:xfrm>
              <a:off x="5743711" y="677838"/>
              <a:ext cx="2178244" cy="777769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92075" indent="-92075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 smtClean="0"/>
                <a:t> 총 </a:t>
              </a:r>
              <a:r>
                <a:rPr lang="ko-KR" altLang="en-US" sz="1200" dirty="0"/>
                <a:t>데이터 </a:t>
              </a:r>
              <a:r>
                <a:rPr lang="ko-KR" altLang="en-US" sz="1200" dirty="0" smtClean="0"/>
                <a:t>개수가 적은 </a:t>
              </a:r>
              <a:r>
                <a:rPr lang="en-US" altLang="ko-KR" sz="1200" dirty="0" smtClean="0"/>
                <a:t>dataset</a:t>
              </a:r>
              <a:r>
                <a:rPr lang="ko-KR" altLang="en-US" sz="1200" dirty="0" smtClean="0"/>
                <a:t>의  정확도 향상</a:t>
              </a:r>
              <a:endParaRPr lang="en-US" altLang="ko-KR" sz="1200" dirty="0" smtClean="0"/>
            </a:p>
            <a:p>
              <a:pPr marL="92075" indent="-92075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 smtClean="0"/>
                <a:t> 전체 데이터가 </a:t>
              </a:r>
              <a:r>
                <a:rPr lang="en-US" altLang="ko-KR" sz="1200" dirty="0" smtClean="0"/>
                <a:t>training</a:t>
              </a:r>
              <a:r>
                <a:rPr lang="ko-KR" altLang="en-US" sz="1200" dirty="0" smtClean="0"/>
                <a:t>과 </a:t>
              </a:r>
              <a:r>
                <a:rPr lang="en-US" altLang="ko-KR" sz="1200" dirty="0" smtClean="0"/>
                <a:t>Validation</a:t>
              </a:r>
              <a:r>
                <a:rPr lang="ko-KR" altLang="en-US" sz="1200" dirty="0" smtClean="0"/>
                <a:t>에 모두 사용</a:t>
              </a:r>
              <a:endParaRPr lang="en-US" altLang="ko-KR" sz="1200" dirty="0" smtClean="0"/>
            </a:p>
            <a:p>
              <a:pPr marL="92075" indent="-92075">
                <a:lnSpc>
                  <a:spcPct val="150000"/>
                </a:lnSpc>
                <a:buFont typeface="Wingdings" panose="05000000000000000000" pitchFamily="2" charset="2"/>
                <a:buChar char="§"/>
              </a:pPr>
              <a:r>
                <a:rPr lang="ko-KR" altLang="en-US" sz="1200" dirty="0" smtClean="0"/>
                <a:t> 모든 전체 데이터는 단 </a:t>
              </a:r>
              <a:r>
                <a:rPr lang="en-US" altLang="ko-KR" sz="1200" dirty="0" smtClean="0"/>
                <a:t>1</a:t>
              </a:r>
              <a:r>
                <a:rPr lang="ko-KR" altLang="en-US" sz="1200" dirty="0" smtClean="0"/>
                <a:t>번만의 </a:t>
              </a:r>
              <a:r>
                <a:rPr lang="en-US" altLang="ko-KR" sz="1200" dirty="0" smtClean="0"/>
                <a:t>Validation</a:t>
              </a:r>
              <a:r>
                <a:rPr lang="ko-KR" altLang="en-US" sz="1200" dirty="0" smtClean="0"/>
                <a:t>이 수행</a:t>
              </a:r>
              <a:endParaRPr lang="en-US" altLang="ko-KR" sz="1200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5434511" y="677837"/>
              <a:ext cx="309200" cy="777769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 smtClean="0">
                  <a:solidFill>
                    <a:schemeClr val="bg1"/>
                  </a:solidFill>
                </a:rPr>
                <a:t>장점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33476" y="656765"/>
            <a:ext cx="9405824" cy="4885052"/>
            <a:chOff x="215516" y="592112"/>
            <a:chExt cx="6012668" cy="4885052"/>
          </a:xfrm>
        </p:grpSpPr>
        <p:sp>
          <p:nvSpPr>
            <p:cNvPr id="4" name="직사각형 3"/>
            <p:cNvSpPr/>
            <p:nvPr/>
          </p:nvSpPr>
          <p:spPr>
            <a:xfrm>
              <a:off x="215516" y="956988"/>
              <a:ext cx="6012668" cy="4520176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altLang="ko-KR" sz="1200" b="1" dirty="0" smtClean="0"/>
                <a:t>Cross Validation </a:t>
              </a:r>
              <a:r>
                <a:rPr lang="en-US" altLang="ko-KR" sz="1200" dirty="0" smtClean="0"/>
                <a:t/>
              </a:r>
              <a:br>
                <a:rPr lang="en-US" altLang="ko-KR" sz="1200" dirty="0" smtClean="0"/>
              </a:br>
              <a:r>
                <a:rPr lang="en-US" altLang="ko-KR" sz="1200" dirty="0" smtClean="0"/>
                <a:t>: Training Data Set</a:t>
              </a:r>
              <a:r>
                <a:rPr lang="ko-KR" altLang="en-US" sz="1200" dirty="0" smtClean="0"/>
                <a:t>과 </a:t>
              </a:r>
              <a:r>
                <a:rPr lang="en-US" altLang="ko-KR" sz="1200" dirty="0" smtClean="0"/>
                <a:t>Test Data Set</a:t>
              </a:r>
              <a:r>
                <a:rPr lang="ko-KR" altLang="en-US" sz="1200" dirty="0" smtClean="0"/>
                <a:t>을 </a:t>
              </a:r>
              <a:r>
                <a:rPr lang="ko-KR" altLang="en-US" sz="1200" dirty="0"/>
                <a:t>분리하여 모델을 만드는 방법 중 가장 자주 사용하는 기법으로</a:t>
              </a:r>
              <a:r>
                <a:rPr lang="en-US" altLang="ko-KR" sz="1200" dirty="0"/>
                <a:t>, </a:t>
              </a:r>
              <a:r>
                <a:rPr lang="ko-KR" altLang="en-US" sz="1200" dirty="0"/>
                <a:t>데이터를 다수의 조각으로 나누어 훈련과 테스트를 </a:t>
              </a:r>
              <a:r>
                <a:rPr lang="ko-KR" altLang="en-US" sz="1200" dirty="0" smtClean="0"/>
                <a:t>반복</a:t>
              </a:r>
              <a:endParaRPr lang="en-US" altLang="ko-KR" sz="1200" dirty="0" smtClean="0"/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altLang="ko-KR" sz="1200" dirty="0" smtClean="0"/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altLang="ko-KR" sz="1200" dirty="0"/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altLang="ko-KR" sz="1200" dirty="0" smtClean="0"/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altLang="ko-KR" sz="1200" dirty="0"/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altLang="ko-KR" sz="1200" dirty="0" smtClean="0"/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altLang="ko-KR" sz="1200" dirty="0"/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altLang="ko-KR" sz="1200" dirty="0" smtClean="0"/>
            </a:p>
            <a:p>
              <a:pPr marL="171450" indent="-171450">
                <a:buFont typeface="Wingdings" panose="05000000000000000000" pitchFamily="2" charset="2"/>
                <a:buChar char="§"/>
              </a:pPr>
              <a:endParaRPr lang="en-US" altLang="ko-KR" sz="1200" dirty="0" smtClean="0"/>
            </a:p>
            <a:p>
              <a:endParaRPr lang="en-US" altLang="ko-KR" sz="1200" dirty="0" smtClean="0"/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200" b="1" dirty="0" smtClean="0"/>
                <a:t>단계</a:t>
              </a:r>
              <a:endParaRPr lang="en-US" altLang="ko-KR" sz="1200" b="1" dirty="0" smtClean="0"/>
            </a:p>
            <a:p>
              <a:pPr marL="447675" lvl="1" indent="-228600">
                <a:buFont typeface="+mj-ea"/>
                <a:buAutoNum type="circleNumDbPlain"/>
              </a:pPr>
              <a:r>
                <a:rPr lang="ko-KR" altLang="en-US" sz="1200" dirty="0" smtClean="0"/>
                <a:t>전체 </a:t>
              </a:r>
              <a:r>
                <a:rPr lang="en-US" altLang="ko-KR" sz="1200" dirty="0" smtClean="0"/>
                <a:t>dataset</a:t>
              </a:r>
              <a:r>
                <a:rPr lang="ko-KR" altLang="en-US" sz="1200" dirty="0" smtClean="0"/>
                <a:t>을 </a:t>
              </a:r>
              <a:r>
                <a:rPr lang="en-US" altLang="ko-KR" sz="1200" dirty="0" smtClean="0"/>
                <a:t>Training Data </a:t>
              </a:r>
              <a:r>
                <a:rPr lang="en-US" altLang="ko-KR" sz="1200" dirty="0"/>
                <a:t>S</a:t>
              </a:r>
              <a:r>
                <a:rPr lang="en-US" altLang="ko-KR" sz="1200" dirty="0" smtClean="0"/>
                <a:t>et</a:t>
              </a:r>
              <a:r>
                <a:rPr lang="ko-KR" altLang="en-US" sz="1200" dirty="0"/>
                <a:t>과 </a:t>
              </a:r>
              <a:r>
                <a:rPr lang="en-US" altLang="ko-KR" sz="1200" dirty="0"/>
                <a:t>T</a:t>
              </a:r>
              <a:r>
                <a:rPr lang="en-US" altLang="ko-KR" sz="1200" dirty="0" smtClean="0"/>
                <a:t>est </a:t>
              </a:r>
              <a:r>
                <a:rPr lang="en-US" altLang="ko-KR" sz="1200" dirty="0"/>
                <a:t>D</a:t>
              </a:r>
              <a:r>
                <a:rPr lang="en-US" altLang="ko-KR" sz="1200" dirty="0" smtClean="0"/>
                <a:t>ata </a:t>
              </a:r>
              <a:r>
                <a:rPr lang="en-US" altLang="ko-KR" sz="1200" dirty="0"/>
                <a:t>S</a:t>
              </a:r>
              <a:r>
                <a:rPr lang="en-US" altLang="ko-KR" sz="1200" dirty="0" smtClean="0"/>
                <a:t>et</a:t>
              </a:r>
              <a:r>
                <a:rPr lang="ko-KR" altLang="en-US" sz="1200" dirty="0"/>
                <a:t>으로 </a:t>
              </a:r>
              <a:r>
                <a:rPr lang="ko-KR" altLang="en-US" sz="1200" dirty="0" smtClean="0"/>
                <a:t>나눔</a:t>
              </a:r>
              <a:endParaRPr lang="en-US" altLang="ko-KR" sz="1200" dirty="0" smtClean="0"/>
            </a:p>
            <a:p>
              <a:pPr marL="447675" lvl="1" indent="-228600">
                <a:buFont typeface="+mj-ea"/>
                <a:buAutoNum type="circleNumDbPlain"/>
              </a:pPr>
              <a:r>
                <a:rPr lang="en-US" altLang="ko-KR" sz="1200" dirty="0"/>
                <a:t>T</a:t>
              </a:r>
              <a:r>
                <a:rPr lang="en-US" altLang="ko-KR" sz="1200" dirty="0" smtClean="0"/>
                <a:t>raining</a:t>
              </a:r>
              <a:r>
                <a:rPr lang="en-US" altLang="ko-KR" sz="1200" dirty="0"/>
                <a:t> </a:t>
              </a:r>
              <a:r>
                <a:rPr lang="en-US" altLang="ko-KR" sz="1200" dirty="0" smtClean="0"/>
                <a:t>Data Set</a:t>
              </a:r>
              <a:r>
                <a:rPr lang="ko-KR" altLang="en-US" sz="1200" dirty="0"/>
                <a:t>을 나눌 </a:t>
              </a:r>
              <a:r>
                <a:rPr lang="en-US" altLang="ko-KR" sz="1200" dirty="0"/>
                <a:t>k</a:t>
              </a:r>
              <a:r>
                <a:rPr lang="ko-KR" altLang="en-US" sz="1200" dirty="0"/>
                <a:t>를 지정하고</a:t>
              </a:r>
              <a:r>
                <a:rPr lang="en-US" altLang="ko-KR" sz="1200" dirty="0"/>
                <a:t>, </a:t>
              </a:r>
              <a:r>
                <a:rPr lang="ko-KR" altLang="en-US" sz="1200" dirty="0" smtClean="0"/>
                <a:t>균등하게 </a:t>
              </a:r>
              <a:r>
                <a:rPr lang="en-US" altLang="ko-KR" sz="1200" dirty="0" smtClean="0"/>
                <a:t>k</a:t>
              </a:r>
              <a:r>
                <a:rPr lang="ko-KR" altLang="en-US" sz="1200" dirty="0"/>
                <a:t>개의 </a:t>
              </a:r>
              <a:r>
                <a:rPr lang="ko-KR" altLang="en-US" sz="1200" dirty="0" smtClean="0"/>
                <a:t>랜덤 데이터 </a:t>
              </a:r>
              <a:r>
                <a:rPr lang="en-US" altLang="ko-KR" sz="1200" dirty="0"/>
                <a:t>Fold</a:t>
              </a:r>
              <a:r>
                <a:rPr lang="ko-KR" altLang="en-US" sz="1200" dirty="0"/>
                <a:t>로 </a:t>
              </a:r>
              <a:r>
                <a:rPr lang="ko-KR" altLang="en-US" sz="1200" dirty="0" smtClean="0"/>
                <a:t>나누고 </a:t>
              </a:r>
              <a:r>
                <a:rPr lang="en-US" altLang="ko-KR" sz="1200" dirty="0" smtClean="0"/>
                <a:t>(</a:t>
              </a:r>
              <a:r>
                <a:rPr lang="en-US" altLang="ko-KR" sz="1200" dirty="0"/>
                <a:t>k</a:t>
              </a:r>
              <a:r>
                <a:rPr lang="ko-KR" altLang="en-US" sz="1200" dirty="0"/>
                <a:t> </a:t>
              </a:r>
              <a:r>
                <a:rPr lang="en-US" altLang="ko-KR" sz="1200" dirty="0"/>
                <a:t>- 1)</a:t>
              </a:r>
              <a:r>
                <a:rPr lang="ko-KR" altLang="en-US" sz="1200" dirty="0"/>
                <a:t>개의 </a:t>
              </a:r>
              <a:r>
                <a:rPr lang="en-US" altLang="ko-KR" sz="1200" dirty="0"/>
                <a:t>Fold</a:t>
              </a:r>
              <a:r>
                <a:rPr lang="ko-KR" altLang="en-US" sz="1200" dirty="0"/>
                <a:t>는 </a:t>
              </a:r>
              <a:r>
                <a:rPr lang="en-US" altLang="ko-KR" sz="1200" dirty="0" smtClean="0"/>
                <a:t>test</a:t>
              </a:r>
              <a:r>
                <a:rPr lang="ko-KR" altLang="en-US" sz="1200" dirty="0" smtClean="0"/>
                <a:t>용</a:t>
              </a:r>
              <a:r>
                <a:rPr lang="en-US" altLang="ko-KR" sz="1200" dirty="0" smtClean="0"/>
                <a:t>, </a:t>
              </a:r>
              <a:r>
                <a:rPr lang="ko-KR" altLang="en-US" sz="1200" dirty="0" smtClean="0"/>
                <a:t>나머지 </a:t>
              </a:r>
              <a:r>
                <a:rPr lang="en-US" altLang="ko-KR" sz="1200" dirty="0"/>
                <a:t>1</a:t>
              </a:r>
              <a:r>
                <a:rPr lang="ko-KR" altLang="en-US" sz="1200" dirty="0"/>
                <a:t>개는 </a:t>
              </a:r>
              <a:r>
                <a:rPr lang="en-US" altLang="ko-KR" sz="1200" dirty="0"/>
                <a:t>Validation</a:t>
              </a:r>
              <a:r>
                <a:rPr lang="ko-KR" altLang="en-US" sz="1200" dirty="0"/>
                <a:t>용으로 </a:t>
              </a:r>
              <a:r>
                <a:rPr lang="ko-KR" altLang="en-US" sz="1200" dirty="0" smtClean="0"/>
                <a:t>지정</a:t>
              </a:r>
              <a:endParaRPr lang="ko-KR" altLang="en-US" sz="1200" dirty="0"/>
            </a:p>
            <a:p>
              <a:pPr marL="447675" lvl="1" indent="-228600">
                <a:buFont typeface="+mj-ea"/>
                <a:buAutoNum type="circleNumDbPlain"/>
              </a:pPr>
              <a:r>
                <a:rPr lang="ko-KR" altLang="en-US" sz="1200" dirty="0" err="1"/>
                <a:t>튜닝하고자</a:t>
              </a:r>
              <a:r>
                <a:rPr lang="ko-KR" altLang="en-US" sz="1200" dirty="0"/>
                <a:t> 하는 </a:t>
              </a:r>
              <a:r>
                <a:rPr lang="ko-KR" altLang="en-US" sz="1200" dirty="0" err="1"/>
                <a:t>파라미터</a:t>
              </a:r>
              <a:r>
                <a:rPr lang="ko-KR" altLang="en-US" sz="1200" dirty="0" err="1" smtClean="0"/>
                <a:t>를</a:t>
              </a:r>
              <a:r>
                <a:rPr lang="ko-KR" altLang="en-US" sz="1200" dirty="0" smtClean="0"/>
                <a:t> 정</a:t>
              </a:r>
              <a:r>
                <a:rPr lang="ko-KR" altLang="en-US" sz="1200" dirty="0"/>
                <a:t>함</a:t>
              </a:r>
            </a:p>
            <a:p>
              <a:pPr marL="447675" lvl="1" indent="-228600">
                <a:buFont typeface="+mj-ea"/>
                <a:buAutoNum type="circleNumDbPlain"/>
              </a:pPr>
              <a:r>
                <a:rPr lang="ko-KR" altLang="en-US" sz="1200" dirty="0"/>
                <a:t>정해진 </a:t>
              </a:r>
              <a:r>
                <a:rPr lang="ko-KR" altLang="en-US" sz="1200" dirty="0" err="1"/>
                <a:t>파라미터</a:t>
              </a:r>
              <a:r>
                <a:rPr lang="ko-KR" altLang="en-US" sz="1200" dirty="0" err="1" smtClean="0"/>
                <a:t>에</a:t>
              </a:r>
              <a:r>
                <a:rPr lang="ko-KR" altLang="en-US" sz="1200" dirty="0" smtClean="0"/>
                <a:t> </a:t>
              </a:r>
              <a:r>
                <a:rPr lang="ko-KR" altLang="en-US" sz="1200" dirty="0"/>
                <a:t>대하여 각각 검증하고자 하는 범위와 실험세트</a:t>
              </a:r>
              <a:r>
                <a:rPr lang="en-US" altLang="ko-KR" sz="1200" dirty="0"/>
                <a:t>(</a:t>
              </a:r>
              <a:r>
                <a:rPr lang="ko-KR" altLang="en-US" sz="1200" dirty="0"/>
                <a:t>요인 수준</a:t>
              </a:r>
              <a:r>
                <a:rPr lang="en-US" altLang="ko-KR" sz="1200" dirty="0"/>
                <a:t>)</a:t>
              </a:r>
              <a:r>
                <a:rPr lang="ko-KR" altLang="en-US" sz="1200" dirty="0"/>
                <a:t>를 </a:t>
              </a:r>
              <a:r>
                <a:rPr lang="ko-KR" altLang="en-US" sz="1200" dirty="0" smtClean="0"/>
                <a:t>정함</a:t>
              </a:r>
              <a:endParaRPr lang="en-US" altLang="ko-KR" sz="1200" dirty="0" smtClean="0"/>
            </a:p>
            <a:p>
              <a:pPr marL="447675" lvl="1" indent="-228600">
                <a:buFont typeface="+mj-ea"/>
                <a:buAutoNum type="circleNumDbPlain"/>
              </a:pPr>
              <a:r>
                <a:rPr lang="en-US" altLang="ko-KR" sz="1200" dirty="0" smtClean="0"/>
                <a:t>k</a:t>
              </a:r>
              <a:r>
                <a:rPr lang="ko-KR" altLang="en-US" sz="1200" dirty="0"/>
                <a:t>개로 나누어진 </a:t>
              </a:r>
              <a:r>
                <a:rPr lang="en-US" altLang="ko-KR" sz="1200" dirty="0" smtClean="0"/>
                <a:t>training dataset</a:t>
              </a:r>
              <a:r>
                <a:rPr lang="en-US" altLang="ko-KR" sz="1200" dirty="0"/>
                <a:t> </a:t>
              </a:r>
              <a:r>
                <a:rPr lang="ko-KR" altLang="en-US" sz="1200" dirty="0"/>
                <a:t>데이터 그룹에 대하여 서로 다른 </a:t>
              </a:r>
              <a:r>
                <a:rPr lang="en-US" altLang="ko-KR" sz="1200" dirty="0"/>
                <a:t>Validation Fold</a:t>
              </a:r>
              <a:r>
                <a:rPr lang="ko-KR" altLang="en-US" sz="1200" dirty="0"/>
                <a:t>를 지정하면서 </a:t>
              </a:r>
              <a:r>
                <a:rPr lang="ko-KR" altLang="en-US" sz="1200" dirty="0" smtClean="0"/>
                <a:t>다음을</a:t>
              </a:r>
              <a:r>
                <a:rPr lang="ko-KR" altLang="en-US" sz="1200" dirty="0"/>
                <a:t> </a:t>
              </a:r>
              <a:r>
                <a:rPr lang="en-US" altLang="ko-KR" sz="1200" dirty="0"/>
                <a:t>k</a:t>
              </a:r>
              <a:r>
                <a:rPr lang="ko-KR" altLang="en-US" sz="1200" dirty="0"/>
                <a:t>번 </a:t>
              </a:r>
              <a:r>
                <a:rPr lang="ko-KR" altLang="en-US" sz="1200" dirty="0" smtClean="0"/>
                <a:t>반복</a:t>
              </a:r>
              <a:endParaRPr lang="en-US" altLang="ko-KR" sz="1200" dirty="0" smtClean="0"/>
            </a:p>
            <a:p>
              <a:pPr marL="485775" lvl="2"/>
              <a:r>
                <a:rPr lang="en-US" altLang="ko-KR" sz="1200" dirty="0" smtClean="0"/>
                <a:t>- (</a:t>
              </a:r>
              <a:r>
                <a:rPr lang="en-US" altLang="ko-KR" sz="1200" dirty="0"/>
                <a:t>k</a:t>
              </a:r>
              <a:r>
                <a:rPr lang="ko-KR" altLang="en-US" sz="1200" dirty="0"/>
                <a:t> </a:t>
              </a:r>
              <a:r>
                <a:rPr lang="en-US" altLang="ko-KR" sz="1200" dirty="0"/>
                <a:t>- 1)</a:t>
              </a:r>
              <a:r>
                <a:rPr lang="ko-KR" altLang="en-US" sz="1200" dirty="0"/>
                <a:t>개의 </a:t>
              </a:r>
              <a:r>
                <a:rPr lang="en-US" altLang="ko-KR" sz="1200" dirty="0" smtClean="0"/>
                <a:t>training </a:t>
              </a:r>
              <a:r>
                <a:rPr lang="en-US" altLang="ko-KR" sz="1200" dirty="0"/>
                <a:t>Fold</a:t>
              </a:r>
              <a:r>
                <a:rPr lang="ko-KR" altLang="en-US" sz="1200" dirty="0"/>
                <a:t>에 대하여 </a:t>
              </a:r>
              <a:r>
                <a:rPr lang="ko-KR" altLang="en-US" sz="1200" dirty="0" smtClean="0"/>
                <a:t>학습</a:t>
              </a:r>
              <a:endParaRPr lang="en-US" altLang="ko-KR" sz="1200" dirty="0" smtClean="0"/>
            </a:p>
            <a:p>
              <a:pPr marL="485775" lvl="2"/>
              <a:r>
                <a:rPr lang="en-US" altLang="ko-KR" sz="1200" dirty="0" smtClean="0"/>
                <a:t>- </a:t>
              </a:r>
              <a:r>
                <a:rPr lang="ko-KR" altLang="en-US" sz="1200" dirty="0" smtClean="0"/>
                <a:t>나머지 </a:t>
              </a:r>
              <a:r>
                <a:rPr lang="en-US" altLang="ko-KR" sz="1200" dirty="0"/>
                <a:t>1</a:t>
              </a:r>
              <a:r>
                <a:rPr lang="ko-KR" altLang="en-US" sz="1200" dirty="0"/>
                <a:t>개의 </a:t>
              </a:r>
              <a:r>
                <a:rPr lang="en-US" altLang="ko-KR" sz="1200" dirty="0" smtClean="0"/>
                <a:t>Validation </a:t>
              </a:r>
              <a:r>
                <a:rPr lang="en-US" altLang="ko-KR" sz="1200" dirty="0"/>
                <a:t>Fold</a:t>
              </a:r>
              <a:r>
                <a:rPr lang="ko-KR" altLang="en-US" sz="1200" dirty="0"/>
                <a:t>에 대하여 성능을 </a:t>
              </a:r>
              <a:r>
                <a:rPr lang="ko-KR" altLang="en-US" sz="1200" dirty="0" smtClean="0"/>
                <a:t>측정</a:t>
              </a:r>
              <a:endParaRPr lang="en-US" altLang="ko-KR" sz="1200" dirty="0" smtClean="0"/>
            </a:p>
            <a:p>
              <a:pPr marL="485775" lvl="2"/>
              <a:r>
                <a:rPr lang="en-US" altLang="ko-KR" sz="1200" dirty="0" smtClean="0"/>
                <a:t>- </a:t>
              </a:r>
              <a:r>
                <a:rPr lang="ko-KR" altLang="en-US" sz="1200" dirty="0" smtClean="0"/>
                <a:t>앞서 </a:t>
              </a:r>
              <a:r>
                <a:rPr lang="ko-KR" altLang="en-US" sz="1200" dirty="0"/>
                <a:t>학습된 </a:t>
              </a:r>
              <a:r>
                <a:rPr lang="ko-KR" altLang="en-US" sz="1200" dirty="0" err="1"/>
                <a:t>파라미터를</a:t>
              </a:r>
              <a:r>
                <a:rPr lang="ko-KR" altLang="en-US" sz="1200" dirty="0"/>
                <a:t> 이용하여 </a:t>
              </a:r>
              <a:r>
                <a:rPr lang="en-US" altLang="ko-KR" sz="1200" dirty="0"/>
                <a:t>Validation Fold</a:t>
              </a:r>
              <a:r>
                <a:rPr lang="ko-KR" altLang="en-US" sz="1200" dirty="0"/>
                <a:t>를 이용하여 </a:t>
              </a:r>
              <a:r>
                <a:rPr lang="ko-KR" altLang="en-US" sz="1200" dirty="0" smtClean="0"/>
                <a:t>결과를 얻기</a:t>
              </a:r>
              <a:endParaRPr lang="en-US" altLang="ko-KR" sz="1200" dirty="0" smtClean="0"/>
            </a:p>
            <a:p>
              <a:pPr marL="447675" lvl="2" indent="-228600">
                <a:buFont typeface="+mj-ea"/>
                <a:buAutoNum type="circleNumDbPlain" startAt="6"/>
              </a:pPr>
              <a:r>
                <a:rPr lang="en-US" altLang="ko-KR" sz="1200" dirty="0" smtClean="0"/>
                <a:t>5</a:t>
              </a:r>
              <a:r>
                <a:rPr lang="ko-KR" altLang="en-US" sz="1200" dirty="0"/>
                <a:t>번에서 얻은 각 </a:t>
              </a:r>
              <a:r>
                <a:rPr lang="ko-KR" altLang="en-US" sz="1200" dirty="0" err="1"/>
                <a:t>파라미터</a:t>
              </a:r>
              <a:r>
                <a:rPr lang="ko-KR" altLang="en-US" sz="1200" dirty="0" err="1" smtClean="0"/>
                <a:t>의</a:t>
              </a:r>
              <a:r>
                <a:rPr lang="ko-KR" altLang="en-US" sz="1200" dirty="0"/>
                <a:t> </a:t>
              </a:r>
              <a:r>
                <a:rPr lang="en-US" altLang="ko-KR" sz="1200" dirty="0"/>
                <a:t>k</a:t>
              </a:r>
              <a:r>
                <a:rPr lang="ko-KR" altLang="en-US" sz="1200" dirty="0"/>
                <a:t>개의 결과에 대한 평균을 계산하여 이 평균값을 각 </a:t>
              </a:r>
              <a:r>
                <a:rPr lang="ko-KR" altLang="en-US" sz="1200" dirty="0" err="1"/>
                <a:t>파라미터</a:t>
              </a:r>
              <a:r>
                <a:rPr lang="ko-KR" altLang="en-US" sz="1200" dirty="0" err="1" smtClean="0"/>
                <a:t>로</a:t>
              </a:r>
              <a:r>
                <a:rPr lang="ko-KR" altLang="en-US" sz="1200" dirty="0" smtClean="0"/>
                <a:t> 지정</a:t>
              </a:r>
              <a:endParaRPr lang="ko-KR" altLang="en-US" sz="1200" dirty="0"/>
            </a:p>
            <a:p>
              <a:pPr marL="447675" lvl="1" indent="-228600">
                <a:buFont typeface="+mj-ea"/>
                <a:buAutoNum type="circleNumDbPlain" startAt="7"/>
              </a:pPr>
              <a:r>
                <a:rPr lang="en-US" altLang="ko-KR" sz="1200" dirty="0" smtClean="0"/>
                <a:t>6</a:t>
              </a:r>
              <a:r>
                <a:rPr lang="ko-KR" altLang="en-US" sz="1200" dirty="0" smtClean="0"/>
                <a:t>번에서 얻은</a:t>
              </a:r>
              <a:r>
                <a:rPr lang="en-US" altLang="ko-KR" sz="1200" dirty="0" smtClean="0"/>
                <a:t> </a:t>
              </a:r>
              <a:r>
                <a:rPr lang="ko-KR" altLang="en-US" sz="1200" dirty="0" err="1"/>
                <a:t>파라미터</a:t>
              </a:r>
              <a:r>
                <a:rPr lang="ko-KR" altLang="en-US" sz="1200" dirty="0" err="1" smtClean="0"/>
                <a:t>를</a:t>
              </a:r>
              <a:r>
                <a:rPr lang="ko-KR" altLang="en-US" sz="1200" dirty="0" smtClean="0"/>
                <a:t> </a:t>
              </a:r>
              <a:r>
                <a:rPr lang="ko-KR" altLang="en-US" sz="1200" dirty="0"/>
                <a:t>적용하여 </a:t>
              </a:r>
              <a:r>
                <a:rPr lang="en-US" altLang="ko-KR" sz="1200" dirty="0"/>
                <a:t>t</a:t>
              </a:r>
              <a:r>
                <a:rPr lang="en-US" altLang="ko-KR" sz="1200" dirty="0" smtClean="0"/>
                <a:t>est data</a:t>
              </a:r>
              <a:r>
                <a:rPr lang="ko-KR" altLang="en-US" sz="1200" dirty="0"/>
                <a:t>에 대하여 모델을 </a:t>
              </a:r>
              <a:r>
                <a:rPr lang="en-US" altLang="ko-KR" sz="1200" dirty="0"/>
                <a:t>1</a:t>
              </a:r>
              <a:r>
                <a:rPr lang="ko-KR" altLang="en-US" sz="1200" dirty="0"/>
                <a:t>회 </a:t>
              </a:r>
              <a:r>
                <a:rPr lang="ko-KR" altLang="en-US" sz="1200" dirty="0" smtClean="0"/>
                <a:t>평가</a:t>
              </a:r>
              <a:endParaRPr lang="ko-KR" altLang="en-US" sz="1200" dirty="0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15521" y="592112"/>
              <a:ext cx="6012663" cy="374400"/>
            </a:xfrm>
            <a:prstGeom prst="rect">
              <a:avLst/>
            </a:prstGeom>
            <a:solidFill>
              <a:schemeClr val="tx2"/>
            </a:solidFill>
            <a:ln w="31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1400" b="1" dirty="0" smtClean="0">
                  <a:solidFill>
                    <a:schemeClr val="bg1"/>
                  </a:solidFill>
                </a:rPr>
                <a:t>Cross Validation</a:t>
              </a:r>
            </a:p>
          </p:txBody>
        </p:sp>
      </p:grpSp>
      <p:pic>
        <p:nvPicPr>
          <p:cNvPr id="9" name="그림 8" descr="K-Fold Cross Validation(교차검증) 정의 및 설명 :: nonameyet - Chrome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04" t="28889" r="14852" b="46311"/>
          <a:stretch/>
        </p:blipFill>
        <p:spPr>
          <a:xfrm>
            <a:off x="2711284" y="1579409"/>
            <a:ext cx="4450208" cy="1803986"/>
          </a:xfrm>
          <a:prstGeom prst="rect">
            <a:avLst/>
          </a:prstGeom>
        </p:spPr>
      </p:pic>
      <p:grpSp>
        <p:nvGrpSpPr>
          <p:cNvPr id="15" name="그룹 14"/>
          <p:cNvGrpSpPr/>
          <p:nvPr/>
        </p:nvGrpSpPr>
        <p:grpSpPr>
          <a:xfrm>
            <a:off x="5019675" y="5604546"/>
            <a:ext cx="4633630" cy="777770"/>
            <a:chOff x="5434511" y="677837"/>
            <a:chExt cx="2487444" cy="777770"/>
          </a:xfrm>
        </p:grpSpPr>
        <p:sp>
          <p:nvSpPr>
            <p:cNvPr id="17" name="직사각형 16"/>
            <p:cNvSpPr/>
            <p:nvPr/>
          </p:nvSpPr>
          <p:spPr>
            <a:xfrm>
              <a:off x="5743711" y="677838"/>
              <a:ext cx="2178244" cy="777769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92075" indent="-92075">
                <a:buFont typeface="Wingdings" panose="05000000000000000000" pitchFamily="2" charset="2"/>
                <a:buChar char="§"/>
              </a:pPr>
              <a:r>
                <a:rPr lang="en-US" altLang="ko-KR" sz="1200" dirty="0" smtClean="0"/>
                <a:t> Training Data Set</a:t>
              </a:r>
              <a:r>
                <a:rPr lang="ko-KR" altLang="en-US" sz="1200" dirty="0"/>
                <a:t> </a:t>
              </a:r>
              <a:r>
                <a:rPr lang="ko-KR" altLang="en-US" sz="1200" dirty="0" smtClean="0"/>
                <a:t>과</a:t>
              </a:r>
              <a:r>
                <a:rPr lang="en-US" altLang="ko-KR" sz="1200" dirty="0" smtClean="0"/>
                <a:t> Test </a:t>
              </a:r>
              <a:r>
                <a:rPr lang="en-US" altLang="ko-KR" sz="1200" dirty="0"/>
                <a:t>D</a:t>
              </a:r>
              <a:r>
                <a:rPr lang="en-US" altLang="ko-KR" sz="1200" dirty="0" smtClean="0"/>
                <a:t>ata Set</a:t>
              </a:r>
              <a:r>
                <a:rPr lang="ko-KR" altLang="en-US" sz="1200" dirty="0"/>
                <a:t>으로만 진행하는 </a:t>
              </a:r>
              <a:r>
                <a:rPr lang="ko-KR" altLang="en-US" sz="1200" dirty="0" smtClean="0"/>
                <a:t> </a:t>
              </a:r>
              <a:r>
                <a:rPr lang="en-US" altLang="ko-KR" sz="1200" dirty="0" smtClean="0"/>
                <a:t/>
              </a:r>
              <a:br>
                <a:rPr lang="en-US" altLang="ko-KR" sz="1200" dirty="0" smtClean="0"/>
              </a:br>
              <a:r>
                <a:rPr lang="en-US" altLang="ko-KR" sz="1200" dirty="0" smtClean="0"/>
                <a:t> </a:t>
              </a:r>
              <a:r>
                <a:rPr lang="ko-KR" altLang="en-US" sz="1200" dirty="0" smtClean="0"/>
                <a:t>학습법에 </a:t>
              </a:r>
              <a:r>
                <a:rPr lang="ko-KR" altLang="en-US" sz="1200" dirty="0"/>
                <a:t>비해 시간 소요가 큼</a:t>
              </a:r>
              <a:endParaRPr lang="en-US" altLang="ko-KR" sz="1200" dirty="0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434511" y="677837"/>
              <a:ext cx="309200" cy="777769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>
                  <a:solidFill>
                    <a:schemeClr val="bg1"/>
                  </a:solidFill>
                </a:rPr>
                <a:t>단</a:t>
              </a:r>
              <a:r>
                <a:rPr lang="ko-KR" altLang="en-US" sz="1400" b="1" smtClean="0">
                  <a:solidFill>
                    <a:schemeClr val="bg1"/>
                  </a:solidFill>
                </a:rPr>
                <a:t>점</a:t>
              </a:r>
              <a:endParaRPr lang="ko-KR" altLang="en-US" sz="14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4" name="Title 1">
            <a:extLst>
              <a:ext uri="{FF2B5EF4-FFF2-40B4-BE49-F238E27FC236}">
                <a16:creationId xmlns="" xmlns:a16="http://schemas.microsoft.com/office/drawing/2014/main" id="{D278AA56-C863-324D-969E-96201D4B1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[</a:t>
            </a:r>
            <a:r>
              <a:rPr lang="ko-KR" altLang="en-US" dirty="0" smtClean="0"/>
              <a:t>참고</a:t>
            </a:r>
            <a:r>
              <a:rPr lang="en-US" dirty="0" smtClean="0"/>
              <a:t>] Machine Learning Method : Cross Validation (2/2)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36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별첨</a:t>
            </a:r>
            <a:r>
              <a:rPr lang="en-US" altLang="ko-KR" dirty="0" smtClean="0"/>
              <a:t>] Collaborative Filtering : Deep Matrix </a:t>
            </a:r>
            <a:r>
              <a:rPr lang="en-US" altLang="ko-KR" dirty="0" smtClean="0"/>
              <a:t>Factorization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/>
              <a:pPr/>
              <a:t>14</a:t>
            </a:fld>
            <a:endParaRPr lang="ko-KR" altLang="en-US"/>
          </a:p>
        </p:txBody>
      </p:sp>
      <p:grpSp>
        <p:nvGrpSpPr>
          <p:cNvPr id="24" name="그룹 23"/>
          <p:cNvGrpSpPr/>
          <p:nvPr/>
        </p:nvGrpSpPr>
        <p:grpSpPr>
          <a:xfrm>
            <a:off x="3167335" y="1632402"/>
            <a:ext cx="3571330" cy="3164504"/>
            <a:chOff x="2749620" y="1655296"/>
            <a:chExt cx="2148812" cy="1982434"/>
          </a:xfrm>
        </p:grpSpPr>
        <p:sp>
          <p:nvSpPr>
            <p:cNvPr id="15" name="직사각형 14"/>
            <p:cNvSpPr/>
            <p:nvPr/>
          </p:nvSpPr>
          <p:spPr>
            <a:xfrm>
              <a:off x="2749620" y="1655296"/>
              <a:ext cx="2148812" cy="1735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ko-KR" sz="1200" b="1" dirty="0" smtClean="0">
                  <a:latin typeface="+mn-ea"/>
                </a:rPr>
                <a:t>Deep Matrix Factorization</a:t>
              </a: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3363277" y="1931263"/>
              <a:ext cx="916030" cy="289214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ko-KR" sz="1200" b="1" dirty="0" smtClean="0">
                  <a:latin typeface="+mn-ea"/>
                </a:rPr>
                <a:t>Prediction (Antibiotics)</a:t>
              </a:r>
              <a:endParaRPr lang="en-US" altLang="ko-KR" sz="1200" b="1" dirty="0" smtClean="0">
                <a:latin typeface="+mn-ea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3363277" y="2464111"/>
              <a:ext cx="916030" cy="17352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ko-KR" sz="1200" b="1" dirty="0" smtClean="0">
                  <a:latin typeface="+mn-ea"/>
                </a:rPr>
                <a:t>Dense</a:t>
              </a: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3363277" y="2928921"/>
              <a:ext cx="916030" cy="173529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altLang="ko-KR" sz="1200" b="1" smtClean="0">
                  <a:latin typeface="+mn-ea"/>
                </a:rPr>
                <a:t>Dense</a:t>
              </a:r>
              <a:endParaRPr lang="en-US" altLang="ko-KR" sz="1200" b="1" dirty="0" smtClean="0">
                <a:latin typeface="+mn-ea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2785013" y="3428399"/>
              <a:ext cx="1020669" cy="173529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200" b="1" dirty="0" smtClean="0">
                  <a:solidFill>
                    <a:schemeClr val="bg1"/>
                  </a:solidFill>
                  <a:latin typeface="+mn-ea"/>
                </a:rPr>
                <a:t>처방 된 </a:t>
              </a:r>
              <a:r>
                <a:rPr lang="en-US" altLang="ko-KR" sz="1200" b="1" dirty="0" smtClean="0">
                  <a:solidFill>
                    <a:schemeClr val="bg1"/>
                  </a:solidFill>
                  <a:latin typeface="+mn-ea"/>
                </a:rPr>
                <a:t>Antibiotics</a:t>
              </a:r>
              <a:endParaRPr lang="en-US" altLang="ko-KR" sz="1200" b="1" dirty="0" smtClean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3830376" y="3425214"/>
              <a:ext cx="1020669" cy="173529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200" b="1" dirty="0" smtClean="0">
                  <a:latin typeface="+mn-ea"/>
                </a:rPr>
                <a:t>현재 </a:t>
              </a:r>
              <a:r>
                <a:rPr lang="en-US" altLang="ko-KR" sz="1200" b="1" dirty="0" smtClean="0">
                  <a:latin typeface="+mn-ea"/>
                </a:rPr>
                <a:t>Patients</a:t>
              </a:r>
              <a:endParaRPr lang="en-US" altLang="ko-KR" sz="1200" b="1" dirty="0" smtClean="0">
                <a:latin typeface="+mn-ea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2750862" y="3383285"/>
              <a:ext cx="2137013" cy="254445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3" name="위쪽 화살표 22"/>
            <p:cNvSpPr/>
            <p:nvPr/>
          </p:nvSpPr>
          <p:spPr>
            <a:xfrm>
              <a:off x="3764455" y="3165540"/>
              <a:ext cx="101287" cy="175930"/>
            </a:xfrm>
            <a:prstGeom prst="up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5" name="위쪽 화살표 24"/>
            <p:cNvSpPr/>
            <p:nvPr/>
          </p:nvSpPr>
          <p:spPr>
            <a:xfrm>
              <a:off x="3764455" y="2697255"/>
              <a:ext cx="101287" cy="175930"/>
            </a:xfrm>
            <a:prstGeom prst="up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26" name="위쪽 화살표 25"/>
            <p:cNvSpPr/>
            <p:nvPr/>
          </p:nvSpPr>
          <p:spPr>
            <a:xfrm>
              <a:off x="3764455" y="2231510"/>
              <a:ext cx="101287" cy="175930"/>
            </a:xfrm>
            <a:prstGeom prst="up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94337" y="5167699"/>
            <a:ext cx="9517327" cy="120032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 dirty="0"/>
              <a:t>항생제 처방기록이 있는 환자들과 유사한 </a:t>
            </a:r>
            <a:r>
              <a:rPr lang="en-US" altLang="ko-KR" sz="1200" dirty="0"/>
              <a:t>Risk Factor, MDR Type</a:t>
            </a:r>
            <a:r>
              <a:rPr lang="ko-KR" altLang="en-US" sz="1200" dirty="0"/>
              <a:t>등의</a:t>
            </a:r>
            <a:r>
              <a:rPr lang="en-US" altLang="ko-KR" sz="1200" dirty="0"/>
              <a:t> </a:t>
            </a:r>
            <a:r>
              <a:rPr lang="ko-KR" altLang="en-US" sz="1200" dirty="0"/>
              <a:t>패턴을 </a:t>
            </a:r>
            <a:r>
              <a:rPr lang="ko-KR" altLang="en-US" sz="1200" dirty="0"/>
              <a:t>가진 </a:t>
            </a:r>
            <a:r>
              <a:rPr lang="ko-KR" altLang="en-US" sz="1200" dirty="0"/>
              <a:t>환자를 찾음</a:t>
            </a:r>
            <a:endParaRPr lang="en-US" altLang="ko-KR" sz="1200" dirty="0"/>
          </a:p>
          <a:p>
            <a:pPr marL="228600" indent="-228600">
              <a:buFontTx/>
              <a:buAutoNum type="arabicPeriod"/>
            </a:pPr>
            <a:r>
              <a:rPr lang="ko-KR" altLang="en-US" sz="1200" dirty="0"/>
              <a:t>환자들의 항생제 처방 예측을 위해 </a:t>
            </a:r>
            <a:r>
              <a:rPr lang="en-US" altLang="ko-KR" sz="1200" dirty="0"/>
              <a:t>1</a:t>
            </a:r>
            <a:r>
              <a:rPr lang="ko-KR" altLang="en-US" sz="1200" dirty="0"/>
              <a:t>단계에서 유사 환자로 판단 </a:t>
            </a:r>
            <a:r>
              <a:rPr lang="ko-KR" altLang="en-US" sz="1200" dirty="0"/>
              <a:t>된 환자들의 </a:t>
            </a:r>
            <a:r>
              <a:rPr lang="en-US" altLang="ko-KR" sz="1200" dirty="0"/>
              <a:t>Risk Factor, MDR Type</a:t>
            </a:r>
            <a:r>
              <a:rPr lang="ko-KR" altLang="en-US" sz="1200" dirty="0"/>
              <a:t>등을 수치화하여 </a:t>
            </a:r>
            <a:r>
              <a:rPr lang="ko-KR" altLang="en-US" sz="1200" dirty="0" smtClean="0"/>
              <a:t>사용</a:t>
            </a:r>
            <a:endParaRPr lang="en-US" altLang="ko-KR" sz="1200" dirty="0"/>
          </a:p>
          <a:p>
            <a:pPr marL="228600" indent="-228600">
              <a:buFontTx/>
              <a:buAutoNum type="arabicPeriod"/>
            </a:pPr>
            <a:endParaRPr lang="en-US" altLang="ko-KR" sz="1200" dirty="0"/>
          </a:p>
          <a:p>
            <a:r>
              <a:rPr lang="en-US" altLang="ko-KR" sz="1200" dirty="0" smtClean="0"/>
              <a:t>Sample Coding Reference </a:t>
            </a:r>
          </a:p>
          <a:p>
            <a:r>
              <a:rPr lang="en-US" altLang="ko-KR" sz="1200" dirty="0">
                <a:hlinkClick r:id="rId2"/>
              </a:rPr>
              <a:t>https://</a:t>
            </a:r>
            <a:r>
              <a:rPr lang="en-US" altLang="ko-KR" sz="1200" dirty="0" smtClean="0">
                <a:hlinkClick r:id="rId2"/>
              </a:rPr>
              <a:t>github.com/jmschrei/notebooks/blob/master/MXNet%20Deep%20Matrix%20Factorization/MxNet_Deep_Matrix_Factorization.ipynb</a:t>
            </a:r>
            <a:endParaRPr lang="en-US" altLang="ko-KR" sz="1200" dirty="0" smtClean="0"/>
          </a:p>
        </p:txBody>
      </p:sp>
      <p:sp>
        <p:nvSpPr>
          <p:cNvPr id="32" name="텍스트 개체 틀 3"/>
          <p:cNvSpPr txBox="1">
            <a:spLocks/>
          </p:cNvSpPr>
          <p:nvPr/>
        </p:nvSpPr>
        <p:spPr>
          <a:xfrm>
            <a:off x="193769" y="620691"/>
            <a:ext cx="9518464" cy="7207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Tx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항생제 추천 모델링 시 </a:t>
            </a:r>
            <a:r>
              <a:rPr lang="en-US" altLang="ko-KR" dirty="0" smtClean="0"/>
              <a:t>Collaborative Filtering 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Deep </a:t>
            </a:r>
            <a:r>
              <a:rPr lang="en-US" altLang="ko-KR" dirty="0"/>
              <a:t>Matrix </a:t>
            </a:r>
            <a:r>
              <a:rPr lang="en-US" altLang="ko-KR" dirty="0" smtClean="0"/>
              <a:t>Factorization</a:t>
            </a:r>
            <a:r>
              <a:rPr lang="ko-KR" altLang="en-US" dirty="0" smtClean="0"/>
              <a:t>을 사용할 수 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4751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Ⅳ. </a:t>
            </a:r>
            <a:r>
              <a:rPr lang="ko-KR" altLang="en-US" dirty="0" smtClean="0"/>
              <a:t>병원 특성 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/>
              <a:pPr/>
              <a:t>15</a:t>
            </a:fld>
            <a:endParaRPr lang="ko-KR" altLang="en-US"/>
          </a:p>
        </p:txBody>
      </p:sp>
      <p:pic>
        <p:nvPicPr>
          <p:cNvPr id="1026" name="Picture 2" descr="\\163.152.156.137\3A Project\Phase2\20000.팀 공유\27000.DA\분석모형(리얼데이터)\회의록\김선빈선생님(0824)\Oxazolidino R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69" y="624878"/>
            <a:ext cx="8263862" cy="5783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5165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[</a:t>
            </a:r>
            <a:r>
              <a:rPr lang="ko-KR" altLang="en-US" dirty="0" smtClean="0"/>
              <a:t>별첨</a:t>
            </a:r>
            <a:r>
              <a:rPr lang="en-US" altLang="ko-KR" dirty="0" smtClean="0"/>
              <a:t>] Working Directory 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/>
              <a:pPr/>
              <a:t>16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503918"/>
              </p:ext>
            </p:extLst>
          </p:nvPr>
        </p:nvGraphicFramePr>
        <p:xfrm>
          <a:off x="344488" y="711199"/>
          <a:ext cx="9250086" cy="56216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68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87878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724467"/>
              </a:tblGrid>
              <a:tr h="4234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latin typeface="+mj-ea"/>
                          <a:ea typeface="+mj-ea"/>
                        </a:rPr>
                        <a:t>구  분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>
                          <a:latin typeface="+mj-ea"/>
                          <a:ea typeface="+mj-ea"/>
                        </a:rPr>
                        <a:t>R File</a:t>
                      </a:r>
                      <a:r>
                        <a:rPr lang="en-US" altLang="ko-KR" sz="1400" b="1" baseline="0" dirty="0" smtClean="0">
                          <a:latin typeface="+mj-ea"/>
                          <a:ea typeface="+mj-ea"/>
                        </a:rPr>
                        <a:t> Name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FILE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Working 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Directory</a:t>
                      </a:r>
                      <a:endParaRPr lang="ko-KR" altLang="en-US" sz="14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8001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>
                          <a:latin typeface="+mj-ea"/>
                          <a:ea typeface="+mj-ea"/>
                        </a:rPr>
                        <a:t>Raw Data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\\163.152.156.137\3A Project\Phase2\20000.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팀 공유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\27000.DA\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분석모형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dirty="0" err="1" smtClean="0">
                          <a:latin typeface="+mj-ea"/>
                          <a:ea typeface="+mj-ea"/>
                        </a:rPr>
                        <a:t>리얼데이터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)\</a:t>
                      </a:r>
                      <a:r>
                        <a:rPr lang="en-US" altLang="ko-KR" sz="1200" dirty="0" err="1" smtClean="0">
                          <a:latin typeface="+mj-ea"/>
                          <a:ea typeface="+mj-ea"/>
                        </a:rPr>
                        <a:t>SourceCodes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\04SourceCodes\Delivery\R Delivery\01data</a:t>
                      </a:r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2699691662"/>
                  </a:ext>
                </a:extLst>
              </a:tr>
              <a:tr h="553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>
                          <a:latin typeface="+mj-ea"/>
                          <a:ea typeface="+mj-ea"/>
                        </a:rPr>
                        <a:t>Master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CJH_Data_Merge_1.0.0.R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\\163.152.156.137\3A Project\Phase2\20000.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팀 공유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\27000.DA\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분석모형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dirty="0" err="1" smtClean="0">
                          <a:latin typeface="+mj-ea"/>
                          <a:ea typeface="+mj-ea"/>
                        </a:rPr>
                        <a:t>리얼데이터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)\</a:t>
                      </a:r>
                      <a:r>
                        <a:rPr lang="en-US" altLang="ko-KR" sz="1200" dirty="0" err="1" smtClean="0">
                          <a:latin typeface="+mj-ea"/>
                          <a:ea typeface="+mj-ea"/>
                        </a:rPr>
                        <a:t>SourceCodes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\04SourceCodes\Delivery\R Delivery\04SourceCodes</a:t>
                      </a:r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531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>
                          <a:latin typeface="+mj-ea"/>
                          <a:ea typeface="+mj-ea"/>
                        </a:rPr>
                        <a:t>Univariate Analysis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UnivariateAnalysis_1.0.0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800186"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모형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1.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Logistic Regression</a:t>
                      </a:r>
                      <a:endParaRPr lang="ko-KR" altLang="en-US" sz="14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Initiator_1.0.0.R</a:t>
                      </a:r>
                    </a:p>
                    <a:p>
                      <a:pPr algn="ctr" latinLnBrk="1"/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MDR_main_1.0.0.R</a:t>
                      </a: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\\163.152.156.137\3A Project\Phase2\20000.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팀 공유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\27000.DA\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분석모형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 err="1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리얼데이터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)\</a:t>
                      </a:r>
                      <a:r>
                        <a:rPr lang="en-US" altLang="ko-KR" sz="1200" kern="1200" dirty="0" err="1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SourceCodes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\04SourceCodes\Delivery\R Delivery\04SourceCodes</a:t>
                      </a: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01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\\163.152.156.137\3A Project\Phase2\20000.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팀 공유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\27000.DA\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분석모형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 err="1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리얼데이터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)\</a:t>
                      </a:r>
                      <a:r>
                        <a:rPr lang="en-US" altLang="ko-KR" sz="1200" kern="1200" dirty="0" err="1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SourceCodes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\04SourceCodes\Delivery\R Delivery\</a:t>
                      </a:r>
                      <a:r>
                        <a:rPr lang="en-US" altLang="ko-KR" sz="1200" kern="1200" dirty="0" err="1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Logist</a:t>
                      </a: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  <a:tr h="8001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latin typeface="+mj-ea"/>
                          <a:ea typeface="+mj-ea"/>
                        </a:rPr>
                        <a:t>모형</a:t>
                      </a:r>
                      <a:r>
                        <a:rPr lang="en-US" altLang="ko-KR" sz="1400" b="1" baseline="0" dirty="0" smtClean="0">
                          <a:latin typeface="+mj-ea"/>
                          <a:ea typeface="+mj-ea"/>
                        </a:rPr>
                        <a:t> 2. </a:t>
                      </a:r>
                      <a:r>
                        <a:rPr lang="ko-KR" altLang="en-US" sz="1400" b="1" baseline="0" dirty="0" smtClean="0">
                          <a:latin typeface="+mj-ea"/>
                          <a:ea typeface="+mj-ea"/>
                        </a:rPr>
                        <a:t>병원특성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ResistenceTrend_vis_1.0.0.R</a:t>
                      </a:r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\\163.152.156.137\3A Project\Phase2\20000.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팀 공유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\27000.DA\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분석모형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 err="1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리얼데이터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)\</a:t>
                      </a:r>
                      <a:r>
                        <a:rPr lang="en-US" altLang="ko-KR" sz="1200" kern="1200" dirty="0" err="1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SourceCodes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\04SourceCodes\Delivery\R Delivery\04SourceCodes</a:t>
                      </a: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01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latin typeface="+mj-ea"/>
                          <a:ea typeface="+mj-ea"/>
                        </a:rPr>
                        <a:t>모형 </a:t>
                      </a:r>
                      <a:r>
                        <a:rPr lang="en-US" altLang="ko-KR" sz="1400" b="1" dirty="0" smtClean="0">
                          <a:latin typeface="+mj-ea"/>
                          <a:ea typeface="+mj-ea"/>
                        </a:rPr>
                        <a:t>3. </a:t>
                      </a:r>
                      <a:r>
                        <a:rPr lang="en-US" altLang="ko-KR" sz="1400" b="1" dirty="0" smtClean="0"/>
                        <a:t>Machine</a:t>
                      </a:r>
                      <a:r>
                        <a:rPr lang="en-US" altLang="ko-KR" sz="1400" b="1" baseline="0" dirty="0" smtClean="0"/>
                        <a:t> Learning</a:t>
                      </a:r>
                      <a:endParaRPr lang="ko-KR" altLang="en-US" sz="1400" b="1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\\163.152.156.137\3A Project\Phase2\20000.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팀 공유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\27000.DA\</a:t>
                      </a:r>
                      <a:r>
                        <a:rPr lang="ko-KR" altLang="en-US" sz="1200" dirty="0" smtClean="0">
                          <a:latin typeface="+mj-ea"/>
                          <a:ea typeface="+mj-ea"/>
                        </a:rPr>
                        <a:t>분석모형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200" dirty="0" err="1" smtClean="0">
                          <a:latin typeface="+mj-ea"/>
                          <a:ea typeface="+mj-ea"/>
                        </a:rPr>
                        <a:t>리얼데이터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)\</a:t>
                      </a:r>
                      <a:r>
                        <a:rPr lang="en-US" altLang="ko-KR" sz="1200" dirty="0" err="1" smtClean="0">
                          <a:latin typeface="+mj-ea"/>
                          <a:ea typeface="+mj-ea"/>
                        </a:rPr>
                        <a:t>SourceCodes</a:t>
                      </a:r>
                      <a:r>
                        <a:rPr lang="en-US" altLang="ko-KR" sz="1200" dirty="0" smtClean="0">
                          <a:latin typeface="+mj-ea"/>
                          <a:ea typeface="+mj-ea"/>
                        </a:rPr>
                        <a:t>\04SourceCodes\Delivery\Python Delivery</a:t>
                      </a:r>
                      <a:endParaRPr lang="ko-KR" altLang="en-US" sz="120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300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FE47B-94CE-4970-B9E9-D8C3683B0CF5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193769" y="620691"/>
            <a:ext cx="9518464" cy="5703909"/>
          </a:xfrm>
        </p:spPr>
        <p:txBody>
          <a:bodyPr anchor="ctr"/>
          <a:lstStyle/>
          <a:p>
            <a:pPr algn="ctr"/>
            <a:r>
              <a:rPr lang="en-US" altLang="ko-KR" sz="3200" dirty="0" smtClean="0"/>
              <a:t>Q &amp; A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89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9986</TotalTime>
  <Words>3046</Words>
  <Application>Microsoft Office PowerPoint</Application>
  <PresentationFormat>A4 용지(210x297mm)</PresentationFormat>
  <Paragraphs>1160</Paragraphs>
  <Slides>17</Slides>
  <Notes>8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테마</vt:lpstr>
      <vt:lpstr>PowerPoint 프레젠테이션</vt:lpstr>
      <vt:lpstr>프로젝트 개요</vt:lpstr>
      <vt:lpstr>Ⅰ. 분석 목적 및 대상 정의 (1/2) </vt:lpstr>
      <vt:lpstr>Ⅰ. 분석 목적 및 대상 정의 (2/2) </vt:lpstr>
      <vt:lpstr>Ⅱ. Logistic Regression Model 결과 : MRSA (1/2)</vt:lpstr>
      <vt:lpstr>Ⅱ. Logistic Regression Model 결과 : MRSA (2/2)</vt:lpstr>
      <vt:lpstr>Ⅱ. Logistic Regression Model 결과 : VRE (1/2)</vt:lpstr>
      <vt:lpstr>Ⅱ. Logistic Regression Model 결과 : VRE (2/2)</vt:lpstr>
      <vt:lpstr>[참고] Logistic Regression Model 성능 지표 (1/2)</vt:lpstr>
      <vt:lpstr>[참고] Logistic Regression Model 성능 지표 (2/2)</vt:lpstr>
      <vt:lpstr>Ⅲ. Machine Learning 결과 </vt:lpstr>
      <vt:lpstr>[참고] Machine Learning Method : Sampling, Modeling (1/2)</vt:lpstr>
      <vt:lpstr>[참고] Machine Learning Method : Cross Validation (2/2)</vt:lpstr>
      <vt:lpstr>[별첨] Collaborative Filtering : Deep Matrix Factorization</vt:lpstr>
      <vt:lpstr>Ⅳ. 병원 특성 </vt:lpstr>
      <vt:lpstr>[별첨] Working Directory 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olivia kim</dc:creator>
  <cp:lastModifiedBy>Windows 사용자</cp:lastModifiedBy>
  <cp:revision>363</cp:revision>
  <cp:lastPrinted>2018-09-28T04:35:00Z</cp:lastPrinted>
  <dcterms:created xsi:type="dcterms:W3CDTF">2018-07-03T01:02:52Z</dcterms:created>
  <dcterms:modified xsi:type="dcterms:W3CDTF">2018-09-28T09:09:31Z</dcterms:modified>
</cp:coreProperties>
</file>